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972800" cy="15544800"/>
  <p:notesSz cx="155448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00" cy="3566160"/>
          </a:xfrm>
          <a:prstGeom prst="rect">
            <a:avLst/>
          </a:prstGeom>
          <a:solidFill>
            <a:srgbClr val="0B1E4A"/>
          </a:solidFill>
          <a:ln w="12700">
            <a:solidFill>
              <a:srgbClr val="0B1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-2011680"/>
            <a:ext cx="6858000" cy="6858000"/>
          </a:xfrm>
          <a:prstGeom prst="ellipse">
            <a:avLst/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822960"/>
            <a:ext cx="4572000" cy="4572000"/>
          </a:xfrm>
          <a:prstGeom prst="ellipse">
            <a:avLst/>
          </a:prstGeom>
          <a:solidFill>
            <a:srgbClr val="93C5FD">
              <a:alpha val="1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제4회 경남 AI·SW 경진대회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0" y="420624"/>
            <a:ext cx="1051560" cy="301752"/>
          </a:xfrm>
          <a:prstGeom prst="roundRect">
            <a:avLst>
              <a:gd name="adj" fmla="val 48485"/>
            </a:avLst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42062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1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Agent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868680"/>
            <a:ext cx="7086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3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MetaQuest VR 기반 피지컬 AI AGV</a:t>
            </a:r>
            <a:endParaRPr lang="en-US" sz="3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300" b="1" spc="-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원격 개입 &amp; 협착 방지 디지털 트윈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4688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2D LiDAR로 위험을 판단해 스스로 멈추고, 정지 원인과 탈출 경로를 알린 뒤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CE6F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관제사가 VR로 들어가 직접 빼내는 피지컬 AI 에이전트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2724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팀명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|  [팀명]        </a:t>
            </a:r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|  [팀장명]  [팀원명]  [팀원명]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35240" y="457200"/>
            <a:ext cx="2926080" cy="2148840"/>
          </a:xfrm>
          <a:prstGeom prst="roundRect">
            <a:avLst>
              <a:gd name="adj" fmla="val 6383"/>
            </a:avLst>
          </a:prstGeom>
          <a:solidFill>
            <a:srgbClr val="13306E">
              <a:alpha val="8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0" y="594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현장의 AI 안전 파트너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82128" y="1060704"/>
            <a:ext cx="237744" cy="237744"/>
          </a:xfrm>
          <a:prstGeom prst="ellipse">
            <a:avLst/>
          </a:prstGeom>
          <a:solidFill>
            <a:srgbClr val="2563EB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82128" y="10607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10241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감지 (LiDAR 360°)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82128" y="1435608"/>
            <a:ext cx="237744" cy="237744"/>
          </a:xfrm>
          <a:prstGeom prst="ellipse">
            <a:avLst/>
          </a:prstGeom>
          <a:solidFill>
            <a:srgbClr val="2563EB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82128" y="1435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139903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정지 (전진 차단)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82128" y="1810512"/>
            <a:ext cx="237744" cy="237744"/>
          </a:xfrm>
          <a:prstGeom prst="ellipse">
            <a:avLst/>
          </a:prstGeom>
          <a:solidFill>
            <a:srgbClr val="2563EB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82128" y="1810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177393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탈출 경로 표시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82128" y="2185416"/>
            <a:ext cx="237744" cy="237744"/>
          </a:xfrm>
          <a:prstGeom prst="ellipse">
            <a:avLst/>
          </a:prstGeom>
          <a:solidFill>
            <a:srgbClr val="2563EB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82128" y="2185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21488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 원격 개입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 멈추고, 알리고,</a:t>
            </a:r>
            <a:endParaRPr lang="en-US" sz="17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빼낸다 ”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411480" y="3703320"/>
            <a:ext cx="1014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3145536" y="39044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(개발배경, 목표 시스템 등)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85800" y="4526280"/>
            <a:ext cx="292608" cy="292608"/>
          </a:xfrm>
          <a:prstGeom prst="ellipse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6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4507992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사람과 AGV가 같은 통로를 쓰는 현장에서 사고는 끼임·부딪힘에 몰린다. 산업용 로봇 재해의 53%가 끼임, 34%가 부딪힘이다.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85800" y="4928616"/>
            <a:ext cx="292608" cy="292608"/>
          </a:xfrm>
          <a:prstGeom prst="ellipse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928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6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" y="4910328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보급형 AGV는 2D LiDAR 한 평면만 보고 뒤를 못 봐, 막히면 비상정지 후 관리자가 현장까지 걸어가야 풀린다.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5800" y="5330952"/>
            <a:ext cx="292608" cy="292608"/>
          </a:xfrm>
          <a:prstGeom prst="ellipse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5330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60" dirty="0"/>
          </a:p>
        </p:txBody>
      </p:sp>
      <p:sp>
        <p:nvSpPr>
          <p:cNvPr id="39" name="Text 37"/>
          <p:cNvSpPr txBox="1"/>
          <p:nvPr/>
        </p:nvSpPr>
        <p:spPr>
          <a:xfrm>
            <a:off x="1143000" y="5312664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프로젝트는 LiDAR로 위험을 판단해 즉시 멈추고, 원인과 탈출 경로를 알린 뒤, 관제사가 VR로 원격 탈출시키는 AI Agent를 목표로 함.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85800" y="5733288"/>
            <a:ext cx="292608" cy="292608"/>
          </a:xfrm>
          <a:prstGeom prst="ellipse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5733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60" dirty="0"/>
          </a:p>
        </p:txBody>
      </p:sp>
      <p:sp>
        <p:nvSpPr>
          <p:cNvPr id="42" name="Text 40"/>
          <p:cNvSpPr txBox="1"/>
          <p:nvPr/>
        </p:nvSpPr>
        <p:spPr>
          <a:xfrm>
            <a:off x="1143000" y="5715000"/>
            <a:ext cx="6720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실물 TurtleBot3 2대(ROS 1·ROS 2)와 Unity 관제 맵·Meta Quest 2 콕핏까지 동작하는 MVP를 완성함.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001000" y="3931920"/>
            <a:ext cx="2331720" cy="2011680"/>
          </a:xfrm>
          <a:prstGeom prst="roundRect">
            <a:avLst>
              <a:gd name="adj" fmla="val 5455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092440" y="406908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 현장에 가지 않아도,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멈춘 로봇을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빼낼 수 있다 ”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778240" y="5257800"/>
            <a:ext cx="777240" cy="0"/>
          </a:xfrm>
          <a:prstGeom prst="line">
            <a:avLst/>
          </a:prstGeom>
          <a:noFill/>
          <a:ln w="15875">
            <a:solidFill>
              <a:srgbClr val="1330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092440" y="5458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관제석에서 클릭 한 번,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VR로 바로 복구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6309360"/>
            <a:ext cx="101498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6492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0080" y="6492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 txBox="1"/>
          <p:nvPr/>
        </p:nvSpPr>
        <p:spPr>
          <a:xfrm>
            <a:off x="1234440" y="6492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세부 내용</a:t>
            </a:r>
            <a:endParaRPr lang="en-US" sz="2400" dirty="0"/>
          </a:p>
        </p:txBody>
      </p:sp>
      <p:sp>
        <p:nvSpPr>
          <p:cNvPr id="51" name="Text 49"/>
          <p:cNvSpPr txBox="1"/>
          <p:nvPr/>
        </p:nvSpPr>
        <p:spPr>
          <a:xfrm>
            <a:off x="3392424" y="6510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|  시스템 구조 / 활용 데이터 / AI 알고리즘 / 3단계 개발 내용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40080" y="713232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8952" y="737920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8952" y="7379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60" dirty="0"/>
          </a:p>
        </p:txBody>
      </p:sp>
      <p:sp>
        <p:nvSpPr>
          <p:cNvPr id="55" name="Text 53"/>
          <p:cNvSpPr txBox="1"/>
          <p:nvPr/>
        </p:nvSpPr>
        <p:spPr>
          <a:xfrm>
            <a:off x="1371600" y="72237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감지</a:t>
            </a:r>
            <a:endParaRPr lang="en-US" sz="1450" dirty="0"/>
          </a:p>
        </p:txBody>
      </p:sp>
      <p:sp>
        <p:nvSpPr>
          <p:cNvPr id="56" name="Text 54"/>
          <p:cNvSpPr txBox="1"/>
          <p:nvPr/>
        </p:nvSpPr>
        <p:spPr>
          <a:xfrm>
            <a:off x="1371600" y="7571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360° 스캔, 휠 오도메트리, 카메라 영상을 20 Hz 고정 주기로 수집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" y="822960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F1EAFE"/>
          </a:solidFill>
          <a:ln w="12700">
            <a:solidFill>
              <a:srgbClr val="F1EAF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" y="8476488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8952" y="8476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60" dirty="0"/>
          </a:p>
        </p:txBody>
      </p:sp>
      <p:sp>
        <p:nvSpPr>
          <p:cNvPr id="60" name="Text 58"/>
          <p:cNvSpPr txBox="1"/>
          <p:nvPr/>
        </p:nvSpPr>
        <p:spPr>
          <a:xfrm>
            <a:off x="1371600" y="83210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판단</a:t>
            </a:r>
            <a:endParaRPr lang="en-US" sz="1450" dirty="0"/>
          </a:p>
        </p:txBody>
      </p:sp>
      <p:sp>
        <p:nvSpPr>
          <p:cNvPr id="61" name="Text 59"/>
          <p:cNvSpPr txBox="1"/>
          <p:nvPr/>
        </p:nvSpPr>
        <p:spPr>
          <a:xfrm>
            <a:off x="1371600" y="8668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· AGV 간 0.3m 정지 게이트, LiDAR 72방향 탈출 경로 계산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40080" y="9326880"/>
            <a:ext cx="3246120" cy="987552"/>
          </a:xfrm>
          <a:prstGeom prst="roundRect">
            <a:avLst>
              <a:gd name="adj" fmla="val 9259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952" y="9573768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58952" y="9573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6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60" dirty="0"/>
          </a:p>
        </p:txBody>
      </p:sp>
      <p:sp>
        <p:nvSpPr>
          <p:cNvPr id="65" name="Text 63"/>
          <p:cNvSpPr txBox="1"/>
          <p:nvPr/>
        </p:nvSpPr>
        <p:spPr>
          <a:xfrm>
            <a:off x="1371600" y="94183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3단계: 알림 및 개입</a:t>
            </a:r>
            <a:endParaRPr lang="en-US" sz="1450" dirty="0"/>
          </a:p>
        </p:txBody>
      </p:sp>
      <p:sp>
        <p:nvSpPr>
          <p:cNvPr id="66" name="Text 64"/>
          <p:cNvSpPr txBox="1"/>
          <p:nvPr/>
        </p:nvSpPr>
        <p:spPr>
          <a:xfrm>
            <a:off x="1371600" y="97657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적색 경고 → 클릭 → VR 콕핏에서 원격 탈출 → AUTO 재개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069080" y="70591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069080" y="70591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구조도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4069080" y="7498080"/>
            <a:ext cx="1077163" cy="2286000"/>
          </a:xfrm>
          <a:prstGeom prst="roundRect">
            <a:avLst>
              <a:gd name="adj" fmla="val 6791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114800" y="7571232"/>
            <a:ext cx="985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/ 입력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215384" y="8229600"/>
            <a:ext cx="64008" cy="64008"/>
          </a:xfrm>
          <a:prstGeom prst="rect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4379976" y="8119872"/>
            <a:ext cx="711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360°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215384" y="8549640"/>
            <a:ext cx="64008" cy="64008"/>
          </a:xfrm>
          <a:prstGeom prst="rect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4379976" y="8439912"/>
            <a:ext cx="711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휠 odom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215384" y="8869680"/>
            <a:ext cx="64008" cy="64008"/>
          </a:xfrm>
          <a:prstGeom prst="rect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379976" y="8759952"/>
            <a:ext cx="711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 카메라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215384" y="9189720"/>
            <a:ext cx="64008" cy="64008"/>
          </a:xfrm>
          <a:prstGeom prst="rect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4379976" y="9079992"/>
            <a:ext cx="711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 입력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215384" y="9509760"/>
            <a:ext cx="64008" cy="64008"/>
          </a:xfrm>
          <a:prstGeom prst="rect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379976" y="9400032"/>
            <a:ext cx="711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클릭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5173675" y="8549640"/>
            <a:ext cx="164592" cy="182880"/>
          </a:xfrm>
          <a:prstGeom prst="rightArrow">
            <a:avLst/>
          </a:prstGeom>
          <a:solidFill>
            <a:srgbClr val="7BA7E8"/>
          </a:solidFill>
          <a:ln w="12700">
            <a:solidFill>
              <a:srgbClr val="7BA7E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365699" y="7498080"/>
            <a:ext cx="1077163" cy="2286000"/>
          </a:xfrm>
          <a:prstGeom prst="roundRect">
            <a:avLst>
              <a:gd name="adj" fmla="val 6791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5411419" y="7571232"/>
            <a:ext cx="985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릴레이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</a:t>
            </a:r>
            <a:endParaRPr lang="en-US" sz="1050" dirty="0"/>
          </a:p>
        </p:txBody>
      </p:sp>
      <p:sp>
        <p:nvSpPr>
          <p:cNvPr id="84" name="Text 82"/>
          <p:cNvSpPr txBox="1"/>
          <p:nvPr/>
        </p:nvSpPr>
        <p:spPr>
          <a:xfrm>
            <a:off x="5365699" y="8065008"/>
            <a:ext cx="10771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200" dirty="0"/>
          </a:p>
        </p:txBody>
      </p:sp>
      <p:sp>
        <p:nvSpPr>
          <p:cNvPr id="85" name="Text 83"/>
          <p:cNvSpPr txBox="1"/>
          <p:nvPr/>
        </p:nvSpPr>
        <p:spPr>
          <a:xfrm>
            <a:off x="5457139" y="85953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rosbridge 연동</a:t>
            </a:r>
            <a:endParaRPr lang="en-US" sz="900" dirty="0"/>
          </a:p>
        </p:txBody>
      </p:sp>
      <p:sp>
        <p:nvSpPr>
          <p:cNvPr id="86" name="Text 84"/>
          <p:cNvSpPr txBox="1"/>
          <p:nvPr/>
        </p:nvSpPr>
        <p:spPr>
          <a:xfrm>
            <a:off x="5457139" y="88239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ROS 1·2 통합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5457139" y="90525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20 Hz 고정 주기</a:t>
            </a:r>
            <a:endParaRPr lang="en-US" sz="900" dirty="0"/>
          </a:p>
        </p:txBody>
      </p:sp>
      <p:sp>
        <p:nvSpPr>
          <p:cNvPr id="88" name="Text 86"/>
          <p:cNvSpPr txBox="1"/>
          <p:nvPr/>
        </p:nvSpPr>
        <p:spPr>
          <a:xfrm>
            <a:off x="5457139" y="92811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통신 두절 감시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470294" y="8549640"/>
            <a:ext cx="164592" cy="182880"/>
          </a:xfrm>
          <a:prstGeom prst="rightArrow">
            <a:avLst/>
          </a:prstGeom>
          <a:solidFill>
            <a:srgbClr val="7BA7E8"/>
          </a:solidFill>
          <a:ln w="12700">
            <a:solidFill>
              <a:srgbClr val="7BA7E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662318" y="7498080"/>
            <a:ext cx="1077163" cy="2286000"/>
          </a:xfrm>
          <a:prstGeom prst="roundRect">
            <a:avLst>
              <a:gd name="adj" fmla="val 6791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708038" y="7571232"/>
            <a:ext cx="985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판단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모듈</a:t>
            </a:r>
            <a:endParaRPr lang="en-US" sz="1050" dirty="0"/>
          </a:p>
        </p:txBody>
      </p:sp>
      <p:sp>
        <p:nvSpPr>
          <p:cNvPr id="92" name="Text 90"/>
          <p:cNvSpPr txBox="1"/>
          <p:nvPr/>
        </p:nvSpPr>
        <p:spPr>
          <a:xfrm>
            <a:off x="6662318" y="8065008"/>
            <a:ext cx="10771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200" dirty="0"/>
          </a:p>
        </p:txBody>
      </p:sp>
      <p:sp>
        <p:nvSpPr>
          <p:cNvPr id="93" name="Text 91"/>
          <p:cNvSpPr txBox="1"/>
          <p:nvPr/>
        </p:nvSpPr>
        <p:spPr>
          <a:xfrm>
            <a:off x="6753758" y="85953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LiDAR 섹터 거리</a:t>
            </a:r>
            <a:endParaRPr lang="en-US" sz="900" dirty="0"/>
          </a:p>
        </p:txBody>
      </p:sp>
      <p:sp>
        <p:nvSpPr>
          <p:cNvPr id="94" name="Text 92"/>
          <p:cNvSpPr txBox="1"/>
          <p:nvPr/>
        </p:nvSpPr>
        <p:spPr>
          <a:xfrm>
            <a:off x="6753758" y="88239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72방향 탈출 경로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6753758" y="90525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곡률 궤적 추천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6753758" y="92811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AGV 간 거리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7766914" y="8549640"/>
            <a:ext cx="164592" cy="182880"/>
          </a:xfrm>
          <a:prstGeom prst="rightArrow">
            <a:avLst/>
          </a:prstGeom>
          <a:solidFill>
            <a:srgbClr val="7BA7E8"/>
          </a:solidFill>
          <a:ln w="12700">
            <a:solidFill>
              <a:srgbClr val="7BA7E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58938" y="7498080"/>
            <a:ext cx="1077163" cy="2286000"/>
          </a:xfrm>
          <a:prstGeom prst="roundRect">
            <a:avLst>
              <a:gd name="adj" fmla="val 6791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004658" y="7571232"/>
            <a:ext cx="985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게이트 /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위험도 판단</a:t>
            </a:r>
            <a:endParaRPr lang="en-US" sz="1050" dirty="0"/>
          </a:p>
        </p:txBody>
      </p:sp>
      <p:sp>
        <p:nvSpPr>
          <p:cNvPr id="100" name="Text 98"/>
          <p:cNvSpPr txBox="1"/>
          <p:nvPr/>
        </p:nvSpPr>
        <p:spPr>
          <a:xfrm>
            <a:off x="7958938" y="8065008"/>
            <a:ext cx="10771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200" dirty="0"/>
          </a:p>
        </p:txBody>
      </p:sp>
      <p:sp>
        <p:nvSpPr>
          <p:cNvPr id="101" name="Shape 99"/>
          <p:cNvSpPr/>
          <p:nvPr/>
        </p:nvSpPr>
        <p:spPr>
          <a:xfrm>
            <a:off x="8068666" y="8613648"/>
            <a:ext cx="857707" cy="292608"/>
          </a:xfrm>
          <a:prstGeom prst="roundRect">
            <a:avLst>
              <a:gd name="adj" fmla="val 1875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41818" y="8668512"/>
            <a:ext cx="182880" cy="18288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397850" y="8613648"/>
            <a:ext cx="5285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E539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8068666" y="8961120"/>
            <a:ext cx="857707" cy="292608"/>
          </a:xfrm>
          <a:prstGeom prst="roundRect">
            <a:avLst>
              <a:gd name="adj" fmla="val 18750"/>
            </a:avLst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41818" y="901598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397850" y="8961120"/>
            <a:ext cx="5285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8068666" y="9308592"/>
            <a:ext cx="857707" cy="292608"/>
          </a:xfrm>
          <a:prstGeom prst="roundRect">
            <a:avLst>
              <a:gd name="adj" fmla="val 18750"/>
            </a:avLst>
          </a:prstGeom>
          <a:solidFill>
            <a:srgbClr val="E7F8EE"/>
          </a:solidFill>
          <a:ln w="12700">
            <a:solidFill>
              <a:srgbClr val="E7F8E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141818" y="9363456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8397850" y="9308592"/>
            <a:ext cx="5285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C5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주행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9063533" y="8549640"/>
            <a:ext cx="164592" cy="182880"/>
          </a:xfrm>
          <a:prstGeom prst="rightArrow">
            <a:avLst/>
          </a:prstGeom>
          <a:solidFill>
            <a:srgbClr val="7BA7E8"/>
          </a:solidFill>
          <a:ln w="12700">
            <a:solidFill>
              <a:srgbClr val="7BA7E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9255557" y="7498080"/>
            <a:ext cx="1077163" cy="2286000"/>
          </a:xfrm>
          <a:prstGeom prst="roundRect">
            <a:avLst>
              <a:gd name="adj" fmla="val 6791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301277" y="7571232"/>
            <a:ext cx="9857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관제사 / VR /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</a:t>
            </a:r>
            <a:endParaRPr lang="en-US" sz="1050" dirty="0"/>
          </a:p>
        </p:txBody>
      </p:sp>
      <p:sp>
        <p:nvSpPr>
          <p:cNvPr id="113" name="Text 111"/>
          <p:cNvSpPr txBox="1"/>
          <p:nvPr/>
        </p:nvSpPr>
        <p:spPr>
          <a:xfrm>
            <a:off x="9255557" y="8065008"/>
            <a:ext cx="10771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200" dirty="0"/>
          </a:p>
        </p:txBody>
      </p:sp>
      <p:sp>
        <p:nvSpPr>
          <p:cNvPr id="114" name="Text 112"/>
          <p:cNvSpPr txBox="1"/>
          <p:nvPr/>
        </p:nvSpPr>
        <p:spPr>
          <a:xfrm>
            <a:off x="9346997" y="85953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관제 맵 경고</a:t>
            </a:r>
            <a:endParaRPr lang="en-US" sz="900" dirty="0"/>
          </a:p>
        </p:txBody>
      </p:sp>
      <p:sp>
        <p:nvSpPr>
          <p:cNvPr id="115" name="Text 113"/>
          <p:cNvSpPr txBox="1"/>
          <p:nvPr/>
        </p:nvSpPr>
        <p:spPr>
          <a:xfrm>
            <a:off x="9346997" y="88239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정지 원인 표시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9346997" y="90525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VR 콕핏 전환</a:t>
            </a:r>
            <a:endParaRPr lang="en-US" sz="900" dirty="0"/>
          </a:p>
        </p:txBody>
      </p:sp>
      <p:sp>
        <p:nvSpPr>
          <p:cNvPr id="117" name="Text 115"/>
          <p:cNvSpPr txBox="1"/>
          <p:nvPr/>
        </p:nvSpPr>
        <p:spPr>
          <a:xfrm>
            <a:off x="9346997" y="92811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손 방향 진동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9346997" y="9509760"/>
            <a:ext cx="94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/cmd_vel 지령</a:t>
            </a:r>
            <a:endParaRPr lang="en-US" sz="900" dirty="0"/>
          </a:p>
        </p:txBody>
      </p:sp>
      <p:sp>
        <p:nvSpPr>
          <p:cNvPr id="119" name="Text 117"/>
          <p:cNvSpPr txBox="1"/>
          <p:nvPr/>
        </p:nvSpPr>
        <p:spPr>
          <a:xfrm>
            <a:off x="4069080" y="9829800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정지: 전방 &lt; 0.35m · AGV 간 &lt; 0.3m (전진 지령 0)   주의: 경로 신뢰도 노랑   주행: 경로 녹색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4069080" y="10085832"/>
            <a:ext cx="626364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4251960" y="10085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데이터</a:t>
            </a:r>
            <a:endParaRPr lang="en-US" sz="1150" dirty="0"/>
          </a:p>
        </p:txBody>
      </p:sp>
      <p:sp>
        <p:nvSpPr>
          <p:cNvPr id="122" name="Text 120"/>
          <p:cNvSpPr txBox="1"/>
          <p:nvPr/>
        </p:nvSpPr>
        <p:spPr>
          <a:xfrm>
            <a:off x="5532120" y="1008583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LiDAR 360° 스캔, 휠 오도메트리, 640×480 카메라 영상, 운행 이력 JSONL (학습 데이터 수집 없음)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4069080" y="10497312"/>
            <a:ext cx="626364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4251960" y="104973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150" dirty="0"/>
          </a:p>
        </p:txBody>
      </p:sp>
      <p:sp>
        <p:nvSpPr>
          <p:cNvPr id="125" name="Text 123"/>
          <p:cNvSpPr txBox="1"/>
          <p:nvPr/>
        </p:nvSpPr>
        <p:spPr>
          <a:xfrm>
            <a:off x="5532120" y="1049731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asyncio, rosbridge (ROS 1 Noetic · ROS 2 Humble), Unity 6 + OpenXR, Meta Quest 2, VFH · Follow-the-Gap 계열 기하 추론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411480" y="10927080"/>
            <a:ext cx="1014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40080" y="11109960"/>
            <a:ext cx="457200" cy="457200"/>
          </a:xfrm>
          <a:prstGeom prst="rect">
            <a:avLst/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640080" y="11109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29" name="Text 127"/>
          <p:cNvSpPr txBox="1"/>
          <p:nvPr/>
        </p:nvSpPr>
        <p:spPr>
          <a:xfrm>
            <a:off x="1234440" y="11109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결과</a:t>
            </a:r>
            <a:endParaRPr lang="en-US" sz="2400" dirty="0"/>
          </a:p>
        </p:txBody>
      </p:sp>
      <p:sp>
        <p:nvSpPr>
          <p:cNvPr id="130" name="Text 128"/>
          <p:cNvSpPr txBox="1"/>
          <p:nvPr/>
        </p:nvSpPr>
        <p:spPr>
          <a:xfrm>
            <a:off x="685800" y="11658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100" dirty="0"/>
          </a:p>
        </p:txBody>
      </p:sp>
      <p:sp>
        <p:nvSpPr>
          <p:cNvPr id="131" name="Text 129"/>
          <p:cNvSpPr txBox="1"/>
          <p:nvPr/>
        </p:nvSpPr>
        <p:spPr>
          <a:xfrm>
            <a:off x="978408" y="11658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 0.35m · AGV 간 0.3m 정지 게이트 (전진만 차단)</a:t>
            </a:r>
            <a:endParaRPr lang="en-US" sz="1000" dirty="0"/>
          </a:p>
        </p:txBody>
      </p:sp>
      <p:sp>
        <p:nvSpPr>
          <p:cNvPr id="132" name="Text 130"/>
          <p:cNvSpPr txBox="1"/>
          <p:nvPr/>
        </p:nvSpPr>
        <p:spPr>
          <a:xfrm>
            <a:off x="685800" y="119054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100" dirty="0"/>
          </a:p>
        </p:txBody>
      </p:sp>
      <p:sp>
        <p:nvSpPr>
          <p:cNvPr id="133" name="Text 131"/>
          <p:cNvSpPr txBox="1"/>
          <p:nvPr/>
        </p:nvSpPr>
        <p:spPr>
          <a:xfrm>
            <a:off x="978408" y="11905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LiDAR 탈출 경로를 영상 바닥 · 관제 맵에 표시</a:t>
            </a:r>
            <a:endParaRPr lang="en-US" sz="1000" dirty="0"/>
          </a:p>
        </p:txBody>
      </p:sp>
      <p:sp>
        <p:nvSpPr>
          <p:cNvPr id="134" name="Text 132"/>
          <p:cNvSpPr txBox="1"/>
          <p:nvPr/>
        </p:nvSpPr>
        <p:spPr>
          <a:xfrm>
            <a:off x="685800" y="1215237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100" dirty="0"/>
          </a:p>
        </p:txBody>
      </p:sp>
      <p:sp>
        <p:nvSpPr>
          <p:cNvPr id="135" name="Text 133"/>
          <p:cNvSpPr txBox="1"/>
          <p:nvPr/>
        </p:nvSpPr>
        <p:spPr>
          <a:xfrm>
            <a:off x="978408" y="121523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클릭 → VR 콕핏 전환, 그립 데드맨 조종</a:t>
            </a:r>
            <a:endParaRPr lang="en-US" sz="1000" dirty="0"/>
          </a:p>
        </p:txBody>
      </p:sp>
      <p:sp>
        <p:nvSpPr>
          <p:cNvPr id="136" name="Text 134"/>
          <p:cNvSpPr txBox="1"/>
          <p:nvPr/>
        </p:nvSpPr>
        <p:spPr>
          <a:xfrm>
            <a:off x="685800" y="123992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100" dirty="0"/>
          </a:p>
        </p:txBody>
      </p:sp>
      <p:sp>
        <p:nvSpPr>
          <p:cNvPr id="137" name="Text 135"/>
          <p:cNvSpPr txBox="1"/>
          <p:nvPr/>
        </p:nvSpPr>
        <p:spPr>
          <a:xfrm>
            <a:off x="978408" y="123992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2대 AUTO 순찰, 만나면 둘 다 정지</a:t>
            </a:r>
            <a:endParaRPr lang="en-US" sz="1000" dirty="0"/>
          </a:p>
        </p:txBody>
      </p:sp>
      <p:sp>
        <p:nvSpPr>
          <p:cNvPr id="138" name="Text 136"/>
          <p:cNvSpPr txBox="1"/>
          <p:nvPr/>
        </p:nvSpPr>
        <p:spPr>
          <a:xfrm>
            <a:off x="685800" y="1264615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✔</a:t>
            </a:r>
            <a:endParaRPr lang="en-US" sz="1100" dirty="0"/>
          </a:p>
        </p:txBody>
      </p:sp>
      <p:sp>
        <p:nvSpPr>
          <p:cNvPr id="139" name="Text 137"/>
          <p:cNvSpPr txBox="1"/>
          <p:nvPr/>
        </p:nvSpPr>
        <p:spPr>
          <a:xfrm>
            <a:off x="978408" y="12646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시험 78/78, 300초 부하 안전 위반 0건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640080" y="12938760"/>
            <a:ext cx="3611880" cy="347472"/>
          </a:xfrm>
          <a:prstGeom prst="roundRect">
            <a:avLst>
              <a:gd name="adj" fmla="val 21053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777240" y="129387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실물 TurtleBot3 2대 기준 핵심 기능 중심 구현</a:t>
            </a:r>
            <a:endParaRPr lang="en-US" sz="1050" dirty="0"/>
          </a:p>
        </p:txBody>
      </p:sp>
      <p:sp>
        <p:nvSpPr>
          <p:cNvPr id="142" name="Shape 140"/>
          <p:cNvSpPr/>
          <p:nvPr/>
        </p:nvSpPr>
        <p:spPr>
          <a:xfrm>
            <a:off x="4434840" y="11109960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4434840" y="11109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VR 콕핏 화면 (실제 출력)</a:t>
            </a:r>
            <a:endParaRPr lang="en-US" sz="1100" dirty="0"/>
          </a:p>
        </p:txBody>
      </p:sp>
      <p:sp>
        <p:nvSpPr>
          <p:cNvPr id="144" name="Shape 142"/>
          <p:cNvSpPr/>
          <p:nvPr/>
        </p:nvSpPr>
        <p:spPr>
          <a:xfrm>
            <a:off x="4882896" y="11475720"/>
            <a:ext cx="2487168" cy="1892808"/>
          </a:xfrm>
          <a:prstGeom prst="roundRect">
            <a:avLst>
              <a:gd name="adj" fmla="val 38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45" name="Image 0" descr="VR 콕핏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530584"/>
            <a:ext cx="2377440" cy="1783080"/>
          </a:xfrm>
          <a:prstGeom prst="rect">
            <a:avLst/>
          </a:prstGeom>
        </p:spPr>
      </p:pic>
      <p:sp>
        <p:nvSpPr>
          <p:cNvPr id="146" name="Shape 143"/>
          <p:cNvSpPr/>
          <p:nvPr/>
        </p:nvSpPr>
        <p:spPr>
          <a:xfrm>
            <a:off x="8046720" y="1110996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147" name="Text 144"/>
          <p:cNvSpPr txBox="1"/>
          <p:nvPr/>
        </p:nvSpPr>
        <p:spPr>
          <a:xfrm>
            <a:off x="8046720" y="11109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관제 맵 화면 (실제 출력)</a:t>
            </a:r>
            <a:endParaRPr lang="en-US" sz="1100" dirty="0"/>
          </a:p>
        </p:txBody>
      </p:sp>
      <p:sp>
        <p:nvSpPr>
          <p:cNvPr id="148" name="Shape 145"/>
          <p:cNvSpPr/>
          <p:nvPr/>
        </p:nvSpPr>
        <p:spPr>
          <a:xfrm>
            <a:off x="8243316" y="11475720"/>
            <a:ext cx="1892808" cy="1892808"/>
          </a:xfrm>
          <a:prstGeom prst="roundRect">
            <a:avLst>
              <a:gd name="adj" fmla="val 38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49" name="Image 1" descr="관제 맵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0" y="11530584"/>
            <a:ext cx="1783080" cy="1783080"/>
          </a:xfrm>
          <a:prstGeom prst="rect">
            <a:avLst/>
          </a:prstGeom>
        </p:spPr>
      </p:pic>
      <p:sp>
        <p:nvSpPr>
          <p:cNvPr id="150" name="Shape 146"/>
          <p:cNvSpPr/>
          <p:nvPr/>
        </p:nvSpPr>
        <p:spPr>
          <a:xfrm>
            <a:off x="411480" y="13533120"/>
            <a:ext cx="10149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6E2F3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640080" y="1369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306E"/>
          </a:solidFill>
          <a:ln w="12700">
            <a:solidFill>
              <a:srgbClr val="13306E"/>
            </a:solidFill>
            <a:prstDash val="solid"/>
          </a:ln>
        </p:spPr>
      </p:sp>
      <p:sp>
        <p:nvSpPr>
          <p:cNvPr id="152" name="Text 148"/>
          <p:cNvSpPr txBox="1"/>
          <p:nvPr/>
        </p:nvSpPr>
        <p:spPr>
          <a:xfrm>
            <a:off x="640080" y="1369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000" dirty="0"/>
          </a:p>
        </p:txBody>
      </p:sp>
      <p:sp>
        <p:nvSpPr>
          <p:cNvPr id="153" name="Text 149"/>
          <p:cNvSpPr txBox="1"/>
          <p:nvPr/>
        </p:nvSpPr>
        <p:spPr>
          <a:xfrm>
            <a:off x="1234440" y="13697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2400" dirty="0"/>
          </a:p>
        </p:txBody>
      </p:sp>
      <p:sp>
        <p:nvSpPr>
          <p:cNvPr id="154" name="Text 150"/>
          <p:cNvSpPr txBox="1"/>
          <p:nvPr/>
        </p:nvSpPr>
        <p:spPr>
          <a:xfrm>
            <a:off x="685800" y="14191488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멈춘 AGV를 현장 출동 없이 관제석에서 복구해 통로 정체를 줄이고, 정지 원인·경로 기록으로 사고 원인을 추적할 수 있다. 3D LiDAR 없이 기존 2D 기체에 소프트웨어로 얹어 중소 현장 도입 부담이 낮다. 향후 깊이 카메라 · 마커 위치 보정 · PLC 연동으로 확장한다.</a:t>
            </a:r>
            <a:endParaRPr lang="en-US" sz="1000" dirty="0"/>
          </a:p>
        </p:txBody>
      </p:sp>
      <p:sp>
        <p:nvSpPr>
          <p:cNvPr id="155" name="Shape 151"/>
          <p:cNvSpPr/>
          <p:nvPr/>
        </p:nvSpPr>
        <p:spPr>
          <a:xfrm>
            <a:off x="8366760" y="13807440"/>
            <a:ext cx="0" cy="777240"/>
          </a:xfrm>
          <a:prstGeom prst="line">
            <a:avLst/>
          </a:prstGeom>
          <a:noFill/>
          <a:ln w="12700">
            <a:solidFill>
              <a:srgbClr val="D6E2F3"/>
            </a:solidFill>
            <a:prstDash val="solid"/>
          </a:ln>
        </p:spPr>
      </p:sp>
      <p:sp>
        <p:nvSpPr>
          <p:cNvPr id="156" name="Text 152"/>
          <p:cNvSpPr txBox="1"/>
          <p:nvPr/>
        </p:nvSpPr>
        <p:spPr>
          <a:xfrm>
            <a:off x="8503920" y="13807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로봇은 멈추고 알리고,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판단은 사람이 내린다.</a:t>
            </a:r>
            <a:endParaRPr lang="en-US" sz="1200" dirty="0"/>
          </a:p>
        </p:txBody>
      </p:sp>
      <p:sp>
        <p:nvSpPr>
          <p:cNvPr id="157" name="Shape 153"/>
          <p:cNvSpPr/>
          <p:nvPr/>
        </p:nvSpPr>
        <p:spPr>
          <a:xfrm>
            <a:off x="411480" y="1490472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8" name="Text 154"/>
          <p:cNvSpPr txBox="1"/>
          <p:nvPr/>
        </p:nvSpPr>
        <p:spPr>
          <a:xfrm>
            <a:off x="640080" y="1490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국립한국해양대학교 · [팀명]</a:t>
            </a:r>
            <a:endParaRPr lang="en-US" sz="1200" dirty="0"/>
          </a:p>
        </p:txBody>
      </p:sp>
      <p:sp>
        <p:nvSpPr>
          <p:cNvPr id="159" name="Text 155"/>
          <p:cNvSpPr txBox="1"/>
          <p:nvPr/>
        </p:nvSpPr>
        <p:spPr>
          <a:xfrm>
            <a:off x="4160520" y="149047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소스코드  </a:t>
            </a:r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github.com/hun1105/gohst_rider</a:t>
            </a:r>
            <a:endParaRPr lang="en-US" sz="1150" dirty="0"/>
          </a:p>
        </p:txBody>
      </p:sp>
      <p:sp>
        <p:nvSpPr>
          <p:cNvPr id="160" name="Text 156"/>
          <p:cNvSpPr txBox="1"/>
          <p:nvPr/>
        </p:nvSpPr>
        <p:spPr>
          <a:xfrm>
            <a:off x="7452360" y="149047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330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대학부 · 분야 32 제조 피지컬 AI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개발완료보고서(판넬형) — AGV 협착 방지 VR 원격 개입 AI Agent</dc:title>
  <dc:subject>PptxGenJS Presentation</dc:subject>
  <dc:creator>PptxGenJS</dc:creator>
  <cp:lastModifiedBy>PptxGenJS</cp:lastModifiedBy>
  <cp:revision>1</cp:revision>
  <dcterms:created xsi:type="dcterms:W3CDTF">2026-10-04T12:00:58Z</dcterms:created>
  <dcterms:modified xsi:type="dcterms:W3CDTF">2026-10-04T12:00:58Z</dcterms:modified>
</cp:coreProperties>
</file>