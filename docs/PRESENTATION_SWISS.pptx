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국립한국해양대학교 [팀명]입니다. 멈추고, 알리고, 사람이 빼내는 AGV 피지컬 AI를 발표하겠습니다.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공장은 생각보다 자주 멈춥니다. 2025년 조사에서 제조업 응답자의 절반 가까이가 일주일에 6번에서 10번 멈춘다고 답했습니다. 한 번 멈추면 생산을 다시 올리기까지 평균 81분이 걸리고, 대기업을 포함한 평균 비용은 시간당 약 23억 원입니다. AGV가 멈췄을 때 사람이 현장까지 걸어가는 시간이 바로 이 81분을 늘립니다.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저희 에이전트의 원칙은 하나입니다. 판단은 로봇이, 결정은 사람이 합니다. 목표는 AGV 두 대를 운용하면서 협착과 충돌을 0건으로 만들고, 막혔을 때 현장 출동 없이 원격으로 빼내는 것입니다. 핵심기능은 네 가지입니다. 첫째, 앞 0.35미터나 다른 AGV 0.3미터 안에 들어오면 즉시 멈춥니다. 둘째, 라이다로 빠져나갈 방향을 계산해 카메라 영상 바닥에 그려 줍니다. 셋째, 관제 지도에서 로봇을 누르면 그 로봇의 VR 운전석으로 바로 들어갑니다. 넷째, 두 대가 각자 순찰하다 만나면 둘 다 멈추고, 사람이 한 대를 골라 비켜줍니다. 로봇이 스스로 후진하거나 다시 출발하는 일은 없습니다. 움직이는 결정은 항상 사람이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흐름은 여섯 단계입니다. 순찰하다가 라이다와 바퀴 회전 정보로 위험을 감지하면, 안전 게이트가 전진을 막고, 빠져나갈 경로를 계산합니다. 여기까지 네 단계는 로봇이 스스로 합니다. 노란색 두 단계, VR로 들어가 빼내고 순찰을 다시 맡기는 일은 사람이 합니다. 위험한 결정을 로봇에게 맡기지 않는 구조입니다.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AI는 대형 언어 모델이 아니라 라이다 기하 계산입니다. 72개 방향의 여유 공간을 재서 가장 넓고 덜 도는 방향을 고릅니다. 같은 입력이면 항상 같은 판단이 나와 안전 장치에 맞습니다. 도구는 로봇 운영체제 ROS의 주행 명령과 센서, 그리고 Unity와 메타 퀘스트입니다. 데이터는 실시간 센서만 쓰고, 로봇별 상태와 정지 원인, 운행 이력을 기억합니다.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실물로 보여드리겠습니다. 관제석에서 R을 누르면 두 대가 시작 위치를 맞추고 직진합니다. 서로 0.3미터 안으로 들어오자 둘 다 멈췄고, 지도와 터미널에 바로 표시됩니다. 이번에는 사람이 앞을 막아 보겠습니다. 0.35미터 안에서 전진 명령이 0이 됩니다. 관제 지도에서 이 로봇을 누르면 VR 운전석으로 바로 들어갑니다. 영상 바닥에 빠져나갈 길이 그려지고, 돌아야 할 쪽 손이 떨립니다. 그립을 쥔 채 오른쪽 스틱으로 후진, 왼쪽 스틱으로 회전합니다. 그립을 놓으면 즉시 멈추고, 아무리 밀어도 초속 0.15미터를 넘지 않습니다. 다시 R을 누르면 순찰로 돌아갑니다.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방금 콕핏 화면입니다. 빨간 띠는 왜 멈췄는지, 초록 띠는 어디로 빠져나갈지, 화살표는 어느 쪽으로 돌지를 알려 줍니다. 조종하는 사람은 판단 근거를 보면서 움직입니다.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멈추는 건 같아도, 푸는 방법이 바뀌었습니다. 예전에는 비상정지 후 관리자가 현장까지 걸어갔지만, 이제는 관제석에서 클릭 한 번으로 VR로 바로 빼냅니다. 자동 시험 78개를 모두 통과했고, 10번 반복과 300초 부하 시험에서 안전 위반은 0건이었습니다. 다만 사용자 검증은 팀원이 관제사와 조작자 역할로 확인한 단계이고, 외부 사용자 평가와 현장 정지 시간 측정은 다음 과제입니다.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현장에 들이기 전에 고칠 점도 분명합니다. 높이 사각은 깊이 카메라로, 위치 오차는 SLAM으로 보완하고, 로봇 쪽 정지 감시와 통신 보안을 붙인 뒤, 파일럿 라인에서 정지 시간을 실제로 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사업은 기존 AGV에 소프트웨어를 얹는 개조 패키지, 로봇 대수 기준 관제 구독, 여러 현장을 한 자리에서 복구하는 원격 개입 센터로 구상하고 있습니다. 로봇은 멈추고 알리고, 판단은 사람이 내립니다.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138160" y="4732020"/>
            <a:ext cx="457200" cy="182880"/>
          </a:xfrm>
          <a:prstGeom prst="rect">
            <a:avLst/>
          </a:prstGeom>
          <a:noFill/>
          <a:ln/>
        </p:spPr>
        <p:txBody>
          <a:bodyPr wrap="square" lIns="0" tIns="0" rIns="0" bIns="0" rtlCol="0" anchor="t"/>
          <a:lstStyle/>
          <a:p>
            <a:pPr algn="r" indent="0" marL="0">
              <a:lnSpc>
                <a:spcPct val="100000"/>
              </a:lnSpc>
              <a:buNone/>
            </a:pPr>
            <a:r>
              <a:rPr lang="en-US" sz="800" dirty="0">
                <a:solidFill>
                  <a:srgbClr val="A3A3A3"/>
                </a:solidFill>
                <a:latin typeface="Pretendard" pitchFamily="34" charset="0"/>
                <a:ea typeface="Pretendard" pitchFamily="34" charset="-122"/>
                <a:cs typeface="Pretendard" pitchFamily="34" charset="-120"/>
              </a:rPr>
              <a:t>01</a:t>
            </a:r>
            <a:endParaRPr lang="en-US" sz="800" dirty="0"/>
          </a:p>
        </p:txBody>
      </p:sp>
      <p:sp>
        <p:nvSpPr>
          <p:cNvPr id="4" name="Shape 1"/>
          <p:cNvSpPr/>
          <p:nvPr/>
        </p:nvSpPr>
        <p:spPr>
          <a:xfrm>
            <a:off x="6309360" y="0"/>
            <a:ext cx="2834640" cy="5143500"/>
          </a:xfrm>
          <a:prstGeom prst="rect">
            <a:avLst/>
          </a:prstGeom>
          <a:solidFill>
            <a:srgbClr val="F5B800"/>
          </a:solidFill>
          <a:ln w="12700">
            <a:solidFill>
              <a:srgbClr val="F5B800"/>
            </a:solidFill>
            <a:prstDash val="solid"/>
          </a:ln>
        </p:spPr>
      </p:sp>
      <p:sp>
        <p:nvSpPr>
          <p:cNvPr id="5" name="Text 2"/>
          <p:cNvSpPr txBox="1"/>
          <p:nvPr/>
        </p:nvSpPr>
        <p:spPr>
          <a:xfrm>
            <a:off x="548640" y="822960"/>
            <a:ext cx="5486400" cy="2743200"/>
          </a:xfrm>
          <a:prstGeom prst="rect">
            <a:avLst/>
          </a:prstGeom>
          <a:noFill/>
          <a:ln/>
        </p:spPr>
        <p:txBody>
          <a:bodyPr wrap="square" lIns="0" tIns="0" rIns="0" bIns="0" rtlCol="0" anchor="t"/>
          <a:lstStyle/>
          <a:p>
            <a:pPr algn="l" indent="0" marL="0">
              <a:lnSpc>
                <a:spcPct val="105000"/>
              </a:lnSpc>
              <a:buNone/>
            </a:pPr>
            <a:r>
              <a:rPr lang="en-US" sz="4600" b="1" spc="-200" kern="0" dirty="0">
                <a:solidFill>
                  <a:srgbClr val="111111"/>
                </a:solidFill>
                <a:latin typeface="Pretendard" pitchFamily="34" charset="0"/>
                <a:ea typeface="Pretendard" pitchFamily="34" charset="-122"/>
                <a:cs typeface="Pretendard" pitchFamily="34" charset="-120"/>
              </a:rPr>
              <a:t>멈추고,</a:t>
            </a:r>
            <a:endParaRPr lang="en-US" sz="4600" dirty="0"/>
          </a:p>
          <a:p>
            <a:pPr algn="l" indent="0" marL="0">
              <a:lnSpc>
                <a:spcPct val="105000"/>
              </a:lnSpc>
              <a:buNone/>
            </a:pPr>
            <a:r>
              <a:rPr lang="en-US" sz="4600" b="1" spc="-200" kern="0" dirty="0">
                <a:solidFill>
                  <a:srgbClr val="111111"/>
                </a:solidFill>
                <a:latin typeface="Pretendard" pitchFamily="34" charset="0"/>
                <a:ea typeface="Pretendard" pitchFamily="34" charset="-122"/>
                <a:cs typeface="Pretendard" pitchFamily="34" charset="-120"/>
              </a:rPr>
              <a:t>알리고,</a:t>
            </a:r>
            <a:endParaRPr lang="en-US" sz="4600" dirty="0"/>
          </a:p>
          <a:p>
            <a:pPr algn="l" indent="0" marL="0">
              <a:lnSpc>
                <a:spcPct val="105000"/>
              </a:lnSpc>
              <a:buNone/>
            </a:pPr>
            <a:r>
              <a:rPr lang="en-US" sz="4600" b="1" spc="-200" kern="0" dirty="0">
                <a:solidFill>
                  <a:srgbClr val="111111"/>
                </a:solidFill>
                <a:latin typeface="Pretendard" pitchFamily="34" charset="0"/>
                <a:ea typeface="Pretendard" pitchFamily="34" charset="-122"/>
                <a:cs typeface="Pretendard" pitchFamily="34" charset="-120"/>
              </a:rPr>
              <a:t>사람이 빼낸다.</a:t>
            </a:r>
            <a:endParaRPr lang="en-US" sz="4600" dirty="0"/>
          </a:p>
        </p:txBody>
      </p:sp>
      <p:sp>
        <p:nvSpPr>
          <p:cNvPr id="6" name="Text 3"/>
          <p:cNvSpPr txBox="1"/>
          <p:nvPr/>
        </p:nvSpPr>
        <p:spPr>
          <a:xfrm>
            <a:off x="548640" y="4343400"/>
            <a:ext cx="5486400" cy="228600"/>
          </a:xfrm>
          <a:prstGeom prst="rect">
            <a:avLst/>
          </a:prstGeom>
          <a:noFill/>
          <a:ln/>
        </p:spPr>
        <p:txBody>
          <a:bodyPr wrap="square" lIns="0" tIns="0" rIns="0" bIns="0" rtlCol="0" anchor="t"/>
          <a:lstStyle/>
          <a:p>
            <a:pPr algn="l" indent="0" marL="0">
              <a:lnSpc>
                <a:spcPct val="100000"/>
              </a:lnSpc>
              <a:buNone/>
            </a:pPr>
            <a:r>
              <a:rPr lang="en-US" sz="1050" dirty="0">
                <a:solidFill>
                  <a:srgbClr val="6B6B6B"/>
                </a:solidFill>
                <a:latin typeface="Pretendard" pitchFamily="34" charset="0"/>
                <a:ea typeface="Pretendard" pitchFamily="34" charset="-122"/>
                <a:cs typeface="Pretendard" pitchFamily="34" charset="-120"/>
              </a:rPr>
              <a:t>국립한국해양대학교  ·  [팀명]  ·  [발표자]</a:t>
            </a:r>
            <a:endParaRPr lang="en-US" sz="1050" dirty="0"/>
          </a:p>
        </p:txBody>
      </p:sp>
      <p:sp>
        <p:nvSpPr>
          <p:cNvPr id="7" name="Text 4"/>
          <p:cNvSpPr txBox="1"/>
          <p:nvPr/>
        </p:nvSpPr>
        <p:spPr>
          <a:xfrm>
            <a:off x="6629400" y="822960"/>
            <a:ext cx="2194560" cy="1463040"/>
          </a:xfrm>
          <a:prstGeom prst="rect">
            <a:avLst/>
          </a:prstGeom>
          <a:noFill/>
          <a:ln/>
        </p:spPr>
        <p:txBody>
          <a:bodyPr wrap="square" lIns="0" tIns="0" rIns="0" bIns="0" rtlCol="0" anchor="t"/>
          <a:lstStyle/>
          <a:p>
            <a:pPr algn="l" indent="0" marL="0">
              <a:lnSpc>
                <a:spcPct val="130000"/>
              </a:lnSpc>
              <a:buNone/>
            </a:pPr>
            <a:r>
              <a:rPr lang="en-US" sz="1300" b="1" dirty="0">
                <a:solidFill>
                  <a:srgbClr val="111111"/>
                </a:solidFill>
                <a:latin typeface="Pretendard" pitchFamily="34" charset="0"/>
                <a:ea typeface="Pretendard" pitchFamily="34" charset="-122"/>
                <a:cs typeface="Pretendard" pitchFamily="34" charset="-120"/>
              </a:rPr>
              <a:t>MetaQuest VR 기반</a:t>
            </a:r>
            <a:endParaRPr lang="en-US" sz="1300" dirty="0"/>
          </a:p>
          <a:p>
            <a:pPr algn="l" indent="0" marL="0">
              <a:lnSpc>
                <a:spcPct val="130000"/>
              </a:lnSpc>
              <a:buNone/>
            </a:pPr>
            <a:r>
              <a:rPr lang="en-US" sz="1300" b="1" dirty="0">
                <a:solidFill>
                  <a:srgbClr val="111111"/>
                </a:solidFill>
                <a:latin typeface="Pretendard" pitchFamily="34" charset="0"/>
                <a:ea typeface="Pretendard" pitchFamily="34" charset="-122"/>
                <a:cs typeface="Pretendard" pitchFamily="34" charset="-120"/>
              </a:rPr>
              <a:t>피지컬 AI AGV</a:t>
            </a:r>
            <a:endParaRPr lang="en-US" sz="1300" dirty="0"/>
          </a:p>
          <a:p>
            <a:pPr algn="l" indent="0" marL="0">
              <a:lnSpc>
                <a:spcPct val="130000"/>
              </a:lnSpc>
              <a:buNone/>
            </a:pPr>
            <a:r>
              <a:rPr lang="en-US" sz="1300" b="1" dirty="0">
                <a:solidFill>
                  <a:srgbClr val="111111"/>
                </a:solidFill>
                <a:latin typeface="Pretendard" pitchFamily="34" charset="0"/>
                <a:ea typeface="Pretendard" pitchFamily="34" charset="-122"/>
                <a:cs typeface="Pretendard" pitchFamily="34" charset="-120"/>
              </a:rPr>
              <a:t>원격 개입 &amp;</a:t>
            </a:r>
            <a:endParaRPr lang="en-US" sz="1300" dirty="0"/>
          </a:p>
          <a:p>
            <a:pPr algn="l" indent="0" marL="0">
              <a:lnSpc>
                <a:spcPct val="130000"/>
              </a:lnSpc>
              <a:buNone/>
            </a:pPr>
            <a:r>
              <a:rPr lang="en-US" sz="1300" b="1" dirty="0">
                <a:solidFill>
                  <a:srgbClr val="111111"/>
                </a:solidFill>
                <a:latin typeface="Pretendard" pitchFamily="34" charset="0"/>
                <a:ea typeface="Pretendard" pitchFamily="34" charset="-122"/>
                <a:cs typeface="Pretendard" pitchFamily="34" charset="-120"/>
              </a:rPr>
              <a:t>협착 방지 디지털 트윈</a:t>
            </a:r>
            <a:endParaRPr lang="en-US" sz="1300" dirty="0"/>
          </a:p>
        </p:txBody>
      </p:sp>
      <p:sp>
        <p:nvSpPr>
          <p:cNvPr id="8" name="Text 5"/>
          <p:cNvSpPr txBox="1"/>
          <p:nvPr/>
        </p:nvSpPr>
        <p:spPr>
          <a:xfrm>
            <a:off x="6629400" y="4160520"/>
            <a:ext cx="2194560" cy="457200"/>
          </a:xfrm>
          <a:prstGeom prst="rect">
            <a:avLst/>
          </a:prstGeom>
          <a:noFill/>
          <a:ln/>
        </p:spPr>
        <p:txBody>
          <a:bodyPr wrap="square" lIns="0" tIns="0" rIns="0" bIns="0" rtlCol="0" anchor="t"/>
          <a:lstStyle/>
          <a:p>
            <a:pPr algn="l" indent="0" marL="0">
              <a:lnSpc>
                <a:spcPct val="135000"/>
              </a:lnSpc>
              <a:buNone/>
            </a:pPr>
            <a:r>
              <a:rPr lang="en-US" sz="950" dirty="0">
                <a:solidFill>
                  <a:srgbClr val="111111"/>
                </a:solidFill>
                <a:latin typeface="Pretendard" pitchFamily="34" charset="0"/>
                <a:ea typeface="Pretendard" pitchFamily="34" charset="-122"/>
                <a:cs typeface="Pretendard" pitchFamily="34" charset="-120"/>
              </a:rPr>
              <a:t>제4회 경남 AI·SW 경진대회</a:t>
            </a:r>
            <a:endParaRPr lang="en-US" sz="950" dirty="0"/>
          </a:p>
          <a:p>
            <a:pPr algn="l" indent="0" marL="0">
              <a:lnSpc>
                <a:spcPct val="135000"/>
              </a:lnSpc>
              <a:buNone/>
            </a:pPr>
            <a:r>
              <a:rPr lang="en-US" sz="950" dirty="0">
                <a:solidFill>
                  <a:srgbClr val="111111"/>
                </a:solidFill>
                <a:latin typeface="Pretendard" pitchFamily="34" charset="0"/>
                <a:ea typeface="Pretendard" pitchFamily="34" charset="-122"/>
                <a:cs typeface="Pretendard" pitchFamily="34" charset="-120"/>
              </a:rPr>
              <a:t>대학부 · 분야 32</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4572000" cy="201168"/>
          </a:xfrm>
          <a:prstGeom prst="rect">
            <a:avLst/>
          </a:prstGeom>
          <a:noFill/>
          <a:ln/>
        </p:spPr>
        <p:txBody>
          <a:bodyPr wrap="square" lIns="0" tIns="0" rIns="0" bIns="0" rtlCol="0" anchor="ctr"/>
          <a:lstStyle/>
          <a:p>
            <a:pPr algn="l" indent="0" marL="0">
              <a:lnSpc>
                <a:spcPct val="100000"/>
              </a:lnSpc>
              <a:buNone/>
            </a:pPr>
            <a:r>
              <a:rPr lang="en-US" sz="900" dirty="0">
                <a:solidFill>
                  <a:srgbClr val="6B6B6B"/>
                </a:solidFill>
                <a:latin typeface="Pretendard" pitchFamily="34" charset="0"/>
                <a:ea typeface="Pretendard" pitchFamily="34" charset="-122"/>
                <a:cs typeface="Pretendard" pitchFamily="34" charset="-120"/>
              </a:rPr>
              <a:t>01  문제</a:t>
            </a:r>
            <a:endParaRPr lang="en-US" sz="900" dirty="0"/>
          </a:p>
        </p:txBody>
      </p:sp>
      <p:sp>
        <p:nvSpPr>
          <p:cNvPr id="3" name="Text 1"/>
          <p:cNvSpPr txBox="1"/>
          <p:nvPr/>
        </p:nvSpPr>
        <p:spPr>
          <a:xfrm>
            <a:off x="7223760" y="384048"/>
            <a:ext cx="1371600" cy="201168"/>
          </a:xfrm>
          <a:prstGeom prst="rect">
            <a:avLst/>
          </a:prstGeom>
          <a:noFill/>
          <a:ln/>
        </p:spPr>
        <p:txBody>
          <a:bodyPr wrap="square" lIns="0" tIns="0" rIns="0" bIns="0" rtlCol="0" anchor="ctr"/>
          <a:lstStyle/>
          <a:p>
            <a:pPr algn="r" indent="0" marL="0">
              <a:lnSpc>
                <a:spcPct val="100000"/>
              </a:lnSpc>
              <a:buNone/>
            </a:pPr>
            <a:r>
              <a:rPr lang="en-US" sz="900" dirty="0">
                <a:solidFill>
                  <a:srgbClr val="6B6B6B"/>
                </a:solidFill>
                <a:latin typeface="Pretendard" pitchFamily="34" charset="0"/>
                <a:ea typeface="Pretendard" pitchFamily="34" charset="-122"/>
                <a:cs typeface="Pretendard" pitchFamily="34" charset="-120"/>
              </a:rPr>
              <a:t>0:30</a:t>
            </a:r>
            <a:endParaRPr lang="en-US" sz="900" dirty="0"/>
          </a:p>
        </p:txBody>
      </p:sp>
      <p:sp>
        <p:nvSpPr>
          <p:cNvPr id="4" name="Text 2"/>
          <p:cNvSpPr txBox="1"/>
          <p:nvPr/>
        </p:nvSpPr>
        <p:spPr>
          <a:xfrm>
            <a:off x="8138160" y="4732020"/>
            <a:ext cx="457200" cy="182880"/>
          </a:xfrm>
          <a:prstGeom prst="rect">
            <a:avLst/>
          </a:prstGeom>
          <a:noFill/>
          <a:ln/>
        </p:spPr>
        <p:txBody>
          <a:bodyPr wrap="square" lIns="0" tIns="0" rIns="0" bIns="0" rtlCol="0" anchor="t"/>
          <a:lstStyle/>
          <a:p>
            <a:pPr algn="r" indent="0" marL="0">
              <a:lnSpc>
                <a:spcPct val="100000"/>
              </a:lnSpc>
              <a:buNone/>
            </a:pPr>
            <a:r>
              <a:rPr lang="en-US" sz="800" dirty="0">
                <a:solidFill>
                  <a:srgbClr val="A3A3A3"/>
                </a:solidFill>
                <a:latin typeface="Pretendard" pitchFamily="34" charset="0"/>
                <a:ea typeface="Pretendard" pitchFamily="34" charset="-122"/>
                <a:cs typeface="Pretendard" pitchFamily="34" charset="-120"/>
              </a:rPr>
              <a:t>02</a:t>
            </a:r>
            <a:endParaRPr lang="en-US" sz="800" dirty="0"/>
          </a:p>
        </p:txBody>
      </p:sp>
      <p:sp>
        <p:nvSpPr>
          <p:cNvPr id="6" name="Text 3"/>
          <p:cNvSpPr txBox="1"/>
          <p:nvPr/>
        </p:nvSpPr>
        <p:spPr>
          <a:xfrm>
            <a:off x="548640" y="822960"/>
            <a:ext cx="8046720" cy="1097280"/>
          </a:xfrm>
          <a:prstGeom prst="rect">
            <a:avLst/>
          </a:prstGeom>
          <a:noFill/>
          <a:ln/>
        </p:spPr>
        <p:txBody>
          <a:bodyPr wrap="square" lIns="0" tIns="0" rIns="0" bIns="0" rtlCol="0" anchor="t"/>
          <a:lstStyle/>
          <a:p>
            <a:pPr algn="l" indent="0" marL="0">
              <a:lnSpc>
                <a:spcPct val="115000"/>
              </a:lnSpc>
              <a:buNone/>
            </a:pPr>
            <a:r>
              <a:rPr lang="en-US" sz="3000" b="1" spc="-100" kern="0" dirty="0">
                <a:solidFill>
                  <a:srgbClr val="111111"/>
                </a:solidFill>
                <a:latin typeface="Pretendard" pitchFamily="34" charset="0"/>
                <a:ea typeface="Pretendard" pitchFamily="34" charset="-122"/>
                <a:cs typeface="Pretendard" pitchFamily="34" charset="-120"/>
              </a:rPr>
              <a:t>공장은 일주일에 6~10번 멈추고,</a:t>
            </a:r>
            <a:endParaRPr lang="en-US" sz="3000" dirty="0"/>
          </a:p>
          <a:p>
            <a:pPr algn="l" indent="0" marL="0">
              <a:lnSpc>
                <a:spcPct val="115000"/>
              </a:lnSpc>
              <a:buNone/>
            </a:pPr>
            <a:r>
              <a:rPr lang="en-US" sz="3000" b="1" spc="-100" kern="0" dirty="0">
                <a:solidFill>
                  <a:srgbClr val="111111"/>
                </a:solidFill>
                <a:latin typeface="Pretendard" pitchFamily="34" charset="0"/>
                <a:ea typeface="Pretendard" pitchFamily="34" charset="-122"/>
                <a:cs typeface="Pretendard" pitchFamily="34" charset="-120"/>
              </a:rPr>
              <a:t>한 번 멈추면 81분을 잃는다.</a:t>
            </a:r>
            <a:endParaRPr lang="en-US" sz="3000" dirty="0"/>
          </a:p>
        </p:txBody>
      </p:sp>
      <p:sp>
        <p:nvSpPr>
          <p:cNvPr id="7" name="Shape 4"/>
          <p:cNvSpPr/>
          <p:nvPr/>
        </p:nvSpPr>
        <p:spPr>
          <a:xfrm>
            <a:off x="548640" y="2377440"/>
            <a:ext cx="2438400" cy="0"/>
          </a:xfrm>
          <a:prstGeom prst="line">
            <a:avLst/>
          </a:prstGeom>
          <a:noFill/>
          <a:ln w="19050">
            <a:solidFill>
              <a:srgbClr val="111111"/>
            </a:solidFill>
            <a:prstDash val="solid"/>
          </a:ln>
        </p:spPr>
      </p:sp>
      <p:sp>
        <p:nvSpPr>
          <p:cNvPr id="8" name="Text 5"/>
          <p:cNvSpPr txBox="1"/>
          <p:nvPr/>
        </p:nvSpPr>
        <p:spPr>
          <a:xfrm>
            <a:off x="548640" y="2487168"/>
            <a:ext cx="2438400" cy="777240"/>
          </a:xfrm>
          <a:prstGeom prst="rect">
            <a:avLst/>
          </a:prstGeom>
          <a:noFill/>
          <a:ln/>
        </p:spPr>
        <p:txBody>
          <a:bodyPr wrap="square" lIns="0" tIns="0" rIns="0" bIns="0" rtlCol="0" anchor="ctr"/>
          <a:lstStyle/>
          <a:p>
            <a:pPr algn="l" indent="0" marL="0">
              <a:lnSpc>
                <a:spcPct val="100000"/>
              </a:lnSpc>
              <a:buNone/>
            </a:pPr>
            <a:r>
              <a:rPr lang="en-US" sz="4400" b="1" spc="-200" kern="0" dirty="0">
                <a:solidFill>
                  <a:srgbClr val="111111"/>
                </a:solidFill>
                <a:latin typeface="Pretendard" pitchFamily="34" charset="0"/>
                <a:ea typeface="Pretendard" pitchFamily="34" charset="-122"/>
                <a:cs typeface="Pretendard" pitchFamily="34" charset="-120"/>
              </a:rPr>
              <a:t>6~10회</a:t>
            </a:r>
            <a:endParaRPr lang="en-US" sz="4400" dirty="0"/>
          </a:p>
        </p:txBody>
      </p:sp>
      <p:sp>
        <p:nvSpPr>
          <p:cNvPr id="9" name="Text 6"/>
          <p:cNvSpPr txBox="1"/>
          <p:nvPr/>
        </p:nvSpPr>
        <p:spPr>
          <a:xfrm>
            <a:off x="548640" y="3364992"/>
            <a:ext cx="2438400" cy="256032"/>
          </a:xfrm>
          <a:prstGeom prst="rect">
            <a:avLst/>
          </a:prstGeom>
          <a:noFill/>
          <a:ln/>
        </p:spPr>
        <p:txBody>
          <a:bodyPr wrap="square" lIns="0" tIns="0" rIns="0" bIns="0" rtlCol="0" anchor="t"/>
          <a:lstStyle/>
          <a:p>
            <a:pPr algn="l" indent="0" marL="0">
              <a:lnSpc>
                <a:spcPct val="100000"/>
              </a:lnSpc>
              <a:buNone/>
            </a:pPr>
            <a:r>
              <a:rPr lang="en-US" sz="1250" b="1" dirty="0">
                <a:solidFill>
                  <a:srgbClr val="111111"/>
                </a:solidFill>
                <a:latin typeface="Pretendard" pitchFamily="34" charset="0"/>
                <a:ea typeface="Pretendard" pitchFamily="34" charset="-122"/>
                <a:cs typeface="Pretendard" pitchFamily="34" charset="-120"/>
              </a:rPr>
              <a:t>주당 정지 횟수</a:t>
            </a:r>
            <a:endParaRPr lang="en-US" sz="1250" dirty="0"/>
          </a:p>
        </p:txBody>
      </p:sp>
      <p:sp>
        <p:nvSpPr>
          <p:cNvPr id="10" name="Text 7"/>
          <p:cNvSpPr txBox="1"/>
          <p:nvPr/>
        </p:nvSpPr>
        <p:spPr>
          <a:xfrm>
            <a:off x="548640" y="3657600"/>
            <a:ext cx="2438400" cy="256032"/>
          </a:xfrm>
          <a:prstGeom prst="rect">
            <a:avLst/>
          </a:prstGeom>
          <a:noFill/>
          <a:ln/>
        </p:spPr>
        <p:txBody>
          <a:bodyPr wrap="square" lIns="0" tIns="0" rIns="0" bIns="0" rtlCol="0" anchor="t"/>
          <a:lstStyle/>
          <a:p>
            <a:pPr algn="l" indent="0" marL="0">
              <a:lnSpc>
                <a:spcPct val="100000"/>
              </a:lnSpc>
              <a:buNone/>
            </a:pPr>
            <a:r>
              <a:rPr lang="en-US" sz="1100" dirty="0">
                <a:solidFill>
                  <a:srgbClr val="6B6B6B"/>
                </a:solidFill>
                <a:latin typeface="Pretendard" pitchFamily="34" charset="0"/>
                <a:ea typeface="Pretendard" pitchFamily="34" charset="-122"/>
                <a:cs typeface="Pretendard" pitchFamily="34" charset="-120"/>
              </a:rPr>
              <a:t>2025년 제조업 응답자 48% ①</a:t>
            </a:r>
            <a:endParaRPr lang="en-US" sz="1100" dirty="0"/>
          </a:p>
        </p:txBody>
      </p:sp>
      <p:sp>
        <p:nvSpPr>
          <p:cNvPr id="11" name="Shape 8"/>
          <p:cNvSpPr/>
          <p:nvPr/>
        </p:nvSpPr>
        <p:spPr>
          <a:xfrm>
            <a:off x="3352800" y="2377440"/>
            <a:ext cx="2438400" cy="0"/>
          </a:xfrm>
          <a:prstGeom prst="line">
            <a:avLst/>
          </a:prstGeom>
          <a:noFill/>
          <a:ln w="19050">
            <a:solidFill>
              <a:srgbClr val="111111"/>
            </a:solidFill>
            <a:prstDash val="solid"/>
          </a:ln>
        </p:spPr>
      </p:sp>
      <p:sp>
        <p:nvSpPr>
          <p:cNvPr id="12" name="Text 9"/>
          <p:cNvSpPr txBox="1"/>
          <p:nvPr/>
        </p:nvSpPr>
        <p:spPr>
          <a:xfrm>
            <a:off x="3352800" y="2487168"/>
            <a:ext cx="2438400" cy="777240"/>
          </a:xfrm>
          <a:prstGeom prst="rect">
            <a:avLst/>
          </a:prstGeom>
          <a:noFill/>
          <a:ln/>
        </p:spPr>
        <p:txBody>
          <a:bodyPr wrap="square" lIns="0" tIns="0" rIns="0" bIns="0" rtlCol="0" anchor="ctr"/>
          <a:lstStyle/>
          <a:p>
            <a:pPr algn="l" indent="0" marL="0">
              <a:lnSpc>
                <a:spcPct val="100000"/>
              </a:lnSpc>
              <a:buNone/>
            </a:pPr>
            <a:r>
              <a:rPr lang="en-US" sz="4400" b="1" spc="-200" kern="0" dirty="0">
                <a:solidFill>
                  <a:srgbClr val="111111"/>
                </a:solidFill>
                <a:latin typeface="Pretendard" pitchFamily="34" charset="0"/>
                <a:ea typeface="Pretendard" pitchFamily="34" charset="-122"/>
                <a:cs typeface="Pretendard" pitchFamily="34" charset="-120"/>
              </a:rPr>
              <a:t>81분</a:t>
            </a:r>
            <a:endParaRPr lang="en-US" sz="4400" dirty="0"/>
          </a:p>
        </p:txBody>
      </p:sp>
      <p:sp>
        <p:nvSpPr>
          <p:cNvPr id="13" name="Text 10"/>
          <p:cNvSpPr txBox="1"/>
          <p:nvPr/>
        </p:nvSpPr>
        <p:spPr>
          <a:xfrm>
            <a:off x="3352800" y="3364992"/>
            <a:ext cx="2438400" cy="256032"/>
          </a:xfrm>
          <a:prstGeom prst="rect">
            <a:avLst/>
          </a:prstGeom>
          <a:noFill/>
          <a:ln/>
        </p:spPr>
        <p:txBody>
          <a:bodyPr wrap="square" lIns="0" tIns="0" rIns="0" bIns="0" rtlCol="0" anchor="t"/>
          <a:lstStyle/>
          <a:p>
            <a:pPr algn="l" indent="0" marL="0">
              <a:lnSpc>
                <a:spcPct val="100000"/>
              </a:lnSpc>
              <a:buNone/>
            </a:pPr>
            <a:r>
              <a:rPr lang="en-US" sz="1250" b="1" dirty="0">
                <a:solidFill>
                  <a:srgbClr val="111111"/>
                </a:solidFill>
                <a:latin typeface="Pretendard" pitchFamily="34" charset="0"/>
                <a:ea typeface="Pretendard" pitchFamily="34" charset="-122"/>
                <a:cs typeface="Pretendard" pitchFamily="34" charset="-120"/>
              </a:rPr>
              <a:t>정지 1건당 평균 시간</a:t>
            </a:r>
            <a:endParaRPr lang="en-US" sz="1250" dirty="0"/>
          </a:p>
        </p:txBody>
      </p:sp>
      <p:sp>
        <p:nvSpPr>
          <p:cNvPr id="14" name="Text 11"/>
          <p:cNvSpPr txBox="1"/>
          <p:nvPr/>
        </p:nvSpPr>
        <p:spPr>
          <a:xfrm>
            <a:off x="3352800" y="3657600"/>
            <a:ext cx="2438400" cy="256032"/>
          </a:xfrm>
          <a:prstGeom prst="rect">
            <a:avLst/>
          </a:prstGeom>
          <a:noFill/>
          <a:ln/>
        </p:spPr>
        <p:txBody>
          <a:bodyPr wrap="square" lIns="0" tIns="0" rIns="0" bIns="0" rtlCol="0" anchor="t"/>
          <a:lstStyle/>
          <a:p>
            <a:pPr algn="l" indent="0" marL="0">
              <a:lnSpc>
                <a:spcPct val="100000"/>
              </a:lnSpc>
              <a:buNone/>
            </a:pPr>
            <a:r>
              <a:rPr lang="en-US" sz="1100" dirty="0">
                <a:solidFill>
                  <a:srgbClr val="6B6B6B"/>
                </a:solidFill>
                <a:latin typeface="Pretendard" pitchFamily="34" charset="0"/>
                <a:ea typeface="Pretendard" pitchFamily="34" charset="-122"/>
                <a:cs typeface="Pretendard" pitchFamily="34" charset="-120"/>
              </a:rPr>
              <a:t>생산 재개까지 걸리는 시간 ②</a:t>
            </a:r>
            <a:endParaRPr lang="en-US" sz="1100" dirty="0"/>
          </a:p>
        </p:txBody>
      </p:sp>
      <p:sp>
        <p:nvSpPr>
          <p:cNvPr id="15" name="Shape 12"/>
          <p:cNvSpPr/>
          <p:nvPr/>
        </p:nvSpPr>
        <p:spPr>
          <a:xfrm>
            <a:off x="6156960" y="2377440"/>
            <a:ext cx="2438400" cy="0"/>
          </a:xfrm>
          <a:prstGeom prst="line">
            <a:avLst/>
          </a:prstGeom>
          <a:noFill/>
          <a:ln w="19050">
            <a:solidFill>
              <a:srgbClr val="111111"/>
            </a:solidFill>
            <a:prstDash val="solid"/>
          </a:ln>
        </p:spPr>
      </p:sp>
      <p:sp>
        <p:nvSpPr>
          <p:cNvPr id="16" name="Text 13"/>
          <p:cNvSpPr txBox="1"/>
          <p:nvPr/>
        </p:nvSpPr>
        <p:spPr>
          <a:xfrm>
            <a:off x="6156960" y="2487168"/>
            <a:ext cx="2438400" cy="777240"/>
          </a:xfrm>
          <a:prstGeom prst="rect">
            <a:avLst/>
          </a:prstGeom>
          <a:noFill/>
          <a:ln/>
        </p:spPr>
        <p:txBody>
          <a:bodyPr wrap="square" lIns="0" tIns="0" rIns="0" bIns="0" rtlCol="0" anchor="ctr"/>
          <a:lstStyle/>
          <a:p>
            <a:pPr algn="l" indent="0" marL="0">
              <a:lnSpc>
                <a:spcPct val="100000"/>
              </a:lnSpc>
              <a:buNone/>
            </a:pPr>
            <a:r>
              <a:rPr lang="en-US" sz="4400" b="1" spc="-200" kern="0" dirty="0">
                <a:solidFill>
                  <a:srgbClr val="111111"/>
                </a:solidFill>
                <a:latin typeface="Pretendard" pitchFamily="34" charset="0"/>
                <a:ea typeface="Pretendard" pitchFamily="34" charset="-122"/>
                <a:cs typeface="Pretendard" pitchFamily="34" charset="-120"/>
              </a:rPr>
              <a:t>23억 원</a:t>
            </a:r>
            <a:endParaRPr lang="en-US" sz="4400" dirty="0"/>
          </a:p>
        </p:txBody>
      </p:sp>
      <p:sp>
        <p:nvSpPr>
          <p:cNvPr id="17" name="Text 14"/>
          <p:cNvSpPr txBox="1"/>
          <p:nvPr/>
        </p:nvSpPr>
        <p:spPr>
          <a:xfrm>
            <a:off x="6156960" y="3364992"/>
            <a:ext cx="2438400" cy="256032"/>
          </a:xfrm>
          <a:prstGeom prst="rect">
            <a:avLst/>
          </a:prstGeom>
          <a:noFill/>
          <a:ln/>
        </p:spPr>
        <p:txBody>
          <a:bodyPr wrap="square" lIns="0" tIns="0" rIns="0" bIns="0" rtlCol="0" anchor="t"/>
          <a:lstStyle/>
          <a:p>
            <a:pPr algn="l" indent="0" marL="0">
              <a:lnSpc>
                <a:spcPct val="100000"/>
              </a:lnSpc>
              <a:buNone/>
            </a:pPr>
            <a:r>
              <a:rPr lang="en-US" sz="1250" b="1" dirty="0">
                <a:solidFill>
                  <a:srgbClr val="111111"/>
                </a:solidFill>
                <a:latin typeface="Pretendard" pitchFamily="34" charset="0"/>
                <a:ea typeface="Pretendard" pitchFamily="34" charset="-122"/>
                <a:cs typeface="Pretendard" pitchFamily="34" charset="-120"/>
              </a:rPr>
              <a:t>시간당 정지 비용</a:t>
            </a:r>
            <a:endParaRPr lang="en-US" sz="1250" dirty="0"/>
          </a:p>
        </p:txBody>
      </p:sp>
      <p:sp>
        <p:nvSpPr>
          <p:cNvPr id="18" name="Text 15"/>
          <p:cNvSpPr txBox="1"/>
          <p:nvPr/>
        </p:nvSpPr>
        <p:spPr>
          <a:xfrm>
            <a:off x="6156960" y="3657600"/>
            <a:ext cx="2438400" cy="256032"/>
          </a:xfrm>
          <a:prstGeom prst="rect">
            <a:avLst/>
          </a:prstGeom>
          <a:noFill/>
          <a:ln/>
        </p:spPr>
        <p:txBody>
          <a:bodyPr wrap="square" lIns="0" tIns="0" rIns="0" bIns="0" rtlCol="0" anchor="t"/>
          <a:lstStyle/>
          <a:p>
            <a:pPr algn="l" indent="0" marL="0">
              <a:lnSpc>
                <a:spcPct val="100000"/>
              </a:lnSpc>
              <a:buNone/>
            </a:pPr>
            <a:r>
              <a:rPr lang="en-US" sz="1100" dirty="0">
                <a:solidFill>
                  <a:srgbClr val="6B6B6B"/>
                </a:solidFill>
                <a:latin typeface="Pretendard" pitchFamily="34" charset="0"/>
                <a:ea typeface="Pretendard" pitchFamily="34" charset="-122"/>
                <a:cs typeface="Pretendard" pitchFamily="34" charset="-120"/>
              </a:rPr>
              <a:t>평균 $1.7M (1달러 1,349원 환산) ③</a:t>
            </a:r>
            <a:endParaRPr lang="en-US" sz="1100" dirty="0"/>
          </a:p>
        </p:txBody>
      </p:sp>
      <p:sp>
        <p:nvSpPr>
          <p:cNvPr id="19" name="Text 16"/>
          <p:cNvSpPr txBox="1"/>
          <p:nvPr/>
        </p:nvSpPr>
        <p:spPr>
          <a:xfrm>
            <a:off x="548640" y="4069080"/>
            <a:ext cx="7772400" cy="731520"/>
          </a:xfrm>
          <a:prstGeom prst="rect">
            <a:avLst/>
          </a:prstGeom>
          <a:noFill/>
          <a:ln/>
        </p:spPr>
        <p:txBody>
          <a:bodyPr wrap="square" lIns="0" tIns="0" rIns="0" bIns="0" rtlCol="0" anchor="t"/>
          <a:lstStyle/>
          <a:p>
            <a:pPr algn="l" indent="0" marL="0">
              <a:lnSpc>
                <a:spcPct val="130000"/>
              </a:lnSpc>
              <a:buNone/>
            </a:pPr>
            <a:r>
              <a:rPr lang="en-US" sz="750" dirty="0">
                <a:solidFill>
                  <a:srgbClr val="6B6B6B"/>
                </a:solidFill>
                <a:latin typeface="Pretendard" pitchFamily="34" charset="0"/>
                <a:ea typeface="Pretendard" pitchFamily="34" charset="-122"/>
                <a:cs typeface="Pretendard" pitchFamily="34" charset="-120"/>
              </a:rPr>
              <a:t>① ③ Fluke Reliability · Censuswide 설문 (미·영·독 600명), 2025.10.30 — “Nearly half (48%) report 6–10 downtime incidents weekly” / “an average cost of $1.7M per hour”</a:t>
            </a:r>
            <a:endParaRPr lang="en-US" sz="750" dirty="0"/>
          </a:p>
          <a:p>
            <a:pPr algn="l" indent="0" marL="0">
              <a:lnSpc>
                <a:spcPct val="130000"/>
              </a:lnSpc>
              <a:buNone/>
            </a:pPr>
            <a:r>
              <a:rPr lang="en-US" sz="750" dirty="0">
                <a:solidFill>
                  <a:srgbClr val="6B6B6B"/>
                </a:solidFill>
                <a:latin typeface="Pretendard" pitchFamily="34" charset="0"/>
                <a:ea typeface="Pretendard" pitchFamily="34" charset="-122"/>
                <a:cs typeface="Pretendard" pitchFamily="34" charset="-120"/>
              </a:rPr>
              <a:t>    https://www.fluke.com/en-us/learn/blog/condition-monitoring-and-alignment-software/unplanned-downtime-costs-manufacturers-up-to-852m-weekly</a:t>
            </a:r>
            <a:endParaRPr lang="en-US" sz="750" dirty="0"/>
          </a:p>
          <a:p>
            <a:pPr algn="l" indent="0" marL="0">
              <a:lnSpc>
                <a:spcPct val="130000"/>
              </a:lnSpc>
              <a:buNone/>
            </a:pPr>
            <a:r>
              <a:rPr lang="en-US" sz="750" dirty="0">
                <a:solidFill>
                  <a:srgbClr val="6B6B6B"/>
                </a:solidFill>
                <a:latin typeface="Pretendard" pitchFamily="34" charset="0"/>
                <a:ea typeface="Pretendard" pitchFamily="34" charset="-122"/>
                <a:cs typeface="Pretendard" pitchFamily="34" charset="-120"/>
              </a:rPr>
              <a:t>② Siemens (Senseye Predictive Maintenance), “The True Cost of Downtime 2024,” 11쪽 — “Now, it takes 81 minutes” (정지 후 생산 재개까지)</a:t>
            </a:r>
            <a:endParaRPr lang="en-US" sz="750" dirty="0"/>
          </a:p>
          <a:p>
            <a:pPr algn="l" indent="0" marL="0">
              <a:lnSpc>
                <a:spcPct val="130000"/>
              </a:lnSpc>
              <a:buNone/>
            </a:pPr>
            <a:r>
              <a:rPr lang="en-US" sz="750" dirty="0">
                <a:solidFill>
                  <a:srgbClr val="6B6B6B"/>
                </a:solidFill>
                <a:latin typeface="Pretendard" pitchFamily="34" charset="0"/>
                <a:ea typeface="Pretendard" pitchFamily="34" charset="-122"/>
                <a:cs typeface="Pretendard" pitchFamily="34" charset="-120"/>
              </a:rPr>
              <a:t>환율: 1 USD = 1,348.6 KRW (ExchangeRate-API, 2026-10-04 기준) → $1.7M ≈ 22.9억 원</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4572000" cy="201168"/>
          </a:xfrm>
          <a:prstGeom prst="rect">
            <a:avLst/>
          </a:prstGeom>
          <a:noFill/>
          <a:ln/>
        </p:spPr>
        <p:txBody>
          <a:bodyPr wrap="square" lIns="0" tIns="0" rIns="0" bIns="0" rtlCol="0" anchor="ctr"/>
          <a:lstStyle/>
          <a:p>
            <a:pPr algn="l" indent="0" marL="0">
              <a:lnSpc>
                <a:spcPct val="100000"/>
              </a:lnSpc>
              <a:buNone/>
            </a:pPr>
            <a:r>
              <a:rPr lang="en-US" sz="900" dirty="0">
                <a:solidFill>
                  <a:srgbClr val="6B6B6B"/>
                </a:solidFill>
                <a:latin typeface="Pretendard" pitchFamily="34" charset="0"/>
                <a:ea typeface="Pretendard" pitchFamily="34" charset="-122"/>
                <a:cs typeface="Pretendard" pitchFamily="34" charset="-120"/>
              </a:rPr>
              <a:t>02  Agent</a:t>
            </a:r>
            <a:endParaRPr lang="en-US" sz="900" dirty="0"/>
          </a:p>
        </p:txBody>
      </p:sp>
      <p:sp>
        <p:nvSpPr>
          <p:cNvPr id="3" name="Text 1"/>
          <p:cNvSpPr txBox="1"/>
          <p:nvPr/>
        </p:nvSpPr>
        <p:spPr>
          <a:xfrm>
            <a:off x="7223760" y="384048"/>
            <a:ext cx="1371600" cy="201168"/>
          </a:xfrm>
          <a:prstGeom prst="rect">
            <a:avLst/>
          </a:prstGeom>
          <a:noFill/>
          <a:ln/>
        </p:spPr>
        <p:txBody>
          <a:bodyPr wrap="square" lIns="0" tIns="0" rIns="0" bIns="0" rtlCol="0" anchor="ctr"/>
          <a:lstStyle/>
          <a:p>
            <a:pPr algn="r" indent="0" marL="0">
              <a:lnSpc>
                <a:spcPct val="100000"/>
              </a:lnSpc>
              <a:buNone/>
            </a:pPr>
            <a:r>
              <a:rPr lang="en-US" sz="900" dirty="0">
                <a:solidFill>
                  <a:srgbClr val="6B6B6B"/>
                </a:solidFill>
                <a:latin typeface="Pretendard" pitchFamily="34" charset="0"/>
                <a:ea typeface="Pretendard" pitchFamily="34" charset="-122"/>
                <a:cs typeface="Pretendard" pitchFamily="34" charset="-120"/>
              </a:rPr>
              <a:t>1:00</a:t>
            </a:r>
            <a:endParaRPr lang="en-US" sz="900" dirty="0"/>
          </a:p>
        </p:txBody>
      </p:sp>
      <p:sp>
        <p:nvSpPr>
          <p:cNvPr id="4" name="Text 2"/>
          <p:cNvSpPr txBox="1"/>
          <p:nvPr/>
        </p:nvSpPr>
        <p:spPr>
          <a:xfrm>
            <a:off x="8138160" y="4732020"/>
            <a:ext cx="457200" cy="182880"/>
          </a:xfrm>
          <a:prstGeom prst="rect">
            <a:avLst/>
          </a:prstGeom>
          <a:noFill/>
          <a:ln/>
        </p:spPr>
        <p:txBody>
          <a:bodyPr wrap="square" lIns="0" tIns="0" rIns="0" bIns="0" rtlCol="0" anchor="t"/>
          <a:lstStyle/>
          <a:p>
            <a:pPr algn="r" indent="0" marL="0">
              <a:lnSpc>
                <a:spcPct val="100000"/>
              </a:lnSpc>
              <a:buNone/>
            </a:pPr>
            <a:r>
              <a:rPr lang="en-US" sz="800" dirty="0">
                <a:solidFill>
                  <a:srgbClr val="A3A3A3"/>
                </a:solidFill>
                <a:latin typeface="Pretendard" pitchFamily="34" charset="0"/>
                <a:ea typeface="Pretendard" pitchFamily="34" charset="-122"/>
                <a:cs typeface="Pretendard" pitchFamily="34" charset="-120"/>
              </a:rPr>
              <a:t>03</a:t>
            </a:r>
            <a:endParaRPr lang="en-US" sz="800" dirty="0"/>
          </a:p>
        </p:txBody>
      </p:sp>
      <p:sp>
        <p:nvSpPr>
          <p:cNvPr id="6" name="Text 3"/>
          <p:cNvSpPr txBox="1"/>
          <p:nvPr/>
        </p:nvSpPr>
        <p:spPr>
          <a:xfrm>
            <a:off x="548640" y="822960"/>
            <a:ext cx="8046720" cy="1097280"/>
          </a:xfrm>
          <a:prstGeom prst="rect">
            <a:avLst/>
          </a:prstGeom>
          <a:noFill/>
          <a:ln/>
        </p:spPr>
        <p:txBody>
          <a:bodyPr wrap="square" lIns="0" tIns="0" rIns="0" bIns="0" rtlCol="0" anchor="t"/>
          <a:lstStyle/>
          <a:p>
            <a:pPr algn="l" indent="0" marL="0">
              <a:lnSpc>
                <a:spcPct val="115000"/>
              </a:lnSpc>
              <a:buNone/>
            </a:pPr>
            <a:r>
              <a:rPr lang="en-US" sz="3000" b="1" spc="-100" kern="0" dirty="0">
                <a:solidFill>
                  <a:srgbClr val="111111"/>
                </a:solidFill>
                <a:latin typeface="Pretendard" pitchFamily="34" charset="0"/>
                <a:ea typeface="Pretendard" pitchFamily="34" charset="-122"/>
                <a:cs typeface="Pretendard" pitchFamily="34" charset="-120"/>
              </a:rPr>
              <a:t>판단은 로봇이, 결정은 사람이.</a:t>
            </a:r>
            <a:endParaRPr lang="en-US" sz="3000" dirty="0"/>
          </a:p>
        </p:txBody>
      </p:sp>
      <p:sp>
        <p:nvSpPr>
          <p:cNvPr id="7" name="Text 4"/>
          <p:cNvSpPr txBox="1"/>
          <p:nvPr/>
        </p:nvSpPr>
        <p:spPr>
          <a:xfrm>
            <a:off x="548640" y="1481328"/>
            <a:ext cx="8046720" cy="274320"/>
          </a:xfrm>
          <a:prstGeom prst="rect">
            <a:avLst/>
          </a:prstGeom>
          <a:noFill/>
          <a:ln/>
        </p:spPr>
        <p:txBody>
          <a:bodyPr wrap="square" lIns="0" tIns="0" rIns="0" bIns="0" rtlCol="0" anchor="t"/>
          <a:lstStyle/>
          <a:p>
            <a:pPr algn="l" indent="0" marL="0">
              <a:lnSpc>
                <a:spcPct val="100000"/>
              </a:lnSpc>
              <a:buNone/>
            </a:pPr>
            <a:r>
              <a:rPr lang="en-US" sz="1300" dirty="0">
                <a:solidFill>
                  <a:srgbClr val="6B6B6B"/>
                </a:solidFill>
                <a:latin typeface="Pretendard" pitchFamily="34" charset="0"/>
                <a:ea typeface="Pretendard" pitchFamily="34" charset="-122"/>
                <a:cs typeface="Pretendard" pitchFamily="34" charset="-120"/>
              </a:rPr>
              <a:t>목표: AGV 2대 협착·충돌 0건, 막히면 출동 없이 원격 탈출</a:t>
            </a:r>
            <a:endParaRPr lang="en-US" sz="1300" dirty="0"/>
          </a:p>
        </p:txBody>
      </p:sp>
      <p:sp>
        <p:nvSpPr>
          <p:cNvPr id="8" name="Shape 5"/>
          <p:cNvSpPr/>
          <p:nvPr/>
        </p:nvSpPr>
        <p:spPr>
          <a:xfrm>
            <a:off x="548640" y="2194560"/>
            <a:ext cx="3840480" cy="0"/>
          </a:xfrm>
          <a:prstGeom prst="line">
            <a:avLst/>
          </a:prstGeom>
          <a:noFill/>
          <a:ln w="9525">
            <a:solidFill>
              <a:srgbClr val="DDDDDD"/>
            </a:solidFill>
            <a:prstDash val="solid"/>
          </a:ln>
        </p:spPr>
      </p:sp>
      <p:sp>
        <p:nvSpPr>
          <p:cNvPr id="9" name="Text 6"/>
          <p:cNvSpPr txBox="1"/>
          <p:nvPr/>
        </p:nvSpPr>
        <p:spPr>
          <a:xfrm>
            <a:off x="548640" y="2340864"/>
            <a:ext cx="457200" cy="274320"/>
          </a:xfrm>
          <a:prstGeom prst="rect">
            <a:avLst/>
          </a:prstGeom>
          <a:noFill/>
          <a:ln/>
        </p:spPr>
        <p:txBody>
          <a:bodyPr wrap="square" lIns="0" tIns="0" rIns="0" bIns="0" rtlCol="0" anchor="t"/>
          <a:lstStyle/>
          <a:p>
            <a:pPr algn="l" indent="0" marL="0">
              <a:lnSpc>
                <a:spcPct val="100000"/>
              </a:lnSpc>
              <a:buNone/>
            </a:pPr>
            <a:r>
              <a:rPr lang="en-US" sz="1200" dirty="0">
                <a:solidFill>
                  <a:srgbClr val="A3A3A3"/>
                </a:solidFill>
                <a:latin typeface="Pretendard" pitchFamily="34" charset="0"/>
                <a:ea typeface="Pretendard" pitchFamily="34" charset="-122"/>
                <a:cs typeface="Pretendard" pitchFamily="34" charset="-120"/>
              </a:rPr>
              <a:t>01</a:t>
            </a:r>
            <a:endParaRPr lang="en-US" sz="1200" dirty="0"/>
          </a:p>
        </p:txBody>
      </p:sp>
      <p:sp>
        <p:nvSpPr>
          <p:cNvPr id="10" name="Text 7"/>
          <p:cNvSpPr txBox="1"/>
          <p:nvPr/>
        </p:nvSpPr>
        <p:spPr>
          <a:xfrm>
            <a:off x="1051560" y="2304288"/>
            <a:ext cx="3337560" cy="329184"/>
          </a:xfrm>
          <a:prstGeom prst="rect">
            <a:avLst/>
          </a:prstGeom>
          <a:noFill/>
          <a:ln/>
        </p:spPr>
        <p:txBody>
          <a:bodyPr wrap="square" lIns="0" tIns="0" rIns="0" bIns="0" rtlCol="0" anchor="t"/>
          <a:lstStyle/>
          <a:p>
            <a:pPr algn="l" indent="0" marL="0">
              <a:lnSpc>
                <a:spcPct val="100000"/>
              </a:lnSpc>
              <a:buNone/>
            </a:pPr>
            <a:r>
              <a:rPr lang="en-US" sz="1700" b="1" dirty="0">
                <a:solidFill>
                  <a:srgbClr val="111111"/>
                </a:solidFill>
                <a:latin typeface="Pretendard" pitchFamily="34" charset="0"/>
                <a:ea typeface="Pretendard" pitchFamily="34" charset="-122"/>
                <a:cs typeface="Pretendard" pitchFamily="34" charset="-120"/>
              </a:rPr>
              <a:t>즉시 멈춘다</a:t>
            </a:r>
            <a:endParaRPr lang="en-US" sz="1700" dirty="0"/>
          </a:p>
        </p:txBody>
      </p:sp>
      <p:sp>
        <p:nvSpPr>
          <p:cNvPr id="11" name="Text 8"/>
          <p:cNvSpPr txBox="1"/>
          <p:nvPr/>
        </p:nvSpPr>
        <p:spPr>
          <a:xfrm>
            <a:off x="1051560" y="2697480"/>
            <a:ext cx="3337560" cy="274320"/>
          </a:xfrm>
          <a:prstGeom prst="rect">
            <a:avLst/>
          </a:prstGeom>
          <a:noFill/>
          <a:ln/>
        </p:spPr>
        <p:txBody>
          <a:bodyPr wrap="square" lIns="0" tIns="0" rIns="0" bIns="0" rtlCol="0" anchor="t"/>
          <a:lstStyle/>
          <a:p>
            <a:pPr algn="l" indent="0" marL="0">
              <a:lnSpc>
                <a:spcPct val="120000"/>
              </a:lnSpc>
              <a:buNone/>
            </a:pPr>
            <a:r>
              <a:rPr lang="en-US" sz="1150" dirty="0">
                <a:solidFill>
                  <a:srgbClr val="6B6B6B"/>
                </a:solidFill>
                <a:latin typeface="Pretendard" pitchFamily="34" charset="0"/>
                <a:ea typeface="Pretendard" pitchFamily="34" charset="-122"/>
                <a:cs typeface="Pretendard" pitchFamily="34" charset="-120"/>
              </a:rPr>
              <a:t>전방 0.35m · AGV 간 0.3m 안이면 전진 지령 0</a:t>
            </a:r>
            <a:endParaRPr lang="en-US" sz="1150" dirty="0"/>
          </a:p>
        </p:txBody>
      </p:sp>
      <p:sp>
        <p:nvSpPr>
          <p:cNvPr id="12" name="Shape 9"/>
          <p:cNvSpPr/>
          <p:nvPr/>
        </p:nvSpPr>
        <p:spPr>
          <a:xfrm>
            <a:off x="4754880" y="2194560"/>
            <a:ext cx="3840480" cy="0"/>
          </a:xfrm>
          <a:prstGeom prst="line">
            <a:avLst/>
          </a:prstGeom>
          <a:noFill/>
          <a:ln w="9525">
            <a:solidFill>
              <a:srgbClr val="DDDDDD"/>
            </a:solidFill>
            <a:prstDash val="solid"/>
          </a:ln>
        </p:spPr>
      </p:sp>
      <p:sp>
        <p:nvSpPr>
          <p:cNvPr id="13" name="Text 10"/>
          <p:cNvSpPr txBox="1"/>
          <p:nvPr/>
        </p:nvSpPr>
        <p:spPr>
          <a:xfrm>
            <a:off x="4754880" y="2340864"/>
            <a:ext cx="457200" cy="274320"/>
          </a:xfrm>
          <a:prstGeom prst="rect">
            <a:avLst/>
          </a:prstGeom>
          <a:noFill/>
          <a:ln/>
        </p:spPr>
        <p:txBody>
          <a:bodyPr wrap="square" lIns="0" tIns="0" rIns="0" bIns="0" rtlCol="0" anchor="t"/>
          <a:lstStyle/>
          <a:p>
            <a:pPr algn="l" indent="0" marL="0">
              <a:lnSpc>
                <a:spcPct val="100000"/>
              </a:lnSpc>
              <a:buNone/>
            </a:pPr>
            <a:r>
              <a:rPr lang="en-US" sz="1200" dirty="0">
                <a:solidFill>
                  <a:srgbClr val="A3A3A3"/>
                </a:solidFill>
                <a:latin typeface="Pretendard" pitchFamily="34" charset="0"/>
                <a:ea typeface="Pretendard" pitchFamily="34" charset="-122"/>
                <a:cs typeface="Pretendard" pitchFamily="34" charset="-120"/>
              </a:rPr>
              <a:t>02</a:t>
            </a:r>
            <a:endParaRPr lang="en-US" sz="1200" dirty="0"/>
          </a:p>
        </p:txBody>
      </p:sp>
      <p:sp>
        <p:nvSpPr>
          <p:cNvPr id="14" name="Text 11"/>
          <p:cNvSpPr txBox="1"/>
          <p:nvPr/>
        </p:nvSpPr>
        <p:spPr>
          <a:xfrm>
            <a:off x="5257800" y="2304288"/>
            <a:ext cx="3337560" cy="329184"/>
          </a:xfrm>
          <a:prstGeom prst="rect">
            <a:avLst/>
          </a:prstGeom>
          <a:noFill/>
          <a:ln/>
        </p:spPr>
        <p:txBody>
          <a:bodyPr wrap="square" lIns="0" tIns="0" rIns="0" bIns="0" rtlCol="0" anchor="t"/>
          <a:lstStyle/>
          <a:p>
            <a:pPr algn="l" indent="0" marL="0">
              <a:lnSpc>
                <a:spcPct val="100000"/>
              </a:lnSpc>
              <a:buNone/>
            </a:pPr>
            <a:r>
              <a:rPr lang="en-US" sz="1700" b="1" dirty="0">
                <a:solidFill>
                  <a:srgbClr val="111111"/>
                </a:solidFill>
                <a:latin typeface="Pretendard" pitchFamily="34" charset="0"/>
                <a:ea typeface="Pretendard" pitchFamily="34" charset="-122"/>
                <a:cs typeface="Pretendard" pitchFamily="34" charset="-120"/>
              </a:rPr>
              <a:t>경로를 그린다</a:t>
            </a:r>
            <a:endParaRPr lang="en-US" sz="1700" dirty="0"/>
          </a:p>
        </p:txBody>
      </p:sp>
      <p:sp>
        <p:nvSpPr>
          <p:cNvPr id="15" name="Text 12"/>
          <p:cNvSpPr txBox="1"/>
          <p:nvPr/>
        </p:nvSpPr>
        <p:spPr>
          <a:xfrm>
            <a:off x="5257800" y="2697480"/>
            <a:ext cx="3337560" cy="274320"/>
          </a:xfrm>
          <a:prstGeom prst="rect">
            <a:avLst/>
          </a:prstGeom>
          <a:noFill/>
          <a:ln/>
        </p:spPr>
        <p:txBody>
          <a:bodyPr wrap="square" lIns="0" tIns="0" rIns="0" bIns="0" rtlCol="0" anchor="t"/>
          <a:lstStyle/>
          <a:p>
            <a:pPr algn="l" indent="0" marL="0">
              <a:lnSpc>
                <a:spcPct val="120000"/>
              </a:lnSpc>
              <a:buNone/>
            </a:pPr>
            <a:r>
              <a:rPr lang="en-US" sz="1150" dirty="0">
                <a:solidFill>
                  <a:srgbClr val="6B6B6B"/>
                </a:solidFill>
                <a:latin typeface="Pretendard" pitchFamily="34" charset="0"/>
                <a:ea typeface="Pretendard" pitchFamily="34" charset="-122"/>
                <a:cs typeface="Pretendard" pitchFamily="34" charset="-120"/>
              </a:rPr>
              <a:t>LiDAR로 찾은 탈출 방향을 영상 바닥에 표시</a:t>
            </a:r>
            <a:endParaRPr lang="en-US" sz="1150" dirty="0"/>
          </a:p>
        </p:txBody>
      </p:sp>
      <p:sp>
        <p:nvSpPr>
          <p:cNvPr id="16" name="Shape 13"/>
          <p:cNvSpPr/>
          <p:nvPr/>
        </p:nvSpPr>
        <p:spPr>
          <a:xfrm>
            <a:off x="548640" y="3291840"/>
            <a:ext cx="3840480" cy="0"/>
          </a:xfrm>
          <a:prstGeom prst="line">
            <a:avLst/>
          </a:prstGeom>
          <a:noFill/>
          <a:ln w="9525">
            <a:solidFill>
              <a:srgbClr val="DDDDDD"/>
            </a:solidFill>
            <a:prstDash val="solid"/>
          </a:ln>
        </p:spPr>
      </p:sp>
      <p:sp>
        <p:nvSpPr>
          <p:cNvPr id="17" name="Text 14"/>
          <p:cNvSpPr txBox="1"/>
          <p:nvPr/>
        </p:nvSpPr>
        <p:spPr>
          <a:xfrm>
            <a:off x="548640" y="3438144"/>
            <a:ext cx="457200" cy="274320"/>
          </a:xfrm>
          <a:prstGeom prst="rect">
            <a:avLst/>
          </a:prstGeom>
          <a:noFill/>
          <a:ln/>
        </p:spPr>
        <p:txBody>
          <a:bodyPr wrap="square" lIns="0" tIns="0" rIns="0" bIns="0" rtlCol="0" anchor="t"/>
          <a:lstStyle/>
          <a:p>
            <a:pPr algn="l" indent="0" marL="0">
              <a:lnSpc>
                <a:spcPct val="100000"/>
              </a:lnSpc>
              <a:buNone/>
            </a:pPr>
            <a:r>
              <a:rPr lang="en-US" sz="1200" dirty="0">
                <a:solidFill>
                  <a:srgbClr val="A3A3A3"/>
                </a:solidFill>
                <a:latin typeface="Pretendard" pitchFamily="34" charset="0"/>
                <a:ea typeface="Pretendard" pitchFamily="34" charset="-122"/>
                <a:cs typeface="Pretendard" pitchFamily="34" charset="-120"/>
              </a:rPr>
              <a:t>03</a:t>
            </a:r>
            <a:endParaRPr lang="en-US" sz="1200" dirty="0"/>
          </a:p>
        </p:txBody>
      </p:sp>
      <p:sp>
        <p:nvSpPr>
          <p:cNvPr id="18" name="Text 15"/>
          <p:cNvSpPr txBox="1"/>
          <p:nvPr/>
        </p:nvSpPr>
        <p:spPr>
          <a:xfrm>
            <a:off x="1051560" y="3401568"/>
            <a:ext cx="3337560" cy="329184"/>
          </a:xfrm>
          <a:prstGeom prst="rect">
            <a:avLst/>
          </a:prstGeom>
          <a:noFill/>
          <a:ln/>
        </p:spPr>
        <p:txBody>
          <a:bodyPr wrap="square" lIns="0" tIns="0" rIns="0" bIns="0" rtlCol="0" anchor="t"/>
          <a:lstStyle/>
          <a:p>
            <a:pPr algn="l" indent="0" marL="0">
              <a:lnSpc>
                <a:spcPct val="100000"/>
              </a:lnSpc>
              <a:buNone/>
            </a:pPr>
            <a:r>
              <a:rPr lang="en-US" sz="1700" b="1" dirty="0">
                <a:solidFill>
                  <a:srgbClr val="111111"/>
                </a:solidFill>
                <a:latin typeface="Pretendard" pitchFamily="34" charset="0"/>
                <a:ea typeface="Pretendard" pitchFamily="34" charset="-122"/>
                <a:cs typeface="Pretendard" pitchFamily="34" charset="-120"/>
              </a:rPr>
              <a:t>클릭 한 번에 VR</a:t>
            </a:r>
            <a:endParaRPr lang="en-US" sz="1700" dirty="0"/>
          </a:p>
        </p:txBody>
      </p:sp>
      <p:sp>
        <p:nvSpPr>
          <p:cNvPr id="19" name="Text 16"/>
          <p:cNvSpPr txBox="1"/>
          <p:nvPr/>
        </p:nvSpPr>
        <p:spPr>
          <a:xfrm>
            <a:off x="1051560" y="3794760"/>
            <a:ext cx="3337560" cy="274320"/>
          </a:xfrm>
          <a:prstGeom prst="rect">
            <a:avLst/>
          </a:prstGeom>
          <a:noFill/>
          <a:ln/>
        </p:spPr>
        <p:txBody>
          <a:bodyPr wrap="square" lIns="0" tIns="0" rIns="0" bIns="0" rtlCol="0" anchor="t"/>
          <a:lstStyle/>
          <a:p>
            <a:pPr algn="l" indent="0" marL="0">
              <a:lnSpc>
                <a:spcPct val="120000"/>
              </a:lnSpc>
              <a:buNone/>
            </a:pPr>
            <a:r>
              <a:rPr lang="en-US" sz="1150" dirty="0">
                <a:solidFill>
                  <a:srgbClr val="6B6B6B"/>
                </a:solidFill>
                <a:latin typeface="Pretendard" pitchFamily="34" charset="0"/>
                <a:ea typeface="Pretendard" pitchFamily="34" charset="-122"/>
                <a:cs typeface="Pretendard" pitchFamily="34" charset="-120"/>
              </a:rPr>
              <a:t>관제 맵에서 로봇을 누르면 그 로봇 운전석으로</a:t>
            </a:r>
            <a:endParaRPr lang="en-US" sz="1150" dirty="0"/>
          </a:p>
        </p:txBody>
      </p:sp>
      <p:sp>
        <p:nvSpPr>
          <p:cNvPr id="20" name="Shape 17"/>
          <p:cNvSpPr/>
          <p:nvPr/>
        </p:nvSpPr>
        <p:spPr>
          <a:xfrm>
            <a:off x="4754880" y="3291840"/>
            <a:ext cx="3840480" cy="0"/>
          </a:xfrm>
          <a:prstGeom prst="line">
            <a:avLst/>
          </a:prstGeom>
          <a:noFill/>
          <a:ln w="9525">
            <a:solidFill>
              <a:srgbClr val="DDDDDD"/>
            </a:solidFill>
            <a:prstDash val="solid"/>
          </a:ln>
        </p:spPr>
      </p:sp>
      <p:sp>
        <p:nvSpPr>
          <p:cNvPr id="21" name="Text 18"/>
          <p:cNvSpPr txBox="1"/>
          <p:nvPr/>
        </p:nvSpPr>
        <p:spPr>
          <a:xfrm>
            <a:off x="4754880" y="3438144"/>
            <a:ext cx="457200" cy="274320"/>
          </a:xfrm>
          <a:prstGeom prst="rect">
            <a:avLst/>
          </a:prstGeom>
          <a:noFill/>
          <a:ln/>
        </p:spPr>
        <p:txBody>
          <a:bodyPr wrap="square" lIns="0" tIns="0" rIns="0" bIns="0" rtlCol="0" anchor="t"/>
          <a:lstStyle/>
          <a:p>
            <a:pPr algn="l" indent="0" marL="0">
              <a:lnSpc>
                <a:spcPct val="100000"/>
              </a:lnSpc>
              <a:buNone/>
            </a:pPr>
            <a:r>
              <a:rPr lang="en-US" sz="1200" dirty="0">
                <a:solidFill>
                  <a:srgbClr val="A3A3A3"/>
                </a:solidFill>
                <a:latin typeface="Pretendard" pitchFamily="34" charset="0"/>
                <a:ea typeface="Pretendard" pitchFamily="34" charset="-122"/>
                <a:cs typeface="Pretendard" pitchFamily="34" charset="-120"/>
              </a:rPr>
              <a:t>04</a:t>
            </a:r>
            <a:endParaRPr lang="en-US" sz="1200" dirty="0"/>
          </a:p>
        </p:txBody>
      </p:sp>
      <p:sp>
        <p:nvSpPr>
          <p:cNvPr id="22" name="Text 19"/>
          <p:cNvSpPr txBox="1"/>
          <p:nvPr/>
        </p:nvSpPr>
        <p:spPr>
          <a:xfrm>
            <a:off x="5257800" y="3401568"/>
            <a:ext cx="3337560" cy="329184"/>
          </a:xfrm>
          <a:prstGeom prst="rect">
            <a:avLst/>
          </a:prstGeom>
          <a:noFill/>
          <a:ln/>
        </p:spPr>
        <p:txBody>
          <a:bodyPr wrap="square" lIns="0" tIns="0" rIns="0" bIns="0" rtlCol="0" anchor="t"/>
          <a:lstStyle/>
          <a:p>
            <a:pPr algn="l" indent="0" marL="0">
              <a:lnSpc>
                <a:spcPct val="100000"/>
              </a:lnSpc>
              <a:buNone/>
            </a:pPr>
            <a:r>
              <a:rPr lang="en-US" sz="1700" b="1" dirty="0">
                <a:solidFill>
                  <a:srgbClr val="111111"/>
                </a:solidFill>
                <a:latin typeface="Pretendard" pitchFamily="34" charset="0"/>
                <a:ea typeface="Pretendard" pitchFamily="34" charset="-122"/>
                <a:cs typeface="Pretendard" pitchFamily="34" charset="-120"/>
              </a:rPr>
              <a:t>2대가 각자 순찰</a:t>
            </a:r>
            <a:endParaRPr lang="en-US" sz="1700" dirty="0"/>
          </a:p>
        </p:txBody>
      </p:sp>
      <p:sp>
        <p:nvSpPr>
          <p:cNvPr id="23" name="Text 20"/>
          <p:cNvSpPr txBox="1"/>
          <p:nvPr/>
        </p:nvSpPr>
        <p:spPr>
          <a:xfrm>
            <a:off x="5257800" y="3794760"/>
            <a:ext cx="3337560" cy="274320"/>
          </a:xfrm>
          <a:prstGeom prst="rect">
            <a:avLst/>
          </a:prstGeom>
          <a:noFill/>
          <a:ln/>
        </p:spPr>
        <p:txBody>
          <a:bodyPr wrap="square" lIns="0" tIns="0" rIns="0" bIns="0" rtlCol="0" anchor="t"/>
          <a:lstStyle/>
          <a:p>
            <a:pPr algn="l" indent="0" marL="0">
              <a:lnSpc>
                <a:spcPct val="120000"/>
              </a:lnSpc>
              <a:buNone/>
            </a:pPr>
            <a:r>
              <a:rPr lang="en-US" sz="1150" dirty="0">
                <a:solidFill>
                  <a:srgbClr val="6B6B6B"/>
                </a:solidFill>
                <a:latin typeface="Pretendard" pitchFamily="34" charset="0"/>
                <a:ea typeface="Pretendard" pitchFamily="34" charset="-122"/>
                <a:cs typeface="Pretendard" pitchFamily="34" charset="-120"/>
              </a:rPr>
              <a:t>만나면 둘 다 멈추고 사람이 한 대를 비킨다</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4572000" cy="201168"/>
          </a:xfrm>
          <a:prstGeom prst="rect">
            <a:avLst/>
          </a:prstGeom>
          <a:noFill/>
          <a:ln/>
        </p:spPr>
        <p:txBody>
          <a:bodyPr wrap="square" lIns="0" tIns="0" rIns="0" bIns="0" rtlCol="0" anchor="ctr"/>
          <a:lstStyle/>
          <a:p>
            <a:pPr algn="l" indent="0" marL="0">
              <a:lnSpc>
                <a:spcPct val="100000"/>
              </a:lnSpc>
              <a:buNone/>
            </a:pPr>
            <a:r>
              <a:rPr lang="en-US" sz="900" dirty="0">
                <a:solidFill>
                  <a:srgbClr val="6B6B6B"/>
                </a:solidFill>
                <a:latin typeface="Pretendard" pitchFamily="34" charset="0"/>
                <a:ea typeface="Pretendard" pitchFamily="34" charset="-122"/>
                <a:cs typeface="Pretendard" pitchFamily="34" charset="-120"/>
              </a:rPr>
              <a:t>03  구조 — Workflow</a:t>
            </a:r>
            <a:endParaRPr lang="en-US" sz="900" dirty="0"/>
          </a:p>
        </p:txBody>
      </p:sp>
      <p:sp>
        <p:nvSpPr>
          <p:cNvPr id="3" name="Text 1"/>
          <p:cNvSpPr txBox="1"/>
          <p:nvPr/>
        </p:nvSpPr>
        <p:spPr>
          <a:xfrm>
            <a:off x="7223760" y="384048"/>
            <a:ext cx="1371600" cy="201168"/>
          </a:xfrm>
          <a:prstGeom prst="rect">
            <a:avLst/>
          </a:prstGeom>
          <a:noFill/>
          <a:ln/>
        </p:spPr>
        <p:txBody>
          <a:bodyPr wrap="square" lIns="0" tIns="0" rIns="0" bIns="0" rtlCol="0" anchor="ctr"/>
          <a:lstStyle/>
          <a:p>
            <a:pPr algn="r" indent="0" marL="0">
              <a:lnSpc>
                <a:spcPct val="100000"/>
              </a:lnSpc>
              <a:buNone/>
            </a:pPr>
            <a:r>
              <a:rPr lang="en-US" sz="900" dirty="0">
                <a:solidFill>
                  <a:srgbClr val="6B6B6B"/>
                </a:solidFill>
                <a:latin typeface="Pretendard" pitchFamily="34" charset="0"/>
                <a:ea typeface="Pretendard" pitchFamily="34" charset="-122"/>
                <a:cs typeface="Pretendard" pitchFamily="34" charset="-120"/>
              </a:rPr>
              <a:t>0:30</a:t>
            </a:r>
            <a:endParaRPr lang="en-US" sz="900" dirty="0"/>
          </a:p>
        </p:txBody>
      </p:sp>
      <p:sp>
        <p:nvSpPr>
          <p:cNvPr id="4" name="Text 2"/>
          <p:cNvSpPr txBox="1"/>
          <p:nvPr/>
        </p:nvSpPr>
        <p:spPr>
          <a:xfrm>
            <a:off x="8138160" y="4732020"/>
            <a:ext cx="457200" cy="182880"/>
          </a:xfrm>
          <a:prstGeom prst="rect">
            <a:avLst/>
          </a:prstGeom>
          <a:noFill/>
          <a:ln/>
        </p:spPr>
        <p:txBody>
          <a:bodyPr wrap="square" lIns="0" tIns="0" rIns="0" bIns="0" rtlCol="0" anchor="t"/>
          <a:lstStyle/>
          <a:p>
            <a:pPr algn="r" indent="0" marL="0">
              <a:lnSpc>
                <a:spcPct val="100000"/>
              </a:lnSpc>
              <a:buNone/>
            </a:pPr>
            <a:r>
              <a:rPr lang="en-US" sz="800" dirty="0">
                <a:solidFill>
                  <a:srgbClr val="A3A3A3"/>
                </a:solidFill>
                <a:latin typeface="Pretendard" pitchFamily="34" charset="0"/>
                <a:ea typeface="Pretendard" pitchFamily="34" charset="-122"/>
                <a:cs typeface="Pretendard" pitchFamily="34" charset="-120"/>
              </a:rPr>
              <a:t>04</a:t>
            </a:r>
            <a:endParaRPr lang="en-US" sz="800" dirty="0"/>
          </a:p>
        </p:txBody>
      </p:sp>
      <p:sp>
        <p:nvSpPr>
          <p:cNvPr id="6" name="Text 3"/>
          <p:cNvSpPr txBox="1"/>
          <p:nvPr/>
        </p:nvSpPr>
        <p:spPr>
          <a:xfrm>
            <a:off x="548640" y="822960"/>
            <a:ext cx="8046720" cy="1097280"/>
          </a:xfrm>
          <a:prstGeom prst="rect">
            <a:avLst/>
          </a:prstGeom>
          <a:noFill/>
          <a:ln/>
        </p:spPr>
        <p:txBody>
          <a:bodyPr wrap="square" lIns="0" tIns="0" rIns="0" bIns="0" rtlCol="0" anchor="t"/>
          <a:lstStyle/>
          <a:p>
            <a:pPr algn="l" indent="0" marL="0">
              <a:lnSpc>
                <a:spcPct val="115000"/>
              </a:lnSpc>
              <a:buNone/>
            </a:pPr>
            <a:r>
              <a:rPr lang="en-US" sz="3000" b="1" spc="-100" kern="0" dirty="0">
                <a:solidFill>
                  <a:srgbClr val="111111"/>
                </a:solidFill>
                <a:latin typeface="Pretendard" pitchFamily="34" charset="0"/>
                <a:ea typeface="Pretendard" pitchFamily="34" charset="-122"/>
                <a:cs typeface="Pretendard" pitchFamily="34" charset="-120"/>
              </a:rPr>
              <a:t>여섯 단계. 넷은 로봇이, 둘은 사람이.</a:t>
            </a:r>
            <a:endParaRPr lang="en-US" sz="3000" dirty="0"/>
          </a:p>
        </p:txBody>
      </p:sp>
      <p:sp>
        <p:nvSpPr>
          <p:cNvPr id="7" name="Shape 4"/>
          <p:cNvSpPr/>
          <p:nvPr/>
        </p:nvSpPr>
        <p:spPr>
          <a:xfrm>
            <a:off x="5913120" y="2221992"/>
            <a:ext cx="2682240" cy="1371600"/>
          </a:xfrm>
          <a:prstGeom prst="rect">
            <a:avLst/>
          </a:prstGeom>
          <a:solidFill>
            <a:srgbClr val="F5B800"/>
          </a:solidFill>
          <a:ln w="12700">
            <a:solidFill>
              <a:srgbClr val="F5B800"/>
            </a:solidFill>
            <a:prstDash val="solid"/>
          </a:ln>
        </p:spPr>
      </p:sp>
      <p:sp>
        <p:nvSpPr>
          <p:cNvPr id="8" name="Text 5"/>
          <p:cNvSpPr txBox="1"/>
          <p:nvPr/>
        </p:nvSpPr>
        <p:spPr>
          <a:xfrm>
            <a:off x="685800" y="2331720"/>
            <a:ext cx="1066800" cy="548640"/>
          </a:xfrm>
          <a:prstGeom prst="rect">
            <a:avLst/>
          </a:prstGeom>
          <a:noFill/>
          <a:ln/>
        </p:spPr>
        <p:txBody>
          <a:bodyPr wrap="square" lIns="0" tIns="0" rIns="0" bIns="0" rtlCol="0" anchor="t"/>
          <a:lstStyle/>
          <a:p>
            <a:pPr algn="l" indent="0" marL="0">
              <a:lnSpc>
                <a:spcPct val="100000"/>
              </a:lnSpc>
              <a:buNone/>
            </a:pPr>
            <a:r>
              <a:rPr lang="en-US" sz="3400" b="1" spc="-100" kern="0" dirty="0">
                <a:solidFill>
                  <a:srgbClr val="111111"/>
                </a:solidFill>
                <a:latin typeface="Pretendard" pitchFamily="34" charset="0"/>
                <a:ea typeface="Pretendard" pitchFamily="34" charset="-122"/>
                <a:cs typeface="Pretendard" pitchFamily="34" charset="-120"/>
              </a:rPr>
              <a:t>1</a:t>
            </a:r>
            <a:endParaRPr lang="en-US" sz="3400" dirty="0"/>
          </a:p>
        </p:txBody>
      </p:sp>
      <p:sp>
        <p:nvSpPr>
          <p:cNvPr id="9" name="Text 6"/>
          <p:cNvSpPr txBox="1"/>
          <p:nvPr/>
        </p:nvSpPr>
        <p:spPr>
          <a:xfrm>
            <a:off x="685800" y="3017520"/>
            <a:ext cx="1066800" cy="320040"/>
          </a:xfrm>
          <a:prstGeom prst="rect">
            <a:avLst/>
          </a:prstGeom>
          <a:noFill/>
          <a:ln/>
        </p:spPr>
        <p:txBody>
          <a:bodyPr wrap="square" lIns="0" tIns="0" rIns="0" bIns="0" rtlCol="0" anchor="t"/>
          <a:lstStyle/>
          <a:p>
            <a:pPr algn="l" indent="0" marL="0">
              <a:lnSpc>
                <a:spcPct val="100000"/>
              </a:lnSpc>
              <a:buNone/>
            </a:pPr>
            <a:r>
              <a:rPr lang="en-US" sz="1500" dirty="0">
                <a:solidFill>
                  <a:srgbClr val="111111"/>
                </a:solidFill>
                <a:latin typeface="Pretendard" pitchFamily="34" charset="0"/>
                <a:ea typeface="Pretendard" pitchFamily="34" charset="-122"/>
                <a:cs typeface="Pretendard" pitchFamily="34" charset="-120"/>
              </a:rPr>
              <a:t>순찰</a:t>
            </a:r>
            <a:endParaRPr lang="en-US" sz="1500" dirty="0"/>
          </a:p>
        </p:txBody>
      </p:sp>
      <p:sp>
        <p:nvSpPr>
          <p:cNvPr id="10" name="Text 7"/>
          <p:cNvSpPr txBox="1"/>
          <p:nvPr/>
        </p:nvSpPr>
        <p:spPr>
          <a:xfrm>
            <a:off x="2026920" y="2331720"/>
            <a:ext cx="1066800" cy="548640"/>
          </a:xfrm>
          <a:prstGeom prst="rect">
            <a:avLst/>
          </a:prstGeom>
          <a:noFill/>
          <a:ln/>
        </p:spPr>
        <p:txBody>
          <a:bodyPr wrap="square" lIns="0" tIns="0" rIns="0" bIns="0" rtlCol="0" anchor="t"/>
          <a:lstStyle/>
          <a:p>
            <a:pPr algn="l" indent="0" marL="0">
              <a:lnSpc>
                <a:spcPct val="100000"/>
              </a:lnSpc>
              <a:buNone/>
            </a:pPr>
            <a:r>
              <a:rPr lang="en-US" sz="3400" b="1" spc="-100" kern="0" dirty="0">
                <a:solidFill>
                  <a:srgbClr val="111111"/>
                </a:solidFill>
                <a:latin typeface="Pretendard" pitchFamily="34" charset="0"/>
                <a:ea typeface="Pretendard" pitchFamily="34" charset="-122"/>
                <a:cs typeface="Pretendard" pitchFamily="34" charset="-120"/>
              </a:rPr>
              <a:t>2</a:t>
            </a:r>
            <a:endParaRPr lang="en-US" sz="3400" dirty="0"/>
          </a:p>
        </p:txBody>
      </p:sp>
      <p:sp>
        <p:nvSpPr>
          <p:cNvPr id="11" name="Text 8"/>
          <p:cNvSpPr txBox="1"/>
          <p:nvPr/>
        </p:nvSpPr>
        <p:spPr>
          <a:xfrm>
            <a:off x="2026920" y="3017520"/>
            <a:ext cx="1066800" cy="320040"/>
          </a:xfrm>
          <a:prstGeom prst="rect">
            <a:avLst/>
          </a:prstGeom>
          <a:noFill/>
          <a:ln/>
        </p:spPr>
        <p:txBody>
          <a:bodyPr wrap="square" lIns="0" tIns="0" rIns="0" bIns="0" rtlCol="0" anchor="t"/>
          <a:lstStyle/>
          <a:p>
            <a:pPr algn="l" indent="0" marL="0">
              <a:lnSpc>
                <a:spcPct val="100000"/>
              </a:lnSpc>
              <a:buNone/>
            </a:pPr>
            <a:r>
              <a:rPr lang="en-US" sz="1500" dirty="0">
                <a:solidFill>
                  <a:srgbClr val="111111"/>
                </a:solidFill>
                <a:latin typeface="Pretendard" pitchFamily="34" charset="0"/>
                <a:ea typeface="Pretendard" pitchFamily="34" charset="-122"/>
                <a:cs typeface="Pretendard" pitchFamily="34" charset="-120"/>
              </a:rPr>
              <a:t>감지</a:t>
            </a:r>
            <a:endParaRPr lang="en-US" sz="1500" dirty="0"/>
          </a:p>
        </p:txBody>
      </p:sp>
      <p:sp>
        <p:nvSpPr>
          <p:cNvPr id="12" name="Text 9"/>
          <p:cNvSpPr txBox="1"/>
          <p:nvPr/>
        </p:nvSpPr>
        <p:spPr>
          <a:xfrm>
            <a:off x="3368040" y="2331720"/>
            <a:ext cx="1066800" cy="548640"/>
          </a:xfrm>
          <a:prstGeom prst="rect">
            <a:avLst/>
          </a:prstGeom>
          <a:noFill/>
          <a:ln/>
        </p:spPr>
        <p:txBody>
          <a:bodyPr wrap="square" lIns="0" tIns="0" rIns="0" bIns="0" rtlCol="0" anchor="t"/>
          <a:lstStyle/>
          <a:p>
            <a:pPr algn="l" indent="0" marL="0">
              <a:lnSpc>
                <a:spcPct val="100000"/>
              </a:lnSpc>
              <a:buNone/>
            </a:pPr>
            <a:r>
              <a:rPr lang="en-US" sz="3400" b="1" spc="-100" kern="0" dirty="0">
                <a:solidFill>
                  <a:srgbClr val="111111"/>
                </a:solidFill>
                <a:latin typeface="Pretendard" pitchFamily="34" charset="0"/>
                <a:ea typeface="Pretendard" pitchFamily="34" charset="-122"/>
                <a:cs typeface="Pretendard" pitchFamily="34" charset="-120"/>
              </a:rPr>
              <a:t>3</a:t>
            </a:r>
            <a:endParaRPr lang="en-US" sz="3400" dirty="0"/>
          </a:p>
        </p:txBody>
      </p:sp>
      <p:sp>
        <p:nvSpPr>
          <p:cNvPr id="13" name="Text 10"/>
          <p:cNvSpPr txBox="1"/>
          <p:nvPr/>
        </p:nvSpPr>
        <p:spPr>
          <a:xfrm>
            <a:off x="3368040" y="3017520"/>
            <a:ext cx="1066800" cy="320040"/>
          </a:xfrm>
          <a:prstGeom prst="rect">
            <a:avLst/>
          </a:prstGeom>
          <a:noFill/>
          <a:ln/>
        </p:spPr>
        <p:txBody>
          <a:bodyPr wrap="square" lIns="0" tIns="0" rIns="0" bIns="0" rtlCol="0" anchor="t"/>
          <a:lstStyle/>
          <a:p>
            <a:pPr algn="l" indent="0" marL="0">
              <a:lnSpc>
                <a:spcPct val="100000"/>
              </a:lnSpc>
              <a:buNone/>
            </a:pPr>
            <a:r>
              <a:rPr lang="en-US" sz="1500" dirty="0">
                <a:solidFill>
                  <a:srgbClr val="111111"/>
                </a:solidFill>
                <a:latin typeface="Pretendard" pitchFamily="34" charset="0"/>
                <a:ea typeface="Pretendard" pitchFamily="34" charset="-122"/>
                <a:cs typeface="Pretendard" pitchFamily="34" charset="-120"/>
              </a:rPr>
              <a:t>정지</a:t>
            </a:r>
            <a:endParaRPr lang="en-US" sz="1500" dirty="0"/>
          </a:p>
        </p:txBody>
      </p:sp>
      <p:sp>
        <p:nvSpPr>
          <p:cNvPr id="14" name="Text 11"/>
          <p:cNvSpPr txBox="1"/>
          <p:nvPr/>
        </p:nvSpPr>
        <p:spPr>
          <a:xfrm>
            <a:off x="4709160" y="2331720"/>
            <a:ext cx="1066800" cy="548640"/>
          </a:xfrm>
          <a:prstGeom prst="rect">
            <a:avLst/>
          </a:prstGeom>
          <a:noFill/>
          <a:ln/>
        </p:spPr>
        <p:txBody>
          <a:bodyPr wrap="square" lIns="0" tIns="0" rIns="0" bIns="0" rtlCol="0" anchor="t"/>
          <a:lstStyle/>
          <a:p>
            <a:pPr algn="l" indent="0" marL="0">
              <a:lnSpc>
                <a:spcPct val="100000"/>
              </a:lnSpc>
              <a:buNone/>
            </a:pPr>
            <a:r>
              <a:rPr lang="en-US" sz="3400" b="1" spc="-100" kern="0" dirty="0">
                <a:solidFill>
                  <a:srgbClr val="111111"/>
                </a:solidFill>
                <a:latin typeface="Pretendard" pitchFamily="34" charset="0"/>
                <a:ea typeface="Pretendard" pitchFamily="34" charset="-122"/>
                <a:cs typeface="Pretendard" pitchFamily="34" charset="-120"/>
              </a:rPr>
              <a:t>4</a:t>
            </a:r>
            <a:endParaRPr lang="en-US" sz="3400" dirty="0"/>
          </a:p>
        </p:txBody>
      </p:sp>
      <p:sp>
        <p:nvSpPr>
          <p:cNvPr id="15" name="Text 12"/>
          <p:cNvSpPr txBox="1"/>
          <p:nvPr/>
        </p:nvSpPr>
        <p:spPr>
          <a:xfrm>
            <a:off x="4709160" y="3017520"/>
            <a:ext cx="1066800" cy="320040"/>
          </a:xfrm>
          <a:prstGeom prst="rect">
            <a:avLst/>
          </a:prstGeom>
          <a:noFill/>
          <a:ln/>
        </p:spPr>
        <p:txBody>
          <a:bodyPr wrap="square" lIns="0" tIns="0" rIns="0" bIns="0" rtlCol="0" anchor="t"/>
          <a:lstStyle/>
          <a:p>
            <a:pPr algn="l" indent="0" marL="0">
              <a:lnSpc>
                <a:spcPct val="100000"/>
              </a:lnSpc>
              <a:buNone/>
            </a:pPr>
            <a:r>
              <a:rPr lang="en-US" sz="1500" dirty="0">
                <a:solidFill>
                  <a:srgbClr val="111111"/>
                </a:solidFill>
                <a:latin typeface="Pretendard" pitchFamily="34" charset="0"/>
                <a:ea typeface="Pretendard" pitchFamily="34" charset="-122"/>
                <a:cs typeface="Pretendard" pitchFamily="34" charset="-120"/>
              </a:rPr>
              <a:t>경로</a:t>
            </a:r>
            <a:endParaRPr lang="en-US" sz="1500" dirty="0"/>
          </a:p>
        </p:txBody>
      </p:sp>
      <p:sp>
        <p:nvSpPr>
          <p:cNvPr id="16" name="Text 13"/>
          <p:cNvSpPr txBox="1"/>
          <p:nvPr/>
        </p:nvSpPr>
        <p:spPr>
          <a:xfrm>
            <a:off x="6050280" y="2331720"/>
            <a:ext cx="1066800" cy="548640"/>
          </a:xfrm>
          <a:prstGeom prst="rect">
            <a:avLst/>
          </a:prstGeom>
          <a:noFill/>
          <a:ln/>
        </p:spPr>
        <p:txBody>
          <a:bodyPr wrap="square" lIns="0" tIns="0" rIns="0" bIns="0" rtlCol="0" anchor="t"/>
          <a:lstStyle/>
          <a:p>
            <a:pPr algn="l" indent="0" marL="0">
              <a:lnSpc>
                <a:spcPct val="100000"/>
              </a:lnSpc>
              <a:buNone/>
            </a:pPr>
            <a:r>
              <a:rPr lang="en-US" sz="3400" b="1" spc="-100" kern="0" dirty="0">
                <a:solidFill>
                  <a:srgbClr val="111111"/>
                </a:solidFill>
                <a:latin typeface="Pretendard" pitchFamily="34" charset="0"/>
                <a:ea typeface="Pretendard" pitchFamily="34" charset="-122"/>
                <a:cs typeface="Pretendard" pitchFamily="34" charset="-120"/>
              </a:rPr>
              <a:t>5</a:t>
            </a:r>
            <a:endParaRPr lang="en-US" sz="3400" dirty="0"/>
          </a:p>
        </p:txBody>
      </p:sp>
      <p:sp>
        <p:nvSpPr>
          <p:cNvPr id="17" name="Text 14"/>
          <p:cNvSpPr txBox="1"/>
          <p:nvPr/>
        </p:nvSpPr>
        <p:spPr>
          <a:xfrm>
            <a:off x="6050280" y="3017520"/>
            <a:ext cx="1066800" cy="320040"/>
          </a:xfrm>
          <a:prstGeom prst="rect">
            <a:avLst/>
          </a:prstGeom>
          <a:noFill/>
          <a:ln/>
        </p:spPr>
        <p:txBody>
          <a:bodyPr wrap="square" lIns="0" tIns="0" rIns="0" bIns="0" rtlCol="0" anchor="t"/>
          <a:lstStyle/>
          <a:p>
            <a:pPr algn="l" indent="0" marL="0">
              <a:lnSpc>
                <a:spcPct val="100000"/>
              </a:lnSpc>
              <a:buNone/>
            </a:pPr>
            <a:r>
              <a:rPr lang="en-US" sz="1500" b="1" dirty="0">
                <a:solidFill>
                  <a:srgbClr val="111111"/>
                </a:solidFill>
                <a:latin typeface="Pretendard" pitchFamily="34" charset="0"/>
                <a:ea typeface="Pretendard" pitchFamily="34" charset="-122"/>
                <a:cs typeface="Pretendard" pitchFamily="34" charset="-120"/>
              </a:rPr>
              <a:t>VR 개입</a:t>
            </a:r>
            <a:endParaRPr lang="en-US" sz="1500" dirty="0"/>
          </a:p>
        </p:txBody>
      </p:sp>
      <p:sp>
        <p:nvSpPr>
          <p:cNvPr id="18" name="Text 15"/>
          <p:cNvSpPr txBox="1"/>
          <p:nvPr/>
        </p:nvSpPr>
        <p:spPr>
          <a:xfrm>
            <a:off x="7391400" y="2331720"/>
            <a:ext cx="1066800" cy="548640"/>
          </a:xfrm>
          <a:prstGeom prst="rect">
            <a:avLst/>
          </a:prstGeom>
          <a:noFill/>
          <a:ln/>
        </p:spPr>
        <p:txBody>
          <a:bodyPr wrap="square" lIns="0" tIns="0" rIns="0" bIns="0" rtlCol="0" anchor="t"/>
          <a:lstStyle/>
          <a:p>
            <a:pPr algn="l" indent="0" marL="0">
              <a:lnSpc>
                <a:spcPct val="100000"/>
              </a:lnSpc>
              <a:buNone/>
            </a:pPr>
            <a:r>
              <a:rPr lang="en-US" sz="3400" b="1" spc="-100" kern="0" dirty="0">
                <a:solidFill>
                  <a:srgbClr val="111111"/>
                </a:solidFill>
                <a:latin typeface="Pretendard" pitchFamily="34" charset="0"/>
                <a:ea typeface="Pretendard" pitchFamily="34" charset="-122"/>
                <a:cs typeface="Pretendard" pitchFamily="34" charset="-120"/>
              </a:rPr>
              <a:t>6</a:t>
            </a:r>
            <a:endParaRPr lang="en-US" sz="3400" dirty="0"/>
          </a:p>
        </p:txBody>
      </p:sp>
      <p:sp>
        <p:nvSpPr>
          <p:cNvPr id="19" name="Text 16"/>
          <p:cNvSpPr txBox="1"/>
          <p:nvPr/>
        </p:nvSpPr>
        <p:spPr>
          <a:xfrm>
            <a:off x="7391400" y="3017520"/>
            <a:ext cx="1066800" cy="320040"/>
          </a:xfrm>
          <a:prstGeom prst="rect">
            <a:avLst/>
          </a:prstGeom>
          <a:noFill/>
          <a:ln/>
        </p:spPr>
        <p:txBody>
          <a:bodyPr wrap="square" lIns="0" tIns="0" rIns="0" bIns="0" rtlCol="0" anchor="t"/>
          <a:lstStyle/>
          <a:p>
            <a:pPr algn="l" indent="0" marL="0">
              <a:lnSpc>
                <a:spcPct val="100000"/>
              </a:lnSpc>
              <a:buNone/>
            </a:pPr>
            <a:r>
              <a:rPr lang="en-US" sz="1500" b="1" dirty="0">
                <a:solidFill>
                  <a:srgbClr val="111111"/>
                </a:solidFill>
                <a:latin typeface="Pretendard" pitchFamily="34" charset="0"/>
                <a:ea typeface="Pretendard" pitchFamily="34" charset="-122"/>
                <a:cs typeface="Pretendard" pitchFamily="34" charset="-120"/>
              </a:rPr>
              <a:t>재개</a:t>
            </a:r>
            <a:endParaRPr lang="en-US" sz="1500" dirty="0"/>
          </a:p>
        </p:txBody>
      </p:sp>
      <p:sp>
        <p:nvSpPr>
          <p:cNvPr id="20" name="Shape 17"/>
          <p:cNvSpPr/>
          <p:nvPr/>
        </p:nvSpPr>
        <p:spPr>
          <a:xfrm>
            <a:off x="548640" y="3749040"/>
            <a:ext cx="8046720" cy="0"/>
          </a:xfrm>
          <a:prstGeom prst="line">
            <a:avLst/>
          </a:prstGeom>
          <a:noFill/>
          <a:ln w="19050">
            <a:solidFill>
              <a:srgbClr val="111111"/>
            </a:solidFill>
            <a:prstDash val="solid"/>
          </a:ln>
        </p:spPr>
      </p:sp>
      <p:sp>
        <p:nvSpPr>
          <p:cNvPr id="21" name="Text 18"/>
          <p:cNvSpPr txBox="1"/>
          <p:nvPr/>
        </p:nvSpPr>
        <p:spPr>
          <a:xfrm>
            <a:off x="685800" y="3840480"/>
            <a:ext cx="1828800" cy="228600"/>
          </a:xfrm>
          <a:prstGeom prst="rect">
            <a:avLst/>
          </a:prstGeom>
          <a:noFill/>
          <a:ln/>
        </p:spPr>
        <p:txBody>
          <a:bodyPr wrap="square" lIns="0" tIns="0" rIns="0" bIns="0" rtlCol="0" anchor="t"/>
          <a:lstStyle/>
          <a:p>
            <a:pPr algn="l" indent="0" marL="0">
              <a:lnSpc>
                <a:spcPct val="100000"/>
              </a:lnSpc>
              <a:buNone/>
            </a:pPr>
            <a:r>
              <a:rPr lang="en-US" sz="1000" dirty="0">
                <a:solidFill>
                  <a:srgbClr val="6B6B6B"/>
                </a:solidFill>
                <a:latin typeface="Pretendard" pitchFamily="34" charset="0"/>
                <a:ea typeface="Pretendard" pitchFamily="34" charset="-122"/>
                <a:cs typeface="Pretendard" pitchFamily="34" charset="-120"/>
              </a:rPr>
              <a:t>로봇</a:t>
            </a:r>
            <a:endParaRPr lang="en-US" sz="1000" dirty="0"/>
          </a:p>
        </p:txBody>
      </p:sp>
      <p:sp>
        <p:nvSpPr>
          <p:cNvPr id="22" name="Text 19"/>
          <p:cNvSpPr txBox="1"/>
          <p:nvPr/>
        </p:nvSpPr>
        <p:spPr>
          <a:xfrm>
            <a:off x="6050280" y="3840480"/>
            <a:ext cx="1828800" cy="228600"/>
          </a:xfrm>
          <a:prstGeom prst="rect">
            <a:avLst/>
          </a:prstGeom>
          <a:noFill/>
          <a:ln/>
        </p:spPr>
        <p:txBody>
          <a:bodyPr wrap="square" lIns="0" tIns="0" rIns="0" bIns="0" rtlCol="0" anchor="t"/>
          <a:lstStyle/>
          <a:p>
            <a:pPr algn="l" indent="0" marL="0">
              <a:lnSpc>
                <a:spcPct val="100000"/>
              </a:lnSpc>
              <a:buNone/>
            </a:pPr>
            <a:r>
              <a:rPr lang="en-US" sz="1000" dirty="0">
                <a:solidFill>
                  <a:srgbClr val="6B6B6B"/>
                </a:solidFill>
                <a:latin typeface="Pretendard" pitchFamily="34" charset="0"/>
                <a:ea typeface="Pretendard" pitchFamily="34" charset="-122"/>
                <a:cs typeface="Pretendard" pitchFamily="34" charset="-120"/>
              </a:rPr>
              <a:t>사람</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4572000" cy="201168"/>
          </a:xfrm>
          <a:prstGeom prst="rect">
            <a:avLst/>
          </a:prstGeom>
          <a:noFill/>
          <a:ln/>
        </p:spPr>
        <p:txBody>
          <a:bodyPr wrap="square" lIns="0" tIns="0" rIns="0" bIns="0" rtlCol="0" anchor="ctr"/>
          <a:lstStyle/>
          <a:p>
            <a:pPr algn="l" indent="0" marL="0">
              <a:lnSpc>
                <a:spcPct val="100000"/>
              </a:lnSpc>
              <a:buNone/>
            </a:pPr>
            <a:r>
              <a:rPr lang="en-US" sz="900" dirty="0">
                <a:solidFill>
                  <a:srgbClr val="6B6B6B"/>
                </a:solidFill>
                <a:latin typeface="Pretendard" pitchFamily="34" charset="0"/>
                <a:ea typeface="Pretendard" pitchFamily="34" charset="-122"/>
                <a:cs typeface="Pretendard" pitchFamily="34" charset="-120"/>
              </a:rPr>
              <a:t>03  구조 — AI · Tool · Data · Memory</a:t>
            </a:r>
            <a:endParaRPr lang="en-US" sz="900" dirty="0"/>
          </a:p>
        </p:txBody>
      </p:sp>
      <p:sp>
        <p:nvSpPr>
          <p:cNvPr id="3" name="Text 1"/>
          <p:cNvSpPr txBox="1"/>
          <p:nvPr/>
        </p:nvSpPr>
        <p:spPr>
          <a:xfrm>
            <a:off x="7223760" y="384048"/>
            <a:ext cx="1371600" cy="201168"/>
          </a:xfrm>
          <a:prstGeom prst="rect">
            <a:avLst/>
          </a:prstGeom>
          <a:noFill/>
          <a:ln/>
        </p:spPr>
        <p:txBody>
          <a:bodyPr wrap="square" lIns="0" tIns="0" rIns="0" bIns="0" rtlCol="0" anchor="ctr"/>
          <a:lstStyle/>
          <a:p>
            <a:pPr algn="r" indent="0" marL="0">
              <a:lnSpc>
                <a:spcPct val="100000"/>
              </a:lnSpc>
              <a:buNone/>
            </a:pPr>
            <a:r>
              <a:rPr lang="en-US" sz="900" dirty="0">
                <a:solidFill>
                  <a:srgbClr val="6B6B6B"/>
                </a:solidFill>
                <a:latin typeface="Pretendard" pitchFamily="34" charset="0"/>
                <a:ea typeface="Pretendard" pitchFamily="34" charset="-122"/>
                <a:cs typeface="Pretendard" pitchFamily="34" charset="-120"/>
              </a:rPr>
              <a:t>0:30</a:t>
            </a:r>
            <a:endParaRPr lang="en-US" sz="900" dirty="0"/>
          </a:p>
        </p:txBody>
      </p:sp>
      <p:sp>
        <p:nvSpPr>
          <p:cNvPr id="4" name="Text 2"/>
          <p:cNvSpPr txBox="1"/>
          <p:nvPr/>
        </p:nvSpPr>
        <p:spPr>
          <a:xfrm>
            <a:off x="8138160" y="4732020"/>
            <a:ext cx="457200" cy="182880"/>
          </a:xfrm>
          <a:prstGeom prst="rect">
            <a:avLst/>
          </a:prstGeom>
          <a:noFill/>
          <a:ln/>
        </p:spPr>
        <p:txBody>
          <a:bodyPr wrap="square" lIns="0" tIns="0" rIns="0" bIns="0" rtlCol="0" anchor="t"/>
          <a:lstStyle/>
          <a:p>
            <a:pPr algn="r" indent="0" marL="0">
              <a:lnSpc>
                <a:spcPct val="100000"/>
              </a:lnSpc>
              <a:buNone/>
            </a:pPr>
            <a:r>
              <a:rPr lang="en-US" sz="800" dirty="0">
                <a:solidFill>
                  <a:srgbClr val="A3A3A3"/>
                </a:solidFill>
                <a:latin typeface="Pretendard" pitchFamily="34" charset="0"/>
                <a:ea typeface="Pretendard" pitchFamily="34" charset="-122"/>
                <a:cs typeface="Pretendard" pitchFamily="34" charset="-120"/>
              </a:rPr>
              <a:t>05</a:t>
            </a:r>
            <a:endParaRPr lang="en-US" sz="800" dirty="0"/>
          </a:p>
        </p:txBody>
      </p:sp>
      <p:sp>
        <p:nvSpPr>
          <p:cNvPr id="6" name="Text 3"/>
          <p:cNvSpPr txBox="1"/>
          <p:nvPr/>
        </p:nvSpPr>
        <p:spPr>
          <a:xfrm>
            <a:off x="548640" y="822960"/>
            <a:ext cx="8046720" cy="1097280"/>
          </a:xfrm>
          <a:prstGeom prst="rect">
            <a:avLst/>
          </a:prstGeom>
          <a:noFill/>
          <a:ln/>
        </p:spPr>
        <p:txBody>
          <a:bodyPr wrap="square" lIns="0" tIns="0" rIns="0" bIns="0" rtlCol="0" anchor="t"/>
          <a:lstStyle/>
          <a:p>
            <a:pPr algn="l" indent="0" marL="0">
              <a:lnSpc>
                <a:spcPct val="115000"/>
              </a:lnSpc>
              <a:buNone/>
            </a:pPr>
            <a:r>
              <a:rPr lang="en-US" sz="3000" b="1" spc="-100" kern="0" dirty="0">
                <a:solidFill>
                  <a:srgbClr val="111111"/>
                </a:solidFill>
                <a:latin typeface="Pretendard" pitchFamily="34" charset="0"/>
                <a:ea typeface="Pretendard" pitchFamily="34" charset="-122"/>
                <a:cs typeface="Pretendard" pitchFamily="34" charset="-120"/>
              </a:rPr>
              <a:t>LLM 없이, LiDAR 기하로 판단한다.</a:t>
            </a:r>
            <a:endParaRPr lang="en-US" sz="3000" dirty="0"/>
          </a:p>
        </p:txBody>
      </p:sp>
      <p:sp>
        <p:nvSpPr>
          <p:cNvPr id="7" name="Shape 4"/>
          <p:cNvSpPr/>
          <p:nvPr/>
        </p:nvSpPr>
        <p:spPr>
          <a:xfrm>
            <a:off x="548640" y="2011680"/>
            <a:ext cx="8046720" cy="0"/>
          </a:xfrm>
          <a:prstGeom prst="line">
            <a:avLst/>
          </a:prstGeom>
          <a:noFill/>
          <a:ln w="9525">
            <a:solidFill>
              <a:srgbClr val="DDDDDD"/>
            </a:solidFill>
            <a:prstDash val="solid"/>
          </a:ln>
        </p:spPr>
      </p:sp>
      <p:sp>
        <p:nvSpPr>
          <p:cNvPr id="8" name="Text 5"/>
          <p:cNvSpPr txBox="1"/>
          <p:nvPr/>
        </p:nvSpPr>
        <p:spPr>
          <a:xfrm>
            <a:off x="548640" y="2157984"/>
            <a:ext cx="1463040" cy="365760"/>
          </a:xfrm>
          <a:prstGeom prst="rect">
            <a:avLst/>
          </a:prstGeom>
          <a:noFill/>
          <a:ln/>
        </p:spPr>
        <p:txBody>
          <a:bodyPr wrap="square" lIns="0" tIns="0" rIns="0" bIns="0" rtlCol="0" anchor="t"/>
          <a:lstStyle/>
          <a:p>
            <a:pPr algn="l" indent="0" marL="0">
              <a:lnSpc>
                <a:spcPct val="100000"/>
              </a:lnSpc>
              <a:buNone/>
            </a:pPr>
            <a:r>
              <a:rPr lang="en-US" sz="1700" b="1" dirty="0">
                <a:solidFill>
                  <a:srgbClr val="111111"/>
                </a:solidFill>
                <a:latin typeface="Pretendard" pitchFamily="34" charset="0"/>
                <a:ea typeface="Pretendard" pitchFamily="34" charset="-122"/>
                <a:cs typeface="Pretendard" pitchFamily="34" charset="-120"/>
              </a:rPr>
              <a:t>AI</a:t>
            </a:r>
            <a:endParaRPr lang="en-US" sz="1700" dirty="0"/>
          </a:p>
        </p:txBody>
      </p:sp>
      <p:sp>
        <p:nvSpPr>
          <p:cNvPr id="9" name="Text 6"/>
          <p:cNvSpPr txBox="1"/>
          <p:nvPr/>
        </p:nvSpPr>
        <p:spPr>
          <a:xfrm>
            <a:off x="2194560" y="2176272"/>
            <a:ext cx="6400800" cy="365760"/>
          </a:xfrm>
          <a:prstGeom prst="rect">
            <a:avLst/>
          </a:prstGeom>
          <a:noFill/>
          <a:ln/>
        </p:spPr>
        <p:txBody>
          <a:bodyPr wrap="square" lIns="0" tIns="0" rIns="0" bIns="0" rtlCol="0" anchor="t"/>
          <a:lstStyle/>
          <a:p>
            <a:pPr algn="l" indent="0" marL="0">
              <a:lnSpc>
                <a:spcPct val="100000"/>
              </a:lnSpc>
              <a:buNone/>
            </a:pPr>
            <a:r>
              <a:rPr lang="en-US" sz="1350" dirty="0">
                <a:solidFill>
                  <a:srgbClr val="6B6B6B"/>
                </a:solidFill>
                <a:latin typeface="Pretendard" pitchFamily="34" charset="0"/>
                <a:ea typeface="Pretendard" pitchFamily="34" charset="-122"/>
                <a:cs typeface="Pretendard" pitchFamily="34" charset="-120"/>
              </a:rPr>
              <a:t>LiDAR 72방향 여유 공간 계산 → 가장 넓고 덜 도는 방향</a:t>
            </a:r>
            <a:endParaRPr lang="en-US" sz="1350" dirty="0"/>
          </a:p>
        </p:txBody>
      </p:sp>
      <p:sp>
        <p:nvSpPr>
          <p:cNvPr id="10" name="Shape 7"/>
          <p:cNvSpPr/>
          <p:nvPr/>
        </p:nvSpPr>
        <p:spPr>
          <a:xfrm>
            <a:off x="548640" y="2633472"/>
            <a:ext cx="8046720" cy="0"/>
          </a:xfrm>
          <a:prstGeom prst="line">
            <a:avLst/>
          </a:prstGeom>
          <a:noFill/>
          <a:ln w="9525">
            <a:solidFill>
              <a:srgbClr val="DDDDDD"/>
            </a:solidFill>
            <a:prstDash val="solid"/>
          </a:ln>
        </p:spPr>
      </p:sp>
      <p:sp>
        <p:nvSpPr>
          <p:cNvPr id="11" name="Text 8"/>
          <p:cNvSpPr txBox="1"/>
          <p:nvPr/>
        </p:nvSpPr>
        <p:spPr>
          <a:xfrm>
            <a:off x="548640" y="2779776"/>
            <a:ext cx="1463040" cy="365760"/>
          </a:xfrm>
          <a:prstGeom prst="rect">
            <a:avLst/>
          </a:prstGeom>
          <a:noFill/>
          <a:ln/>
        </p:spPr>
        <p:txBody>
          <a:bodyPr wrap="square" lIns="0" tIns="0" rIns="0" bIns="0" rtlCol="0" anchor="t"/>
          <a:lstStyle/>
          <a:p>
            <a:pPr algn="l" indent="0" marL="0">
              <a:lnSpc>
                <a:spcPct val="100000"/>
              </a:lnSpc>
              <a:buNone/>
            </a:pPr>
            <a:r>
              <a:rPr lang="en-US" sz="1700" b="1" dirty="0">
                <a:solidFill>
                  <a:srgbClr val="111111"/>
                </a:solidFill>
                <a:latin typeface="Pretendard" pitchFamily="34" charset="0"/>
                <a:ea typeface="Pretendard" pitchFamily="34" charset="-122"/>
                <a:cs typeface="Pretendard" pitchFamily="34" charset="-120"/>
              </a:rPr>
              <a:t>Tool</a:t>
            </a:r>
            <a:endParaRPr lang="en-US" sz="1700" dirty="0"/>
          </a:p>
        </p:txBody>
      </p:sp>
      <p:sp>
        <p:nvSpPr>
          <p:cNvPr id="12" name="Text 9"/>
          <p:cNvSpPr txBox="1"/>
          <p:nvPr/>
        </p:nvSpPr>
        <p:spPr>
          <a:xfrm>
            <a:off x="2194560" y="2798064"/>
            <a:ext cx="6400800" cy="365760"/>
          </a:xfrm>
          <a:prstGeom prst="rect">
            <a:avLst/>
          </a:prstGeom>
          <a:noFill/>
          <a:ln/>
        </p:spPr>
        <p:txBody>
          <a:bodyPr wrap="square" lIns="0" tIns="0" rIns="0" bIns="0" rtlCol="0" anchor="t"/>
          <a:lstStyle/>
          <a:p>
            <a:pPr algn="l" indent="0" marL="0">
              <a:lnSpc>
                <a:spcPct val="100000"/>
              </a:lnSpc>
              <a:buNone/>
            </a:pPr>
            <a:r>
              <a:rPr lang="en-US" sz="1350" dirty="0">
                <a:solidFill>
                  <a:srgbClr val="6B6B6B"/>
                </a:solidFill>
                <a:latin typeface="Pretendard" pitchFamily="34" charset="0"/>
                <a:ea typeface="Pretendard" pitchFamily="34" charset="-122"/>
                <a:cs typeface="Pretendard" pitchFamily="34" charset="-120"/>
              </a:rPr>
              <a:t>ROS /cmd_vel · /odom · /scan, Unity, Meta Quest 2</a:t>
            </a:r>
            <a:endParaRPr lang="en-US" sz="1350" dirty="0"/>
          </a:p>
        </p:txBody>
      </p:sp>
      <p:sp>
        <p:nvSpPr>
          <p:cNvPr id="13" name="Shape 10"/>
          <p:cNvSpPr/>
          <p:nvPr/>
        </p:nvSpPr>
        <p:spPr>
          <a:xfrm>
            <a:off x="548640" y="3255264"/>
            <a:ext cx="8046720" cy="0"/>
          </a:xfrm>
          <a:prstGeom prst="line">
            <a:avLst/>
          </a:prstGeom>
          <a:noFill/>
          <a:ln w="9525">
            <a:solidFill>
              <a:srgbClr val="DDDDDD"/>
            </a:solidFill>
            <a:prstDash val="solid"/>
          </a:ln>
        </p:spPr>
      </p:sp>
      <p:sp>
        <p:nvSpPr>
          <p:cNvPr id="14" name="Text 11"/>
          <p:cNvSpPr txBox="1"/>
          <p:nvPr/>
        </p:nvSpPr>
        <p:spPr>
          <a:xfrm>
            <a:off x="548640" y="3401568"/>
            <a:ext cx="1463040" cy="365760"/>
          </a:xfrm>
          <a:prstGeom prst="rect">
            <a:avLst/>
          </a:prstGeom>
          <a:noFill/>
          <a:ln/>
        </p:spPr>
        <p:txBody>
          <a:bodyPr wrap="square" lIns="0" tIns="0" rIns="0" bIns="0" rtlCol="0" anchor="t"/>
          <a:lstStyle/>
          <a:p>
            <a:pPr algn="l" indent="0" marL="0">
              <a:lnSpc>
                <a:spcPct val="100000"/>
              </a:lnSpc>
              <a:buNone/>
            </a:pPr>
            <a:r>
              <a:rPr lang="en-US" sz="1700" b="1" dirty="0">
                <a:solidFill>
                  <a:srgbClr val="111111"/>
                </a:solidFill>
                <a:latin typeface="Pretendard" pitchFamily="34" charset="0"/>
                <a:ea typeface="Pretendard" pitchFamily="34" charset="-122"/>
                <a:cs typeface="Pretendard" pitchFamily="34" charset="-120"/>
              </a:rPr>
              <a:t>Data</a:t>
            </a:r>
            <a:endParaRPr lang="en-US" sz="1700" dirty="0"/>
          </a:p>
        </p:txBody>
      </p:sp>
      <p:sp>
        <p:nvSpPr>
          <p:cNvPr id="15" name="Text 12"/>
          <p:cNvSpPr txBox="1"/>
          <p:nvPr/>
        </p:nvSpPr>
        <p:spPr>
          <a:xfrm>
            <a:off x="2194560" y="3419856"/>
            <a:ext cx="6400800" cy="365760"/>
          </a:xfrm>
          <a:prstGeom prst="rect">
            <a:avLst/>
          </a:prstGeom>
          <a:noFill/>
          <a:ln/>
        </p:spPr>
        <p:txBody>
          <a:bodyPr wrap="square" lIns="0" tIns="0" rIns="0" bIns="0" rtlCol="0" anchor="t"/>
          <a:lstStyle/>
          <a:p>
            <a:pPr algn="l" indent="0" marL="0">
              <a:lnSpc>
                <a:spcPct val="100000"/>
              </a:lnSpc>
              <a:buNone/>
            </a:pPr>
            <a:r>
              <a:rPr lang="en-US" sz="1350" dirty="0">
                <a:solidFill>
                  <a:srgbClr val="6B6B6B"/>
                </a:solidFill>
                <a:latin typeface="Pretendard" pitchFamily="34" charset="0"/>
                <a:ea typeface="Pretendard" pitchFamily="34" charset="-122"/>
                <a:cs typeface="Pretendard" pitchFamily="34" charset="-120"/>
              </a:rPr>
              <a:t>실시간 LiDAR 360° · 휠 odom · 카메라 영상</a:t>
            </a:r>
            <a:endParaRPr lang="en-US" sz="1350" dirty="0"/>
          </a:p>
        </p:txBody>
      </p:sp>
      <p:sp>
        <p:nvSpPr>
          <p:cNvPr id="16" name="Shape 13"/>
          <p:cNvSpPr/>
          <p:nvPr/>
        </p:nvSpPr>
        <p:spPr>
          <a:xfrm>
            <a:off x="548640" y="3877056"/>
            <a:ext cx="8046720" cy="0"/>
          </a:xfrm>
          <a:prstGeom prst="line">
            <a:avLst/>
          </a:prstGeom>
          <a:noFill/>
          <a:ln w="9525">
            <a:solidFill>
              <a:srgbClr val="DDDDDD"/>
            </a:solidFill>
            <a:prstDash val="solid"/>
          </a:ln>
        </p:spPr>
      </p:sp>
      <p:sp>
        <p:nvSpPr>
          <p:cNvPr id="17" name="Text 14"/>
          <p:cNvSpPr txBox="1"/>
          <p:nvPr/>
        </p:nvSpPr>
        <p:spPr>
          <a:xfrm>
            <a:off x="548640" y="4023360"/>
            <a:ext cx="1463040" cy="365760"/>
          </a:xfrm>
          <a:prstGeom prst="rect">
            <a:avLst/>
          </a:prstGeom>
          <a:noFill/>
          <a:ln/>
        </p:spPr>
        <p:txBody>
          <a:bodyPr wrap="square" lIns="0" tIns="0" rIns="0" bIns="0" rtlCol="0" anchor="t"/>
          <a:lstStyle/>
          <a:p>
            <a:pPr algn="l" indent="0" marL="0">
              <a:lnSpc>
                <a:spcPct val="100000"/>
              </a:lnSpc>
              <a:buNone/>
            </a:pPr>
            <a:r>
              <a:rPr lang="en-US" sz="1700" b="1" dirty="0">
                <a:solidFill>
                  <a:srgbClr val="111111"/>
                </a:solidFill>
                <a:latin typeface="Pretendard" pitchFamily="34" charset="0"/>
                <a:ea typeface="Pretendard" pitchFamily="34" charset="-122"/>
                <a:cs typeface="Pretendard" pitchFamily="34" charset="-120"/>
              </a:rPr>
              <a:t>Memory</a:t>
            </a:r>
            <a:endParaRPr lang="en-US" sz="1700" dirty="0"/>
          </a:p>
        </p:txBody>
      </p:sp>
      <p:sp>
        <p:nvSpPr>
          <p:cNvPr id="18" name="Text 15"/>
          <p:cNvSpPr txBox="1"/>
          <p:nvPr/>
        </p:nvSpPr>
        <p:spPr>
          <a:xfrm>
            <a:off x="2194560" y="4041648"/>
            <a:ext cx="6400800" cy="365760"/>
          </a:xfrm>
          <a:prstGeom prst="rect">
            <a:avLst/>
          </a:prstGeom>
          <a:noFill/>
          <a:ln/>
        </p:spPr>
        <p:txBody>
          <a:bodyPr wrap="square" lIns="0" tIns="0" rIns="0" bIns="0" rtlCol="0" anchor="t"/>
          <a:lstStyle/>
          <a:p>
            <a:pPr algn="l" indent="0" marL="0">
              <a:lnSpc>
                <a:spcPct val="100000"/>
              </a:lnSpc>
              <a:buNone/>
            </a:pPr>
            <a:r>
              <a:rPr lang="en-US" sz="1350" dirty="0">
                <a:solidFill>
                  <a:srgbClr val="6B6B6B"/>
                </a:solidFill>
                <a:latin typeface="Pretendard" pitchFamily="34" charset="0"/>
                <a:ea typeface="Pretendard" pitchFamily="34" charset="-122"/>
                <a:cs typeface="Pretendard" pitchFamily="34" charset="-120"/>
              </a:rPr>
              <a:t>로봇별 모드 · 정지 원인 · 운행 이력</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4572000" cy="201168"/>
          </a:xfrm>
          <a:prstGeom prst="rect">
            <a:avLst/>
          </a:prstGeom>
          <a:noFill/>
          <a:ln/>
        </p:spPr>
        <p:txBody>
          <a:bodyPr wrap="square" lIns="0" tIns="0" rIns="0" bIns="0" rtlCol="0" anchor="ctr"/>
          <a:lstStyle/>
          <a:p>
            <a:pPr algn="l" indent="0" marL="0">
              <a:lnSpc>
                <a:spcPct val="100000"/>
              </a:lnSpc>
              <a:buNone/>
            </a:pPr>
            <a:r>
              <a:rPr lang="en-US" sz="900" dirty="0">
                <a:solidFill>
                  <a:srgbClr val="6B6B6B"/>
                </a:solidFill>
                <a:latin typeface="Pretendard" pitchFamily="34" charset="0"/>
                <a:ea typeface="Pretendard" pitchFamily="34" charset="-122"/>
                <a:cs typeface="Pretendard" pitchFamily="34" charset="-120"/>
              </a:rPr>
              <a:t>04  실제 시연</a:t>
            </a:r>
            <a:endParaRPr lang="en-US" sz="900" dirty="0"/>
          </a:p>
        </p:txBody>
      </p:sp>
      <p:sp>
        <p:nvSpPr>
          <p:cNvPr id="3" name="Text 1"/>
          <p:cNvSpPr txBox="1"/>
          <p:nvPr/>
        </p:nvSpPr>
        <p:spPr>
          <a:xfrm>
            <a:off x="7223760" y="384048"/>
            <a:ext cx="1371600" cy="201168"/>
          </a:xfrm>
          <a:prstGeom prst="rect">
            <a:avLst/>
          </a:prstGeom>
          <a:noFill/>
          <a:ln/>
        </p:spPr>
        <p:txBody>
          <a:bodyPr wrap="square" lIns="0" tIns="0" rIns="0" bIns="0" rtlCol="0" anchor="ctr"/>
          <a:lstStyle/>
          <a:p>
            <a:pPr algn="r" indent="0" marL="0">
              <a:lnSpc>
                <a:spcPct val="100000"/>
              </a:lnSpc>
              <a:buNone/>
            </a:pPr>
            <a:r>
              <a:rPr lang="en-US" sz="900" dirty="0">
                <a:solidFill>
                  <a:srgbClr val="6B6B6B"/>
                </a:solidFill>
                <a:latin typeface="Pretendard" pitchFamily="34" charset="0"/>
                <a:ea typeface="Pretendard" pitchFamily="34" charset="-122"/>
                <a:cs typeface="Pretendard" pitchFamily="34" charset="-120"/>
              </a:rPr>
              <a:t>2:30</a:t>
            </a:r>
            <a:endParaRPr lang="en-US" sz="900" dirty="0"/>
          </a:p>
        </p:txBody>
      </p:sp>
      <p:sp>
        <p:nvSpPr>
          <p:cNvPr id="4" name="Text 2"/>
          <p:cNvSpPr txBox="1"/>
          <p:nvPr/>
        </p:nvSpPr>
        <p:spPr>
          <a:xfrm>
            <a:off x="8138160" y="4732020"/>
            <a:ext cx="457200" cy="182880"/>
          </a:xfrm>
          <a:prstGeom prst="rect">
            <a:avLst/>
          </a:prstGeom>
          <a:noFill/>
          <a:ln/>
        </p:spPr>
        <p:txBody>
          <a:bodyPr wrap="square" lIns="0" tIns="0" rIns="0" bIns="0" rtlCol="0" anchor="t"/>
          <a:lstStyle/>
          <a:p>
            <a:pPr algn="r" indent="0" marL="0">
              <a:lnSpc>
                <a:spcPct val="100000"/>
              </a:lnSpc>
              <a:buNone/>
            </a:pPr>
            <a:r>
              <a:rPr lang="en-US" sz="800" dirty="0">
                <a:solidFill>
                  <a:srgbClr val="A3A3A3"/>
                </a:solidFill>
                <a:latin typeface="Pretendard" pitchFamily="34" charset="0"/>
                <a:ea typeface="Pretendard" pitchFamily="34" charset="-122"/>
                <a:cs typeface="Pretendard" pitchFamily="34" charset="-120"/>
              </a:rPr>
              <a:t>06</a:t>
            </a:r>
            <a:endParaRPr lang="en-US" sz="800" dirty="0"/>
          </a:p>
        </p:txBody>
      </p:sp>
      <p:sp>
        <p:nvSpPr>
          <p:cNvPr id="6" name="Text 3"/>
          <p:cNvSpPr txBox="1"/>
          <p:nvPr/>
        </p:nvSpPr>
        <p:spPr>
          <a:xfrm>
            <a:off x="548640" y="822960"/>
            <a:ext cx="8046720" cy="1097280"/>
          </a:xfrm>
          <a:prstGeom prst="rect">
            <a:avLst/>
          </a:prstGeom>
          <a:noFill/>
          <a:ln/>
        </p:spPr>
        <p:txBody>
          <a:bodyPr wrap="square" lIns="0" tIns="0" rIns="0" bIns="0" rtlCol="0" anchor="t"/>
          <a:lstStyle/>
          <a:p>
            <a:pPr algn="l" indent="0" marL="0">
              <a:lnSpc>
                <a:spcPct val="115000"/>
              </a:lnSpc>
              <a:buNone/>
            </a:pPr>
            <a:r>
              <a:rPr lang="en-US" sz="3000" b="1" spc="-100" kern="0" dirty="0">
                <a:solidFill>
                  <a:srgbClr val="111111"/>
                </a:solidFill>
                <a:latin typeface="Pretendard" pitchFamily="34" charset="0"/>
                <a:ea typeface="Pretendard" pitchFamily="34" charset="-122"/>
                <a:cs typeface="Pretendard" pitchFamily="34" charset="-120"/>
              </a:rPr>
              <a:t>실물 두 대로 보여드립니다.</a:t>
            </a:r>
            <a:endParaRPr lang="en-US" sz="3000" dirty="0"/>
          </a:p>
        </p:txBody>
      </p:sp>
      <p:sp>
        <p:nvSpPr>
          <p:cNvPr id="7" name="Shape 4"/>
          <p:cNvSpPr/>
          <p:nvPr/>
        </p:nvSpPr>
        <p:spPr>
          <a:xfrm>
            <a:off x="548640" y="1536192"/>
            <a:ext cx="566928" cy="237744"/>
          </a:xfrm>
          <a:prstGeom prst="rect">
            <a:avLst/>
          </a:prstGeom>
          <a:solidFill>
            <a:srgbClr val="F5B800"/>
          </a:solidFill>
          <a:ln w="12700">
            <a:solidFill>
              <a:srgbClr val="F5B800"/>
            </a:solidFill>
            <a:prstDash val="solid"/>
          </a:ln>
        </p:spPr>
      </p:sp>
      <p:sp>
        <p:nvSpPr>
          <p:cNvPr id="8" name="Text 5"/>
          <p:cNvSpPr txBox="1"/>
          <p:nvPr/>
        </p:nvSpPr>
        <p:spPr>
          <a:xfrm>
            <a:off x="548640" y="1536192"/>
            <a:ext cx="566928" cy="237744"/>
          </a:xfrm>
          <a:prstGeom prst="rect">
            <a:avLst/>
          </a:prstGeom>
          <a:noFill/>
          <a:ln/>
        </p:spPr>
        <p:txBody>
          <a:bodyPr wrap="square" lIns="0" tIns="0" rIns="0" bIns="0" rtlCol="0" anchor="ctr"/>
          <a:lstStyle/>
          <a:p>
            <a:pPr algn="ctr" indent="0" marL="0">
              <a:lnSpc>
                <a:spcPct val="100000"/>
              </a:lnSpc>
              <a:buNone/>
            </a:pPr>
            <a:r>
              <a:rPr lang="en-US" sz="900" b="1" dirty="0">
                <a:solidFill>
                  <a:srgbClr val="111111"/>
                </a:solidFill>
                <a:latin typeface="Pretendard" pitchFamily="34" charset="0"/>
                <a:ea typeface="Pretendard" pitchFamily="34" charset="-122"/>
                <a:cs typeface="Pretendard" pitchFamily="34" charset="-120"/>
              </a:rPr>
              <a:t>LIVE</a:t>
            </a:r>
            <a:endParaRPr lang="en-US" sz="900" dirty="0"/>
          </a:p>
        </p:txBody>
      </p:sp>
      <p:sp>
        <p:nvSpPr>
          <p:cNvPr id="9" name="Shape 6"/>
          <p:cNvSpPr/>
          <p:nvPr/>
        </p:nvSpPr>
        <p:spPr>
          <a:xfrm>
            <a:off x="548640" y="2240280"/>
            <a:ext cx="1828800" cy="0"/>
          </a:xfrm>
          <a:prstGeom prst="line">
            <a:avLst/>
          </a:prstGeom>
          <a:noFill/>
          <a:ln w="19050">
            <a:solidFill>
              <a:srgbClr val="111111"/>
            </a:solidFill>
            <a:prstDash val="solid"/>
          </a:ln>
        </p:spPr>
      </p:sp>
      <p:sp>
        <p:nvSpPr>
          <p:cNvPr id="10" name="Text 7"/>
          <p:cNvSpPr txBox="1"/>
          <p:nvPr/>
        </p:nvSpPr>
        <p:spPr>
          <a:xfrm>
            <a:off x="548640" y="2377440"/>
            <a:ext cx="1828800" cy="274320"/>
          </a:xfrm>
          <a:prstGeom prst="rect">
            <a:avLst/>
          </a:prstGeom>
          <a:noFill/>
          <a:ln/>
        </p:spPr>
        <p:txBody>
          <a:bodyPr wrap="square" lIns="0" tIns="0" rIns="0" bIns="0" rtlCol="0" anchor="t"/>
          <a:lstStyle/>
          <a:p>
            <a:pPr algn="l" indent="0" marL="0">
              <a:lnSpc>
                <a:spcPct val="100000"/>
              </a:lnSpc>
              <a:buNone/>
            </a:pPr>
            <a:r>
              <a:rPr lang="en-US" sz="1100" dirty="0">
                <a:solidFill>
                  <a:srgbClr val="6B6B6B"/>
                </a:solidFill>
                <a:latin typeface="Pretendard" pitchFamily="34" charset="0"/>
                <a:ea typeface="Pretendard" pitchFamily="34" charset="-122"/>
                <a:cs typeface="Pretendard" pitchFamily="34" charset="-120"/>
              </a:rPr>
              <a:t>입력</a:t>
            </a:r>
            <a:endParaRPr lang="en-US" sz="1100" dirty="0"/>
          </a:p>
        </p:txBody>
      </p:sp>
      <p:sp>
        <p:nvSpPr>
          <p:cNvPr id="11" name="Text 8"/>
          <p:cNvSpPr txBox="1"/>
          <p:nvPr/>
        </p:nvSpPr>
        <p:spPr>
          <a:xfrm>
            <a:off x="548640" y="2697480"/>
            <a:ext cx="1600200" cy="822960"/>
          </a:xfrm>
          <a:prstGeom prst="rect">
            <a:avLst/>
          </a:prstGeom>
          <a:noFill/>
          <a:ln/>
        </p:spPr>
        <p:txBody>
          <a:bodyPr wrap="square" lIns="0" tIns="0" rIns="0" bIns="0" rtlCol="0" anchor="t"/>
          <a:lstStyle/>
          <a:p>
            <a:pPr algn="l" indent="0" marL="0">
              <a:lnSpc>
                <a:spcPct val="130000"/>
              </a:lnSpc>
              <a:buNone/>
            </a:pPr>
            <a:r>
              <a:rPr lang="en-US" sz="1500" b="1" dirty="0">
                <a:solidFill>
                  <a:srgbClr val="111111"/>
                </a:solidFill>
                <a:latin typeface="Pretendard" pitchFamily="34" charset="0"/>
                <a:ea typeface="Pretendard" pitchFamily="34" charset="-122"/>
                <a:cs typeface="Pretendard" pitchFamily="34" charset="-120"/>
              </a:rPr>
              <a:t>관제 맵에서</a:t>
            </a:r>
            <a:endParaRPr lang="en-US" sz="1500" dirty="0"/>
          </a:p>
          <a:p>
            <a:pPr algn="l" indent="0" marL="0">
              <a:lnSpc>
                <a:spcPct val="130000"/>
              </a:lnSpc>
              <a:buNone/>
            </a:pPr>
            <a:r>
              <a:rPr lang="en-US" sz="1500" b="1" dirty="0">
                <a:solidFill>
                  <a:srgbClr val="111111"/>
                </a:solidFill>
                <a:latin typeface="Pretendard" pitchFamily="34" charset="0"/>
                <a:ea typeface="Pretendard" pitchFamily="34" charset="-122"/>
                <a:cs typeface="Pretendard" pitchFamily="34" charset="-120"/>
              </a:rPr>
              <a:t>멈춘 로봇 클릭</a:t>
            </a:r>
            <a:endParaRPr lang="en-US" sz="1500" dirty="0"/>
          </a:p>
        </p:txBody>
      </p:sp>
      <p:sp>
        <p:nvSpPr>
          <p:cNvPr id="12" name="Text 9"/>
          <p:cNvSpPr txBox="1"/>
          <p:nvPr/>
        </p:nvSpPr>
        <p:spPr>
          <a:xfrm>
            <a:off x="2340864" y="2697480"/>
            <a:ext cx="201168" cy="365760"/>
          </a:xfrm>
          <a:prstGeom prst="rect">
            <a:avLst/>
          </a:prstGeom>
          <a:noFill/>
          <a:ln/>
        </p:spPr>
        <p:txBody>
          <a:bodyPr wrap="square" lIns="0" tIns="0" rIns="0" bIns="0" rtlCol="0" anchor="t"/>
          <a:lstStyle/>
          <a:p>
            <a:pPr algn="l" indent="0" marL="0">
              <a:lnSpc>
                <a:spcPct val="100000"/>
              </a:lnSpc>
              <a:buNone/>
            </a:pPr>
            <a:r>
              <a:rPr lang="en-US" sz="1600" dirty="0">
                <a:solidFill>
                  <a:srgbClr val="A3A3A3"/>
                </a:solidFill>
                <a:latin typeface="Pretendard" pitchFamily="34" charset="0"/>
                <a:ea typeface="Pretendard" pitchFamily="34" charset="-122"/>
                <a:cs typeface="Pretendard" pitchFamily="34" charset="-120"/>
              </a:rPr>
              <a:t>→</a:t>
            </a:r>
            <a:endParaRPr lang="en-US" sz="1600" dirty="0"/>
          </a:p>
        </p:txBody>
      </p:sp>
      <p:sp>
        <p:nvSpPr>
          <p:cNvPr id="13" name="Shape 10"/>
          <p:cNvSpPr/>
          <p:nvPr/>
        </p:nvSpPr>
        <p:spPr>
          <a:xfrm>
            <a:off x="2560320" y="2240280"/>
            <a:ext cx="1828800" cy="0"/>
          </a:xfrm>
          <a:prstGeom prst="line">
            <a:avLst/>
          </a:prstGeom>
          <a:noFill/>
          <a:ln w="19050">
            <a:solidFill>
              <a:srgbClr val="111111"/>
            </a:solidFill>
            <a:prstDash val="solid"/>
          </a:ln>
        </p:spPr>
      </p:sp>
      <p:sp>
        <p:nvSpPr>
          <p:cNvPr id="14" name="Text 11"/>
          <p:cNvSpPr txBox="1"/>
          <p:nvPr/>
        </p:nvSpPr>
        <p:spPr>
          <a:xfrm>
            <a:off x="2560320" y="2377440"/>
            <a:ext cx="1828800" cy="274320"/>
          </a:xfrm>
          <a:prstGeom prst="rect">
            <a:avLst/>
          </a:prstGeom>
          <a:noFill/>
          <a:ln/>
        </p:spPr>
        <p:txBody>
          <a:bodyPr wrap="square" lIns="0" tIns="0" rIns="0" bIns="0" rtlCol="0" anchor="t"/>
          <a:lstStyle/>
          <a:p>
            <a:pPr algn="l" indent="0" marL="0">
              <a:lnSpc>
                <a:spcPct val="100000"/>
              </a:lnSpc>
              <a:buNone/>
            </a:pPr>
            <a:r>
              <a:rPr lang="en-US" sz="1100" dirty="0">
                <a:solidFill>
                  <a:srgbClr val="6B6B6B"/>
                </a:solidFill>
                <a:latin typeface="Pretendard" pitchFamily="34" charset="0"/>
                <a:ea typeface="Pretendard" pitchFamily="34" charset="-122"/>
                <a:cs typeface="Pretendard" pitchFamily="34" charset="-120"/>
              </a:rPr>
              <a:t>판단</a:t>
            </a:r>
            <a:endParaRPr lang="en-US" sz="1100" dirty="0"/>
          </a:p>
        </p:txBody>
      </p:sp>
      <p:sp>
        <p:nvSpPr>
          <p:cNvPr id="15" name="Text 12"/>
          <p:cNvSpPr txBox="1"/>
          <p:nvPr/>
        </p:nvSpPr>
        <p:spPr>
          <a:xfrm>
            <a:off x="2560320" y="2697480"/>
            <a:ext cx="1600200" cy="822960"/>
          </a:xfrm>
          <a:prstGeom prst="rect">
            <a:avLst/>
          </a:prstGeom>
          <a:noFill/>
          <a:ln/>
        </p:spPr>
        <p:txBody>
          <a:bodyPr wrap="square" lIns="0" tIns="0" rIns="0" bIns="0" rtlCol="0" anchor="t"/>
          <a:lstStyle/>
          <a:p>
            <a:pPr algn="l" indent="0" marL="0">
              <a:lnSpc>
                <a:spcPct val="130000"/>
              </a:lnSpc>
              <a:buNone/>
            </a:pPr>
            <a:r>
              <a:rPr lang="en-US" sz="1500" b="1" dirty="0">
                <a:solidFill>
                  <a:srgbClr val="111111"/>
                </a:solidFill>
                <a:latin typeface="Pretendard" pitchFamily="34" charset="0"/>
                <a:ea typeface="Pretendard" pitchFamily="34" charset="-122"/>
                <a:cs typeface="Pretendard" pitchFamily="34" charset="-120"/>
              </a:rPr>
              <a:t>그 로봇만 MANUAL</a:t>
            </a:r>
            <a:endParaRPr lang="en-US" sz="1500" dirty="0"/>
          </a:p>
          <a:p>
            <a:pPr algn="l" indent="0" marL="0">
              <a:lnSpc>
                <a:spcPct val="130000"/>
              </a:lnSpc>
              <a:buNone/>
            </a:pPr>
            <a:r>
              <a:rPr lang="en-US" sz="1500" b="1" dirty="0">
                <a:solidFill>
                  <a:srgbClr val="111111"/>
                </a:solidFill>
                <a:latin typeface="Pretendard" pitchFamily="34" charset="0"/>
                <a:ea typeface="Pretendard" pitchFamily="34" charset="-122"/>
                <a:cs typeface="Pretendard" pitchFamily="34" charset="-120"/>
              </a:rPr>
              <a:t>탈출 방향 계산</a:t>
            </a:r>
            <a:endParaRPr lang="en-US" sz="1500" dirty="0"/>
          </a:p>
        </p:txBody>
      </p:sp>
      <p:sp>
        <p:nvSpPr>
          <p:cNvPr id="16" name="Text 13"/>
          <p:cNvSpPr txBox="1"/>
          <p:nvPr/>
        </p:nvSpPr>
        <p:spPr>
          <a:xfrm>
            <a:off x="4352544" y="2697480"/>
            <a:ext cx="201168" cy="365760"/>
          </a:xfrm>
          <a:prstGeom prst="rect">
            <a:avLst/>
          </a:prstGeom>
          <a:noFill/>
          <a:ln/>
        </p:spPr>
        <p:txBody>
          <a:bodyPr wrap="square" lIns="0" tIns="0" rIns="0" bIns="0" rtlCol="0" anchor="t"/>
          <a:lstStyle/>
          <a:p>
            <a:pPr algn="l" indent="0" marL="0">
              <a:lnSpc>
                <a:spcPct val="100000"/>
              </a:lnSpc>
              <a:buNone/>
            </a:pPr>
            <a:r>
              <a:rPr lang="en-US" sz="1600" dirty="0">
                <a:solidFill>
                  <a:srgbClr val="A3A3A3"/>
                </a:solidFill>
                <a:latin typeface="Pretendard" pitchFamily="34" charset="0"/>
                <a:ea typeface="Pretendard" pitchFamily="34" charset="-122"/>
                <a:cs typeface="Pretendard" pitchFamily="34" charset="-120"/>
              </a:rPr>
              <a:t>→</a:t>
            </a:r>
            <a:endParaRPr lang="en-US" sz="1600" dirty="0"/>
          </a:p>
        </p:txBody>
      </p:sp>
      <p:sp>
        <p:nvSpPr>
          <p:cNvPr id="17" name="Shape 14"/>
          <p:cNvSpPr/>
          <p:nvPr/>
        </p:nvSpPr>
        <p:spPr>
          <a:xfrm>
            <a:off x="4572000" y="2240280"/>
            <a:ext cx="1828800" cy="0"/>
          </a:xfrm>
          <a:prstGeom prst="line">
            <a:avLst/>
          </a:prstGeom>
          <a:noFill/>
          <a:ln w="19050">
            <a:solidFill>
              <a:srgbClr val="111111"/>
            </a:solidFill>
            <a:prstDash val="solid"/>
          </a:ln>
        </p:spPr>
      </p:sp>
      <p:sp>
        <p:nvSpPr>
          <p:cNvPr id="18" name="Text 15"/>
          <p:cNvSpPr txBox="1"/>
          <p:nvPr/>
        </p:nvSpPr>
        <p:spPr>
          <a:xfrm>
            <a:off x="4572000" y="2377440"/>
            <a:ext cx="1828800" cy="274320"/>
          </a:xfrm>
          <a:prstGeom prst="rect">
            <a:avLst/>
          </a:prstGeom>
          <a:noFill/>
          <a:ln/>
        </p:spPr>
        <p:txBody>
          <a:bodyPr wrap="square" lIns="0" tIns="0" rIns="0" bIns="0" rtlCol="0" anchor="t"/>
          <a:lstStyle/>
          <a:p>
            <a:pPr algn="l" indent="0" marL="0">
              <a:lnSpc>
                <a:spcPct val="100000"/>
              </a:lnSpc>
              <a:buNone/>
            </a:pPr>
            <a:r>
              <a:rPr lang="en-US" sz="1100" dirty="0">
                <a:solidFill>
                  <a:srgbClr val="6B6B6B"/>
                </a:solidFill>
                <a:latin typeface="Pretendard" pitchFamily="34" charset="0"/>
                <a:ea typeface="Pretendard" pitchFamily="34" charset="-122"/>
                <a:cs typeface="Pretendard" pitchFamily="34" charset="-120"/>
              </a:rPr>
              <a:t>Tool</a:t>
            </a:r>
            <a:endParaRPr lang="en-US" sz="1100" dirty="0"/>
          </a:p>
        </p:txBody>
      </p:sp>
      <p:sp>
        <p:nvSpPr>
          <p:cNvPr id="19" name="Text 16"/>
          <p:cNvSpPr txBox="1"/>
          <p:nvPr/>
        </p:nvSpPr>
        <p:spPr>
          <a:xfrm>
            <a:off x="4572000" y="2697480"/>
            <a:ext cx="1600200" cy="822960"/>
          </a:xfrm>
          <a:prstGeom prst="rect">
            <a:avLst/>
          </a:prstGeom>
          <a:noFill/>
          <a:ln/>
        </p:spPr>
        <p:txBody>
          <a:bodyPr wrap="square" lIns="0" tIns="0" rIns="0" bIns="0" rtlCol="0" anchor="t"/>
          <a:lstStyle/>
          <a:p>
            <a:pPr algn="l" indent="0" marL="0">
              <a:lnSpc>
                <a:spcPct val="130000"/>
              </a:lnSpc>
              <a:buNone/>
            </a:pPr>
            <a:r>
              <a:rPr lang="en-US" sz="1500" b="1" dirty="0">
                <a:solidFill>
                  <a:srgbClr val="111111"/>
                </a:solidFill>
                <a:latin typeface="Pretendard" pitchFamily="34" charset="0"/>
                <a:ea typeface="Pretendard" pitchFamily="34" charset="-122"/>
                <a:cs typeface="Pretendard" pitchFamily="34" charset="-120"/>
              </a:rPr>
              <a:t>Quest 콕핏 전환</a:t>
            </a:r>
            <a:endParaRPr lang="en-US" sz="1500" dirty="0"/>
          </a:p>
          <a:p>
            <a:pPr algn="l" indent="0" marL="0">
              <a:lnSpc>
                <a:spcPct val="130000"/>
              </a:lnSpc>
              <a:buNone/>
            </a:pPr>
            <a:r>
              <a:rPr lang="en-US" sz="1500" b="1" dirty="0">
                <a:solidFill>
                  <a:srgbClr val="111111"/>
                </a:solidFill>
                <a:latin typeface="Pretendard" pitchFamily="34" charset="0"/>
                <a:ea typeface="Pretendard" pitchFamily="34" charset="-122"/>
                <a:cs typeface="Pretendard" pitchFamily="34" charset="-120"/>
              </a:rPr>
              <a:t>/cmd_vel 제한</a:t>
            </a:r>
            <a:endParaRPr lang="en-US" sz="1500" dirty="0"/>
          </a:p>
        </p:txBody>
      </p:sp>
      <p:sp>
        <p:nvSpPr>
          <p:cNvPr id="20" name="Text 17"/>
          <p:cNvSpPr txBox="1"/>
          <p:nvPr/>
        </p:nvSpPr>
        <p:spPr>
          <a:xfrm>
            <a:off x="6364224" y="2697480"/>
            <a:ext cx="201168" cy="365760"/>
          </a:xfrm>
          <a:prstGeom prst="rect">
            <a:avLst/>
          </a:prstGeom>
          <a:noFill/>
          <a:ln/>
        </p:spPr>
        <p:txBody>
          <a:bodyPr wrap="square" lIns="0" tIns="0" rIns="0" bIns="0" rtlCol="0" anchor="t"/>
          <a:lstStyle/>
          <a:p>
            <a:pPr algn="l" indent="0" marL="0">
              <a:lnSpc>
                <a:spcPct val="100000"/>
              </a:lnSpc>
              <a:buNone/>
            </a:pPr>
            <a:r>
              <a:rPr lang="en-US" sz="1600" dirty="0">
                <a:solidFill>
                  <a:srgbClr val="A3A3A3"/>
                </a:solidFill>
                <a:latin typeface="Pretendard" pitchFamily="34" charset="0"/>
                <a:ea typeface="Pretendard" pitchFamily="34" charset="-122"/>
                <a:cs typeface="Pretendard" pitchFamily="34" charset="-120"/>
              </a:rPr>
              <a:t>→</a:t>
            </a:r>
            <a:endParaRPr lang="en-US" sz="1600" dirty="0"/>
          </a:p>
        </p:txBody>
      </p:sp>
      <p:sp>
        <p:nvSpPr>
          <p:cNvPr id="21" name="Shape 18"/>
          <p:cNvSpPr/>
          <p:nvPr/>
        </p:nvSpPr>
        <p:spPr>
          <a:xfrm>
            <a:off x="6583680" y="2240280"/>
            <a:ext cx="1828800" cy="0"/>
          </a:xfrm>
          <a:prstGeom prst="line">
            <a:avLst/>
          </a:prstGeom>
          <a:noFill/>
          <a:ln w="19050">
            <a:solidFill>
              <a:srgbClr val="111111"/>
            </a:solidFill>
            <a:prstDash val="solid"/>
          </a:ln>
        </p:spPr>
      </p:sp>
      <p:sp>
        <p:nvSpPr>
          <p:cNvPr id="22" name="Text 19"/>
          <p:cNvSpPr txBox="1"/>
          <p:nvPr/>
        </p:nvSpPr>
        <p:spPr>
          <a:xfrm>
            <a:off x="6583680" y="2377440"/>
            <a:ext cx="1828800" cy="274320"/>
          </a:xfrm>
          <a:prstGeom prst="rect">
            <a:avLst/>
          </a:prstGeom>
          <a:noFill/>
          <a:ln/>
        </p:spPr>
        <p:txBody>
          <a:bodyPr wrap="square" lIns="0" tIns="0" rIns="0" bIns="0" rtlCol="0" anchor="t"/>
          <a:lstStyle/>
          <a:p>
            <a:pPr algn="l" indent="0" marL="0">
              <a:lnSpc>
                <a:spcPct val="100000"/>
              </a:lnSpc>
              <a:buNone/>
            </a:pPr>
            <a:r>
              <a:rPr lang="en-US" sz="1100" dirty="0">
                <a:solidFill>
                  <a:srgbClr val="6B6B6B"/>
                </a:solidFill>
                <a:latin typeface="Pretendard" pitchFamily="34" charset="0"/>
                <a:ea typeface="Pretendard" pitchFamily="34" charset="-122"/>
                <a:cs typeface="Pretendard" pitchFamily="34" charset="-120"/>
              </a:rPr>
              <a:t>결과</a:t>
            </a:r>
            <a:endParaRPr lang="en-US" sz="1100" dirty="0"/>
          </a:p>
        </p:txBody>
      </p:sp>
      <p:sp>
        <p:nvSpPr>
          <p:cNvPr id="23" name="Text 20"/>
          <p:cNvSpPr txBox="1"/>
          <p:nvPr/>
        </p:nvSpPr>
        <p:spPr>
          <a:xfrm>
            <a:off x="6583680" y="2697480"/>
            <a:ext cx="1600200" cy="822960"/>
          </a:xfrm>
          <a:prstGeom prst="rect">
            <a:avLst/>
          </a:prstGeom>
          <a:noFill/>
          <a:ln/>
        </p:spPr>
        <p:txBody>
          <a:bodyPr wrap="square" lIns="0" tIns="0" rIns="0" bIns="0" rtlCol="0" anchor="t"/>
          <a:lstStyle/>
          <a:p>
            <a:pPr algn="l" indent="0" marL="0">
              <a:lnSpc>
                <a:spcPct val="130000"/>
              </a:lnSpc>
              <a:buNone/>
            </a:pPr>
            <a:r>
              <a:rPr lang="en-US" sz="1500" b="1" dirty="0">
                <a:solidFill>
                  <a:srgbClr val="111111"/>
                </a:solidFill>
                <a:latin typeface="Pretendard" pitchFamily="34" charset="0"/>
                <a:ea typeface="Pretendard" pitchFamily="34" charset="-122"/>
                <a:cs typeface="Pretendard" pitchFamily="34" charset="-120"/>
              </a:rPr>
              <a:t>그립 + 스틱으로</a:t>
            </a:r>
            <a:endParaRPr lang="en-US" sz="1500" dirty="0"/>
          </a:p>
          <a:p>
            <a:pPr algn="l" indent="0" marL="0">
              <a:lnSpc>
                <a:spcPct val="130000"/>
              </a:lnSpc>
              <a:buNone/>
            </a:pPr>
            <a:r>
              <a:rPr lang="en-US" sz="1500" b="1" dirty="0">
                <a:solidFill>
                  <a:srgbClr val="111111"/>
                </a:solidFill>
                <a:latin typeface="Pretendard" pitchFamily="34" charset="0"/>
                <a:ea typeface="Pretendard" pitchFamily="34" charset="-122"/>
                <a:cs typeface="Pretendard" pitchFamily="34" charset="-120"/>
              </a:rPr>
              <a:t>사람이 빼낸다</a:t>
            </a:r>
            <a:endParaRPr lang="en-US" sz="1500" dirty="0"/>
          </a:p>
        </p:txBody>
      </p:sp>
      <p:sp>
        <p:nvSpPr>
          <p:cNvPr id="24" name="Text 21"/>
          <p:cNvSpPr txBox="1"/>
          <p:nvPr/>
        </p:nvSpPr>
        <p:spPr>
          <a:xfrm>
            <a:off x="548640" y="4160520"/>
            <a:ext cx="8046720" cy="274320"/>
          </a:xfrm>
          <a:prstGeom prst="rect">
            <a:avLst/>
          </a:prstGeom>
          <a:noFill/>
          <a:ln/>
        </p:spPr>
        <p:txBody>
          <a:bodyPr wrap="square" lIns="0" tIns="0" rIns="0" bIns="0" rtlCol="0" anchor="t"/>
          <a:lstStyle/>
          <a:p>
            <a:pPr algn="l" indent="0" marL="0">
              <a:lnSpc>
                <a:spcPct val="100000"/>
              </a:lnSpc>
              <a:buNone/>
            </a:pPr>
            <a:r>
              <a:rPr lang="en-US" sz="1200" dirty="0">
                <a:solidFill>
                  <a:srgbClr val="6B6B6B"/>
                </a:solidFill>
                <a:latin typeface="Pretendard" pitchFamily="34" charset="0"/>
                <a:ea typeface="Pretendard" pitchFamily="34" charset="-122"/>
                <a:cs typeface="Pretendard" pitchFamily="34" charset="-120"/>
              </a:rPr>
              <a:t>시연 순서   순찰 → 정지·알림 → VR 개입 → 안전장치 → 재개</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4572000" cy="201168"/>
          </a:xfrm>
          <a:prstGeom prst="rect">
            <a:avLst/>
          </a:prstGeom>
          <a:noFill/>
          <a:ln/>
        </p:spPr>
        <p:txBody>
          <a:bodyPr wrap="square" lIns="0" tIns="0" rIns="0" bIns="0" rtlCol="0" anchor="ctr"/>
          <a:lstStyle/>
          <a:p>
            <a:pPr algn="l" indent="0" marL="0">
              <a:lnSpc>
                <a:spcPct val="100000"/>
              </a:lnSpc>
              <a:buNone/>
            </a:pPr>
            <a:r>
              <a:rPr lang="en-US" sz="900" dirty="0">
                <a:solidFill>
                  <a:srgbClr val="6B6B6B"/>
                </a:solidFill>
                <a:latin typeface="Pretendard" pitchFamily="34" charset="0"/>
                <a:ea typeface="Pretendard" pitchFamily="34" charset="-122"/>
                <a:cs typeface="Pretendard" pitchFamily="34" charset="-120"/>
              </a:rPr>
              <a:t>04  실제 시연 — 화면</a:t>
            </a:r>
            <a:endParaRPr lang="en-US" sz="900" dirty="0"/>
          </a:p>
        </p:txBody>
      </p:sp>
      <p:sp>
        <p:nvSpPr>
          <p:cNvPr id="3" name="Text 1"/>
          <p:cNvSpPr txBox="1"/>
          <p:nvPr/>
        </p:nvSpPr>
        <p:spPr>
          <a:xfrm>
            <a:off x="7223760" y="384048"/>
            <a:ext cx="1371600" cy="201168"/>
          </a:xfrm>
          <a:prstGeom prst="rect">
            <a:avLst/>
          </a:prstGeom>
          <a:noFill/>
          <a:ln/>
        </p:spPr>
        <p:txBody>
          <a:bodyPr wrap="square" lIns="0" tIns="0" rIns="0" bIns="0" rtlCol="0" anchor="ctr"/>
          <a:lstStyle/>
          <a:p>
            <a:pPr algn="r" indent="0" marL="0">
              <a:lnSpc>
                <a:spcPct val="100000"/>
              </a:lnSpc>
              <a:buNone/>
            </a:pPr>
            <a:r>
              <a:rPr lang="en-US" sz="900" dirty="0">
                <a:solidFill>
                  <a:srgbClr val="6B6B6B"/>
                </a:solidFill>
                <a:latin typeface="Pretendard" pitchFamily="34" charset="0"/>
                <a:ea typeface="Pretendard" pitchFamily="34" charset="-122"/>
                <a:cs typeface="Pretendard" pitchFamily="34" charset="-120"/>
              </a:rPr>
              <a:t>2:30</a:t>
            </a:r>
            <a:endParaRPr lang="en-US" sz="900" dirty="0"/>
          </a:p>
        </p:txBody>
      </p:sp>
      <p:sp>
        <p:nvSpPr>
          <p:cNvPr id="4" name="Text 2"/>
          <p:cNvSpPr txBox="1"/>
          <p:nvPr/>
        </p:nvSpPr>
        <p:spPr>
          <a:xfrm>
            <a:off x="8138160" y="4732020"/>
            <a:ext cx="457200" cy="182880"/>
          </a:xfrm>
          <a:prstGeom prst="rect">
            <a:avLst/>
          </a:prstGeom>
          <a:noFill/>
          <a:ln/>
        </p:spPr>
        <p:txBody>
          <a:bodyPr wrap="square" lIns="0" tIns="0" rIns="0" bIns="0" rtlCol="0" anchor="t"/>
          <a:lstStyle/>
          <a:p>
            <a:pPr algn="r" indent="0" marL="0">
              <a:lnSpc>
                <a:spcPct val="100000"/>
              </a:lnSpc>
              <a:buNone/>
            </a:pPr>
            <a:r>
              <a:rPr lang="en-US" sz="800" dirty="0">
                <a:solidFill>
                  <a:srgbClr val="A3A3A3"/>
                </a:solidFill>
                <a:latin typeface="Pretendard" pitchFamily="34" charset="0"/>
                <a:ea typeface="Pretendard" pitchFamily="34" charset="-122"/>
                <a:cs typeface="Pretendard" pitchFamily="34" charset="-120"/>
              </a:rPr>
              <a:t>07</a:t>
            </a:r>
            <a:endParaRPr lang="en-US" sz="800" dirty="0"/>
          </a:p>
        </p:txBody>
      </p:sp>
      <p:pic>
        <p:nvPicPr>
          <p:cNvPr id="6" name="Image 0" descr="콕핏 화면: 정지 배너와 탈출 경로">    </p:cNvPr>
          <p:cNvPicPr>
            <a:picLocks noChangeAspect="1"/>
          </p:cNvPicPr>
          <p:nvPr/>
        </p:nvPicPr>
        <p:blipFill>
          <a:blip r:embed="rId1"/>
          <a:stretch>
            <a:fillRect/>
          </a:stretch>
        </p:blipFill>
        <p:spPr>
          <a:xfrm>
            <a:off x="548640" y="822960"/>
            <a:ext cx="4846320" cy="3634740"/>
          </a:xfrm>
          <a:prstGeom prst="rect">
            <a:avLst/>
          </a:prstGeom>
        </p:spPr>
      </p:pic>
      <p:sp>
        <p:nvSpPr>
          <p:cNvPr id="7" name="Text 3"/>
          <p:cNvSpPr txBox="1"/>
          <p:nvPr/>
        </p:nvSpPr>
        <p:spPr>
          <a:xfrm>
            <a:off x="5806440" y="822960"/>
            <a:ext cx="2788920" cy="1463040"/>
          </a:xfrm>
          <a:prstGeom prst="rect">
            <a:avLst/>
          </a:prstGeom>
          <a:noFill/>
          <a:ln/>
        </p:spPr>
        <p:txBody>
          <a:bodyPr wrap="square" lIns="0" tIns="0" rIns="0" bIns="0" rtlCol="0" anchor="t"/>
          <a:lstStyle/>
          <a:p>
            <a:pPr algn="l" indent="0" marL="0">
              <a:lnSpc>
                <a:spcPct val="115000"/>
              </a:lnSpc>
              <a:buNone/>
            </a:pPr>
            <a:r>
              <a:rPr lang="en-US" sz="2400" b="1" spc="-100" kern="0" dirty="0">
                <a:solidFill>
                  <a:srgbClr val="111111"/>
                </a:solidFill>
                <a:latin typeface="Pretendard" pitchFamily="34" charset="0"/>
                <a:ea typeface="Pretendard" pitchFamily="34" charset="-122"/>
                <a:cs typeface="Pretendard" pitchFamily="34" charset="-120"/>
              </a:rPr>
              <a:t>멈춘 이유와</a:t>
            </a:r>
            <a:endParaRPr lang="en-US" sz="2400" dirty="0"/>
          </a:p>
          <a:p>
            <a:pPr algn="l" indent="0" marL="0">
              <a:lnSpc>
                <a:spcPct val="115000"/>
              </a:lnSpc>
              <a:buNone/>
            </a:pPr>
            <a:r>
              <a:rPr lang="en-US" sz="2400" b="1" spc="-100" kern="0" dirty="0">
                <a:solidFill>
                  <a:srgbClr val="111111"/>
                </a:solidFill>
                <a:latin typeface="Pretendard" pitchFamily="34" charset="0"/>
                <a:ea typeface="Pretendard" pitchFamily="34" charset="-122"/>
                <a:cs typeface="Pretendard" pitchFamily="34" charset="-120"/>
              </a:rPr>
              <a:t>빠져나갈 길이</a:t>
            </a:r>
            <a:endParaRPr lang="en-US" sz="2400" dirty="0"/>
          </a:p>
          <a:p>
            <a:pPr algn="l" indent="0" marL="0">
              <a:lnSpc>
                <a:spcPct val="115000"/>
              </a:lnSpc>
              <a:buNone/>
            </a:pPr>
            <a:r>
              <a:rPr lang="en-US" sz="2400" b="1" spc="-100" kern="0" dirty="0">
                <a:solidFill>
                  <a:srgbClr val="111111"/>
                </a:solidFill>
                <a:latin typeface="Pretendard" pitchFamily="34" charset="0"/>
                <a:ea typeface="Pretendard" pitchFamily="34" charset="-122"/>
                <a:cs typeface="Pretendard" pitchFamily="34" charset="-120"/>
              </a:rPr>
              <a:t>보인다.</a:t>
            </a:r>
            <a:endParaRPr lang="en-US" sz="2400" dirty="0"/>
          </a:p>
        </p:txBody>
      </p:sp>
      <p:sp>
        <p:nvSpPr>
          <p:cNvPr id="8" name="Shape 4"/>
          <p:cNvSpPr/>
          <p:nvPr/>
        </p:nvSpPr>
        <p:spPr>
          <a:xfrm>
            <a:off x="5806440" y="2606040"/>
            <a:ext cx="2788920" cy="0"/>
          </a:xfrm>
          <a:prstGeom prst="line">
            <a:avLst/>
          </a:prstGeom>
          <a:noFill/>
          <a:ln w="9525">
            <a:solidFill>
              <a:srgbClr val="DDDDDD"/>
            </a:solidFill>
            <a:prstDash val="solid"/>
          </a:ln>
        </p:spPr>
      </p:sp>
      <p:sp>
        <p:nvSpPr>
          <p:cNvPr id="9" name="Text 5"/>
          <p:cNvSpPr txBox="1"/>
          <p:nvPr/>
        </p:nvSpPr>
        <p:spPr>
          <a:xfrm>
            <a:off x="5806440" y="2724912"/>
            <a:ext cx="1005840" cy="274320"/>
          </a:xfrm>
          <a:prstGeom prst="rect">
            <a:avLst/>
          </a:prstGeom>
          <a:noFill/>
          <a:ln/>
        </p:spPr>
        <p:txBody>
          <a:bodyPr wrap="square" lIns="0" tIns="0" rIns="0" bIns="0" rtlCol="0" anchor="t"/>
          <a:lstStyle/>
          <a:p>
            <a:pPr algn="l" indent="0" marL="0">
              <a:lnSpc>
                <a:spcPct val="100000"/>
              </a:lnSpc>
              <a:buNone/>
            </a:pPr>
            <a:r>
              <a:rPr lang="en-US" sz="1250" b="1" dirty="0">
                <a:solidFill>
                  <a:srgbClr val="111111"/>
                </a:solidFill>
                <a:latin typeface="Pretendard" pitchFamily="34" charset="0"/>
                <a:ea typeface="Pretendard" pitchFamily="34" charset="-122"/>
                <a:cs typeface="Pretendard" pitchFamily="34" charset="-120"/>
              </a:rPr>
              <a:t>빨간 띠</a:t>
            </a:r>
            <a:endParaRPr lang="en-US" sz="1250" dirty="0"/>
          </a:p>
        </p:txBody>
      </p:sp>
      <p:sp>
        <p:nvSpPr>
          <p:cNvPr id="10" name="Text 6"/>
          <p:cNvSpPr txBox="1"/>
          <p:nvPr/>
        </p:nvSpPr>
        <p:spPr>
          <a:xfrm>
            <a:off x="6858000" y="2724912"/>
            <a:ext cx="1737360" cy="274320"/>
          </a:xfrm>
          <a:prstGeom prst="rect">
            <a:avLst/>
          </a:prstGeom>
          <a:noFill/>
          <a:ln/>
        </p:spPr>
        <p:txBody>
          <a:bodyPr wrap="square" lIns="0" tIns="0" rIns="0" bIns="0" rtlCol="0" anchor="t"/>
          <a:lstStyle/>
          <a:p>
            <a:pPr algn="l" indent="0" marL="0">
              <a:lnSpc>
                <a:spcPct val="100000"/>
              </a:lnSpc>
              <a:buNone/>
            </a:pPr>
            <a:r>
              <a:rPr lang="en-US" sz="1250" dirty="0">
                <a:solidFill>
                  <a:srgbClr val="6B6B6B"/>
                </a:solidFill>
                <a:latin typeface="Pretendard" pitchFamily="34" charset="0"/>
                <a:ea typeface="Pretendard" pitchFamily="34" charset="-122"/>
                <a:cs typeface="Pretendard" pitchFamily="34" charset="-120"/>
              </a:rPr>
              <a:t>왜 멈췄는가</a:t>
            </a:r>
            <a:endParaRPr lang="en-US" sz="1250" dirty="0"/>
          </a:p>
        </p:txBody>
      </p:sp>
      <p:sp>
        <p:nvSpPr>
          <p:cNvPr id="11" name="Shape 7"/>
          <p:cNvSpPr/>
          <p:nvPr/>
        </p:nvSpPr>
        <p:spPr>
          <a:xfrm>
            <a:off x="5806440" y="3154680"/>
            <a:ext cx="2788920" cy="0"/>
          </a:xfrm>
          <a:prstGeom prst="line">
            <a:avLst/>
          </a:prstGeom>
          <a:noFill/>
          <a:ln w="9525">
            <a:solidFill>
              <a:srgbClr val="DDDDDD"/>
            </a:solidFill>
            <a:prstDash val="solid"/>
          </a:ln>
        </p:spPr>
      </p:sp>
      <p:sp>
        <p:nvSpPr>
          <p:cNvPr id="12" name="Text 8"/>
          <p:cNvSpPr txBox="1"/>
          <p:nvPr/>
        </p:nvSpPr>
        <p:spPr>
          <a:xfrm>
            <a:off x="5806440" y="3273552"/>
            <a:ext cx="1005840" cy="274320"/>
          </a:xfrm>
          <a:prstGeom prst="rect">
            <a:avLst/>
          </a:prstGeom>
          <a:noFill/>
          <a:ln/>
        </p:spPr>
        <p:txBody>
          <a:bodyPr wrap="square" lIns="0" tIns="0" rIns="0" bIns="0" rtlCol="0" anchor="t"/>
          <a:lstStyle/>
          <a:p>
            <a:pPr algn="l" indent="0" marL="0">
              <a:lnSpc>
                <a:spcPct val="100000"/>
              </a:lnSpc>
              <a:buNone/>
            </a:pPr>
            <a:r>
              <a:rPr lang="en-US" sz="1250" b="1" dirty="0">
                <a:solidFill>
                  <a:srgbClr val="111111"/>
                </a:solidFill>
                <a:latin typeface="Pretendard" pitchFamily="34" charset="0"/>
                <a:ea typeface="Pretendard" pitchFamily="34" charset="-122"/>
                <a:cs typeface="Pretendard" pitchFamily="34" charset="-120"/>
              </a:rPr>
              <a:t>초록 띠</a:t>
            </a:r>
            <a:endParaRPr lang="en-US" sz="1250" dirty="0"/>
          </a:p>
        </p:txBody>
      </p:sp>
      <p:sp>
        <p:nvSpPr>
          <p:cNvPr id="13" name="Text 9"/>
          <p:cNvSpPr txBox="1"/>
          <p:nvPr/>
        </p:nvSpPr>
        <p:spPr>
          <a:xfrm>
            <a:off x="6858000" y="3273552"/>
            <a:ext cx="1737360" cy="274320"/>
          </a:xfrm>
          <a:prstGeom prst="rect">
            <a:avLst/>
          </a:prstGeom>
          <a:noFill/>
          <a:ln/>
        </p:spPr>
        <p:txBody>
          <a:bodyPr wrap="square" lIns="0" tIns="0" rIns="0" bIns="0" rtlCol="0" anchor="t"/>
          <a:lstStyle/>
          <a:p>
            <a:pPr algn="l" indent="0" marL="0">
              <a:lnSpc>
                <a:spcPct val="100000"/>
              </a:lnSpc>
              <a:buNone/>
            </a:pPr>
            <a:r>
              <a:rPr lang="en-US" sz="1250" dirty="0">
                <a:solidFill>
                  <a:srgbClr val="6B6B6B"/>
                </a:solidFill>
                <a:latin typeface="Pretendard" pitchFamily="34" charset="0"/>
                <a:ea typeface="Pretendard" pitchFamily="34" charset="-122"/>
                <a:cs typeface="Pretendard" pitchFamily="34" charset="-120"/>
              </a:rPr>
              <a:t>어디로 빠져나갈까</a:t>
            </a:r>
            <a:endParaRPr lang="en-US" sz="1250" dirty="0"/>
          </a:p>
        </p:txBody>
      </p:sp>
      <p:sp>
        <p:nvSpPr>
          <p:cNvPr id="14" name="Shape 10"/>
          <p:cNvSpPr/>
          <p:nvPr/>
        </p:nvSpPr>
        <p:spPr>
          <a:xfrm>
            <a:off x="5806440" y="3703320"/>
            <a:ext cx="2788920" cy="0"/>
          </a:xfrm>
          <a:prstGeom prst="line">
            <a:avLst/>
          </a:prstGeom>
          <a:noFill/>
          <a:ln w="9525">
            <a:solidFill>
              <a:srgbClr val="DDDDDD"/>
            </a:solidFill>
            <a:prstDash val="solid"/>
          </a:ln>
        </p:spPr>
      </p:sp>
      <p:sp>
        <p:nvSpPr>
          <p:cNvPr id="15" name="Text 11"/>
          <p:cNvSpPr txBox="1"/>
          <p:nvPr/>
        </p:nvSpPr>
        <p:spPr>
          <a:xfrm>
            <a:off x="5806440" y="3822192"/>
            <a:ext cx="1005840" cy="274320"/>
          </a:xfrm>
          <a:prstGeom prst="rect">
            <a:avLst/>
          </a:prstGeom>
          <a:noFill/>
          <a:ln/>
        </p:spPr>
        <p:txBody>
          <a:bodyPr wrap="square" lIns="0" tIns="0" rIns="0" bIns="0" rtlCol="0" anchor="t"/>
          <a:lstStyle/>
          <a:p>
            <a:pPr algn="l" indent="0" marL="0">
              <a:lnSpc>
                <a:spcPct val="100000"/>
              </a:lnSpc>
              <a:buNone/>
            </a:pPr>
            <a:r>
              <a:rPr lang="en-US" sz="1250" b="1" dirty="0">
                <a:solidFill>
                  <a:srgbClr val="111111"/>
                </a:solidFill>
                <a:latin typeface="Pretendard" pitchFamily="34" charset="0"/>
                <a:ea typeface="Pretendard" pitchFamily="34" charset="-122"/>
                <a:cs typeface="Pretendard" pitchFamily="34" charset="-120"/>
              </a:rPr>
              <a:t>화살표</a:t>
            </a:r>
            <a:endParaRPr lang="en-US" sz="1250" dirty="0"/>
          </a:p>
        </p:txBody>
      </p:sp>
      <p:sp>
        <p:nvSpPr>
          <p:cNvPr id="16" name="Text 12"/>
          <p:cNvSpPr txBox="1"/>
          <p:nvPr/>
        </p:nvSpPr>
        <p:spPr>
          <a:xfrm>
            <a:off x="6858000" y="3822192"/>
            <a:ext cx="1737360" cy="274320"/>
          </a:xfrm>
          <a:prstGeom prst="rect">
            <a:avLst/>
          </a:prstGeom>
          <a:noFill/>
          <a:ln/>
        </p:spPr>
        <p:txBody>
          <a:bodyPr wrap="square" lIns="0" tIns="0" rIns="0" bIns="0" rtlCol="0" anchor="t"/>
          <a:lstStyle/>
          <a:p>
            <a:pPr algn="l" indent="0" marL="0">
              <a:lnSpc>
                <a:spcPct val="100000"/>
              </a:lnSpc>
              <a:buNone/>
            </a:pPr>
            <a:r>
              <a:rPr lang="en-US" sz="1250" dirty="0">
                <a:solidFill>
                  <a:srgbClr val="6B6B6B"/>
                </a:solidFill>
                <a:latin typeface="Pretendard" pitchFamily="34" charset="0"/>
                <a:ea typeface="Pretendard" pitchFamily="34" charset="-122"/>
                <a:cs typeface="Pretendard" pitchFamily="34" charset="-120"/>
              </a:rPr>
              <a:t>어느 쪽으로 돌까</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4572000" cy="201168"/>
          </a:xfrm>
          <a:prstGeom prst="rect">
            <a:avLst/>
          </a:prstGeom>
          <a:noFill/>
          <a:ln/>
        </p:spPr>
        <p:txBody>
          <a:bodyPr wrap="square" lIns="0" tIns="0" rIns="0" bIns="0" rtlCol="0" anchor="ctr"/>
          <a:lstStyle/>
          <a:p>
            <a:pPr algn="l" indent="0" marL="0">
              <a:lnSpc>
                <a:spcPct val="100000"/>
              </a:lnSpc>
              <a:buNone/>
            </a:pPr>
            <a:r>
              <a:rPr lang="en-US" sz="900" dirty="0">
                <a:solidFill>
                  <a:srgbClr val="6B6B6B"/>
                </a:solidFill>
                <a:latin typeface="Pretendard" pitchFamily="34" charset="0"/>
                <a:ea typeface="Pretendard" pitchFamily="34" charset="-122"/>
                <a:cs typeface="Pretendard" pitchFamily="34" charset="-120"/>
              </a:rPr>
              <a:t>05  성과</a:t>
            </a:r>
            <a:endParaRPr lang="en-US" sz="900" dirty="0"/>
          </a:p>
        </p:txBody>
      </p:sp>
      <p:sp>
        <p:nvSpPr>
          <p:cNvPr id="3" name="Text 1"/>
          <p:cNvSpPr txBox="1"/>
          <p:nvPr/>
        </p:nvSpPr>
        <p:spPr>
          <a:xfrm>
            <a:off x="7223760" y="384048"/>
            <a:ext cx="1371600" cy="201168"/>
          </a:xfrm>
          <a:prstGeom prst="rect">
            <a:avLst/>
          </a:prstGeom>
          <a:noFill/>
          <a:ln/>
        </p:spPr>
        <p:txBody>
          <a:bodyPr wrap="square" lIns="0" tIns="0" rIns="0" bIns="0" rtlCol="0" anchor="ctr"/>
          <a:lstStyle/>
          <a:p>
            <a:pPr algn="r" indent="0" marL="0">
              <a:lnSpc>
                <a:spcPct val="100000"/>
              </a:lnSpc>
              <a:buNone/>
            </a:pPr>
            <a:r>
              <a:rPr lang="en-US" sz="900" dirty="0">
                <a:solidFill>
                  <a:srgbClr val="6B6B6B"/>
                </a:solidFill>
                <a:latin typeface="Pretendard" pitchFamily="34" charset="0"/>
                <a:ea typeface="Pretendard" pitchFamily="34" charset="-122"/>
                <a:cs typeface="Pretendard" pitchFamily="34" charset="-120"/>
              </a:rPr>
              <a:t>0:30</a:t>
            </a:r>
            <a:endParaRPr lang="en-US" sz="900" dirty="0"/>
          </a:p>
        </p:txBody>
      </p:sp>
      <p:sp>
        <p:nvSpPr>
          <p:cNvPr id="4" name="Text 2"/>
          <p:cNvSpPr txBox="1"/>
          <p:nvPr/>
        </p:nvSpPr>
        <p:spPr>
          <a:xfrm>
            <a:off x="8138160" y="4732020"/>
            <a:ext cx="457200" cy="182880"/>
          </a:xfrm>
          <a:prstGeom prst="rect">
            <a:avLst/>
          </a:prstGeom>
          <a:noFill/>
          <a:ln/>
        </p:spPr>
        <p:txBody>
          <a:bodyPr wrap="square" lIns="0" tIns="0" rIns="0" bIns="0" rtlCol="0" anchor="t"/>
          <a:lstStyle/>
          <a:p>
            <a:pPr algn="r" indent="0" marL="0">
              <a:lnSpc>
                <a:spcPct val="100000"/>
              </a:lnSpc>
              <a:buNone/>
            </a:pPr>
            <a:r>
              <a:rPr lang="en-US" sz="800" dirty="0">
                <a:solidFill>
                  <a:srgbClr val="A3A3A3"/>
                </a:solidFill>
                <a:latin typeface="Pretendard" pitchFamily="34" charset="0"/>
                <a:ea typeface="Pretendard" pitchFamily="34" charset="-122"/>
                <a:cs typeface="Pretendard" pitchFamily="34" charset="-120"/>
              </a:rPr>
              <a:t>08</a:t>
            </a:r>
            <a:endParaRPr lang="en-US" sz="800" dirty="0"/>
          </a:p>
        </p:txBody>
      </p:sp>
      <p:sp>
        <p:nvSpPr>
          <p:cNvPr id="6" name="Text 3"/>
          <p:cNvSpPr txBox="1"/>
          <p:nvPr/>
        </p:nvSpPr>
        <p:spPr>
          <a:xfrm>
            <a:off x="548640" y="822960"/>
            <a:ext cx="8046720" cy="1097280"/>
          </a:xfrm>
          <a:prstGeom prst="rect">
            <a:avLst/>
          </a:prstGeom>
          <a:noFill/>
          <a:ln/>
        </p:spPr>
        <p:txBody>
          <a:bodyPr wrap="square" lIns="0" tIns="0" rIns="0" bIns="0" rtlCol="0" anchor="t"/>
          <a:lstStyle/>
          <a:p>
            <a:pPr algn="l" indent="0" marL="0">
              <a:lnSpc>
                <a:spcPct val="115000"/>
              </a:lnSpc>
              <a:buNone/>
            </a:pPr>
            <a:r>
              <a:rPr lang="en-US" sz="3000" b="1" spc="-100" kern="0" dirty="0">
                <a:solidFill>
                  <a:srgbClr val="111111"/>
                </a:solidFill>
                <a:latin typeface="Pretendard" pitchFamily="34" charset="0"/>
                <a:ea typeface="Pretendard" pitchFamily="34" charset="-122"/>
                <a:cs typeface="Pretendard" pitchFamily="34" charset="-120"/>
              </a:rPr>
              <a:t>멈춤은 같아도, 푸는 방법이 바뀐다.</a:t>
            </a:r>
            <a:endParaRPr lang="en-US" sz="3000" dirty="0"/>
          </a:p>
        </p:txBody>
      </p:sp>
      <p:sp>
        <p:nvSpPr>
          <p:cNvPr id="7" name="Text 4"/>
          <p:cNvSpPr txBox="1"/>
          <p:nvPr/>
        </p:nvSpPr>
        <p:spPr>
          <a:xfrm>
            <a:off x="731520" y="1892808"/>
            <a:ext cx="3474720" cy="228600"/>
          </a:xfrm>
          <a:prstGeom prst="rect">
            <a:avLst/>
          </a:prstGeom>
          <a:noFill/>
          <a:ln/>
        </p:spPr>
        <p:txBody>
          <a:bodyPr wrap="square" lIns="0" tIns="0" rIns="0" bIns="0" rtlCol="0" anchor="t"/>
          <a:lstStyle/>
          <a:p>
            <a:pPr algn="l" indent="0" marL="0">
              <a:lnSpc>
                <a:spcPct val="100000"/>
              </a:lnSpc>
              <a:buNone/>
            </a:pPr>
            <a:r>
              <a:rPr lang="en-US" sz="1050" dirty="0">
                <a:solidFill>
                  <a:srgbClr val="6B6B6B"/>
                </a:solidFill>
                <a:latin typeface="Pretendard" pitchFamily="34" charset="0"/>
                <a:ea typeface="Pretendard" pitchFamily="34" charset="-122"/>
                <a:cs typeface="Pretendard" pitchFamily="34" charset="-120"/>
              </a:rPr>
              <a:t>Before</a:t>
            </a:r>
            <a:endParaRPr lang="en-US" sz="1050" dirty="0"/>
          </a:p>
        </p:txBody>
      </p:sp>
      <p:sp>
        <p:nvSpPr>
          <p:cNvPr id="8" name="Text 5"/>
          <p:cNvSpPr txBox="1"/>
          <p:nvPr/>
        </p:nvSpPr>
        <p:spPr>
          <a:xfrm>
            <a:off x="731520" y="2194560"/>
            <a:ext cx="3474720" cy="548640"/>
          </a:xfrm>
          <a:prstGeom prst="rect">
            <a:avLst/>
          </a:prstGeom>
          <a:noFill/>
          <a:ln/>
        </p:spPr>
        <p:txBody>
          <a:bodyPr wrap="square" lIns="0" tIns="0" rIns="0" bIns="0" rtlCol="0" anchor="t"/>
          <a:lstStyle/>
          <a:p>
            <a:pPr algn="l" indent="0" marL="0">
              <a:lnSpc>
                <a:spcPct val="130000"/>
              </a:lnSpc>
              <a:buNone/>
            </a:pPr>
            <a:r>
              <a:rPr lang="en-US" sz="1550" dirty="0">
                <a:solidFill>
                  <a:srgbClr val="6B6B6B"/>
                </a:solidFill>
                <a:latin typeface="Pretendard" pitchFamily="34" charset="0"/>
                <a:ea typeface="Pretendard" pitchFamily="34" charset="-122"/>
                <a:cs typeface="Pretendard" pitchFamily="34" charset="-120"/>
              </a:rPr>
              <a:t>비상정지 후 관리자가 현장까지 걸어간다</a:t>
            </a:r>
            <a:endParaRPr lang="en-US" sz="1550" dirty="0"/>
          </a:p>
        </p:txBody>
      </p:sp>
      <p:sp>
        <p:nvSpPr>
          <p:cNvPr id="9" name="Shape 6"/>
          <p:cNvSpPr/>
          <p:nvPr/>
        </p:nvSpPr>
        <p:spPr>
          <a:xfrm>
            <a:off x="4754880" y="1783080"/>
            <a:ext cx="3840480" cy="1051560"/>
          </a:xfrm>
          <a:prstGeom prst="rect">
            <a:avLst/>
          </a:prstGeom>
          <a:solidFill>
            <a:srgbClr val="F5B800"/>
          </a:solidFill>
          <a:ln w="12700">
            <a:solidFill>
              <a:srgbClr val="F5B800"/>
            </a:solidFill>
            <a:prstDash val="solid"/>
          </a:ln>
        </p:spPr>
      </p:sp>
      <p:sp>
        <p:nvSpPr>
          <p:cNvPr id="10" name="Text 7"/>
          <p:cNvSpPr txBox="1"/>
          <p:nvPr/>
        </p:nvSpPr>
        <p:spPr>
          <a:xfrm>
            <a:off x="4937760" y="1892808"/>
            <a:ext cx="3474720" cy="228600"/>
          </a:xfrm>
          <a:prstGeom prst="rect">
            <a:avLst/>
          </a:prstGeom>
          <a:noFill/>
          <a:ln/>
        </p:spPr>
        <p:txBody>
          <a:bodyPr wrap="square" lIns="0" tIns="0" rIns="0" bIns="0" rtlCol="0" anchor="t"/>
          <a:lstStyle/>
          <a:p>
            <a:pPr algn="l" indent="0" marL="0">
              <a:lnSpc>
                <a:spcPct val="100000"/>
              </a:lnSpc>
              <a:buNone/>
            </a:pPr>
            <a:r>
              <a:rPr lang="en-US" sz="1050" dirty="0">
                <a:solidFill>
                  <a:srgbClr val="111111"/>
                </a:solidFill>
                <a:latin typeface="Pretendard" pitchFamily="34" charset="0"/>
                <a:ea typeface="Pretendard" pitchFamily="34" charset="-122"/>
                <a:cs typeface="Pretendard" pitchFamily="34" charset="-120"/>
              </a:rPr>
              <a:t>After</a:t>
            </a:r>
            <a:endParaRPr lang="en-US" sz="1050" dirty="0"/>
          </a:p>
        </p:txBody>
      </p:sp>
      <p:sp>
        <p:nvSpPr>
          <p:cNvPr id="11" name="Text 8"/>
          <p:cNvSpPr txBox="1"/>
          <p:nvPr/>
        </p:nvSpPr>
        <p:spPr>
          <a:xfrm>
            <a:off x="4937760" y="2194560"/>
            <a:ext cx="3474720" cy="548640"/>
          </a:xfrm>
          <a:prstGeom prst="rect">
            <a:avLst/>
          </a:prstGeom>
          <a:noFill/>
          <a:ln/>
        </p:spPr>
        <p:txBody>
          <a:bodyPr wrap="square" lIns="0" tIns="0" rIns="0" bIns="0" rtlCol="0" anchor="t"/>
          <a:lstStyle/>
          <a:p>
            <a:pPr algn="l" indent="0" marL="0">
              <a:lnSpc>
                <a:spcPct val="130000"/>
              </a:lnSpc>
              <a:buNone/>
            </a:pPr>
            <a:r>
              <a:rPr lang="en-US" sz="1550" b="1" dirty="0">
                <a:solidFill>
                  <a:srgbClr val="111111"/>
                </a:solidFill>
                <a:latin typeface="Pretendard" pitchFamily="34" charset="0"/>
                <a:ea typeface="Pretendard" pitchFamily="34" charset="-122"/>
                <a:cs typeface="Pretendard" pitchFamily="34" charset="-120"/>
              </a:rPr>
              <a:t>관제석에서 클릭 한 번, VR로 바로 빼낸다</a:t>
            </a:r>
            <a:endParaRPr lang="en-US" sz="1550" dirty="0"/>
          </a:p>
        </p:txBody>
      </p:sp>
      <p:sp>
        <p:nvSpPr>
          <p:cNvPr id="12" name="Text 9"/>
          <p:cNvSpPr txBox="1"/>
          <p:nvPr/>
        </p:nvSpPr>
        <p:spPr>
          <a:xfrm>
            <a:off x="548640" y="3154680"/>
            <a:ext cx="2499360" cy="548640"/>
          </a:xfrm>
          <a:prstGeom prst="rect">
            <a:avLst/>
          </a:prstGeom>
          <a:noFill/>
          <a:ln/>
        </p:spPr>
        <p:txBody>
          <a:bodyPr wrap="square" lIns="0" tIns="0" rIns="0" bIns="0" rtlCol="0" anchor="ctr"/>
          <a:lstStyle/>
          <a:p>
            <a:pPr algn="l" indent="0" marL="0">
              <a:lnSpc>
                <a:spcPct val="100000"/>
              </a:lnSpc>
              <a:buNone/>
            </a:pPr>
            <a:r>
              <a:rPr lang="en-US" sz="3000" b="1" spc="-100" kern="0" dirty="0">
                <a:solidFill>
                  <a:srgbClr val="111111"/>
                </a:solidFill>
                <a:latin typeface="Pretendard" pitchFamily="34" charset="0"/>
                <a:ea typeface="Pretendard" pitchFamily="34" charset="-122"/>
                <a:cs typeface="Pretendard" pitchFamily="34" charset="-120"/>
              </a:rPr>
              <a:t>78/78</a:t>
            </a:r>
            <a:endParaRPr lang="en-US" sz="3000" dirty="0"/>
          </a:p>
        </p:txBody>
      </p:sp>
      <p:sp>
        <p:nvSpPr>
          <p:cNvPr id="13" name="Text 10"/>
          <p:cNvSpPr txBox="1"/>
          <p:nvPr/>
        </p:nvSpPr>
        <p:spPr>
          <a:xfrm>
            <a:off x="548640" y="3730752"/>
            <a:ext cx="2499360" cy="274320"/>
          </a:xfrm>
          <a:prstGeom prst="rect">
            <a:avLst/>
          </a:prstGeom>
          <a:noFill/>
          <a:ln/>
        </p:spPr>
        <p:txBody>
          <a:bodyPr wrap="square" lIns="0" tIns="0" rIns="0" bIns="0" rtlCol="0" anchor="t"/>
          <a:lstStyle/>
          <a:p>
            <a:pPr algn="l" indent="0" marL="0">
              <a:lnSpc>
                <a:spcPct val="100000"/>
              </a:lnSpc>
              <a:buNone/>
            </a:pPr>
            <a:r>
              <a:rPr lang="en-US" sz="1100" dirty="0">
                <a:solidFill>
                  <a:srgbClr val="6B6B6B"/>
                </a:solidFill>
                <a:latin typeface="Pretendard" pitchFamily="34" charset="0"/>
                <a:ea typeface="Pretendard" pitchFamily="34" charset="-122"/>
                <a:cs typeface="Pretendard" pitchFamily="34" charset="-120"/>
              </a:rPr>
              <a:t>E2E 자동 시험</a:t>
            </a:r>
            <a:endParaRPr lang="en-US" sz="1100" dirty="0"/>
          </a:p>
        </p:txBody>
      </p:sp>
      <p:sp>
        <p:nvSpPr>
          <p:cNvPr id="14" name="Text 11"/>
          <p:cNvSpPr txBox="1"/>
          <p:nvPr/>
        </p:nvSpPr>
        <p:spPr>
          <a:xfrm>
            <a:off x="3230880" y="3154680"/>
            <a:ext cx="2499360" cy="548640"/>
          </a:xfrm>
          <a:prstGeom prst="rect">
            <a:avLst/>
          </a:prstGeom>
          <a:noFill/>
          <a:ln/>
        </p:spPr>
        <p:txBody>
          <a:bodyPr wrap="square" lIns="0" tIns="0" rIns="0" bIns="0" rtlCol="0" anchor="ctr"/>
          <a:lstStyle/>
          <a:p>
            <a:pPr algn="l" indent="0" marL="0">
              <a:lnSpc>
                <a:spcPct val="100000"/>
              </a:lnSpc>
              <a:buNone/>
            </a:pPr>
            <a:r>
              <a:rPr lang="en-US" sz="3000" b="1" spc="-100" kern="0" dirty="0">
                <a:solidFill>
                  <a:srgbClr val="111111"/>
                </a:solidFill>
                <a:latin typeface="Pretendard" pitchFamily="34" charset="0"/>
                <a:ea typeface="Pretendard" pitchFamily="34" charset="-122"/>
                <a:cs typeface="Pretendard" pitchFamily="34" charset="-120"/>
              </a:rPr>
              <a:t>10회</a:t>
            </a:r>
            <a:endParaRPr lang="en-US" sz="3000" dirty="0"/>
          </a:p>
        </p:txBody>
      </p:sp>
      <p:sp>
        <p:nvSpPr>
          <p:cNvPr id="15" name="Text 12"/>
          <p:cNvSpPr txBox="1"/>
          <p:nvPr/>
        </p:nvSpPr>
        <p:spPr>
          <a:xfrm>
            <a:off x="3230880" y="3730752"/>
            <a:ext cx="2499360" cy="274320"/>
          </a:xfrm>
          <a:prstGeom prst="rect">
            <a:avLst/>
          </a:prstGeom>
          <a:noFill/>
          <a:ln/>
        </p:spPr>
        <p:txBody>
          <a:bodyPr wrap="square" lIns="0" tIns="0" rIns="0" bIns="0" rtlCol="0" anchor="t"/>
          <a:lstStyle/>
          <a:p>
            <a:pPr algn="l" indent="0" marL="0">
              <a:lnSpc>
                <a:spcPct val="100000"/>
              </a:lnSpc>
              <a:buNone/>
            </a:pPr>
            <a:r>
              <a:rPr lang="en-US" sz="1100" dirty="0">
                <a:solidFill>
                  <a:srgbClr val="6B6B6B"/>
                </a:solidFill>
                <a:latin typeface="Pretendard" pitchFamily="34" charset="0"/>
                <a:ea typeface="Pretendard" pitchFamily="34" charset="-122"/>
                <a:cs typeface="Pretendard" pitchFamily="34" charset="-120"/>
              </a:rPr>
              <a:t>반복 무결점</a:t>
            </a:r>
            <a:endParaRPr lang="en-US" sz="1100" dirty="0"/>
          </a:p>
        </p:txBody>
      </p:sp>
      <p:sp>
        <p:nvSpPr>
          <p:cNvPr id="16" name="Text 13"/>
          <p:cNvSpPr txBox="1"/>
          <p:nvPr/>
        </p:nvSpPr>
        <p:spPr>
          <a:xfrm>
            <a:off x="5913120" y="3154680"/>
            <a:ext cx="2499360" cy="548640"/>
          </a:xfrm>
          <a:prstGeom prst="rect">
            <a:avLst/>
          </a:prstGeom>
          <a:noFill/>
          <a:ln/>
        </p:spPr>
        <p:txBody>
          <a:bodyPr wrap="square" lIns="0" tIns="0" rIns="0" bIns="0" rtlCol="0" anchor="ctr"/>
          <a:lstStyle/>
          <a:p>
            <a:pPr algn="l" indent="0" marL="0">
              <a:lnSpc>
                <a:spcPct val="100000"/>
              </a:lnSpc>
              <a:buNone/>
            </a:pPr>
            <a:r>
              <a:rPr lang="en-US" sz="3000" b="1" spc="-100" kern="0" dirty="0">
                <a:solidFill>
                  <a:srgbClr val="111111"/>
                </a:solidFill>
                <a:latin typeface="Pretendard" pitchFamily="34" charset="0"/>
                <a:ea typeface="Pretendard" pitchFamily="34" charset="-122"/>
                <a:cs typeface="Pretendard" pitchFamily="34" charset="-120"/>
              </a:rPr>
              <a:t>0건</a:t>
            </a:r>
            <a:endParaRPr lang="en-US" sz="3000" dirty="0"/>
          </a:p>
        </p:txBody>
      </p:sp>
      <p:sp>
        <p:nvSpPr>
          <p:cNvPr id="17" name="Text 14"/>
          <p:cNvSpPr txBox="1"/>
          <p:nvPr/>
        </p:nvSpPr>
        <p:spPr>
          <a:xfrm>
            <a:off x="5913120" y="3730752"/>
            <a:ext cx="2499360" cy="274320"/>
          </a:xfrm>
          <a:prstGeom prst="rect">
            <a:avLst/>
          </a:prstGeom>
          <a:noFill/>
          <a:ln/>
        </p:spPr>
        <p:txBody>
          <a:bodyPr wrap="square" lIns="0" tIns="0" rIns="0" bIns="0" rtlCol="0" anchor="t"/>
          <a:lstStyle/>
          <a:p>
            <a:pPr algn="l" indent="0" marL="0">
              <a:lnSpc>
                <a:spcPct val="100000"/>
              </a:lnSpc>
              <a:buNone/>
            </a:pPr>
            <a:r>
              <a:rPr lang="en-US" sz="1100" dirty="0">
                <a:solidFill>
                  <a:srgbClr val="6B6B6B"/>
                </a:solidFill>
                <a:latin typeface="Pretendard" pitchFamily="34" charset="0"/>
                <a:ea typeface="Pretendard" pitchFamily="34" charset="-122"/>
                <a:cs typeface="Pretendard" pitchFamily="34" charset="-120"/>
              </a:rPr>
              <a:t>300초 부하 안전 위반</a:t>
            </a:r>
            <a:endParaRPr lang="en-US" sz="1100" dirty="0"/>
          </a:p>
        </p:txBody>
      </p:sp>
      <p:sp>
        <p:nvSpPr>
          <p:cNvPr id="18" name="Text 15"/>
          <p:cNvSpPr txBox="1"/>
          <p:nvPr/>
        </p:nvSpPr>
        <p:spPr>
          <a:xfrm>
            <a:off x="548640" y="4434840"/>
            <a:ext cx="8046720" cy="228600"/>
          </a:xfrm>
          <a:prstGeom prst="rect">
            <a:avLst/>
          </a:prstGeom>
          <a:noFill/>
          <a:ln/>
        </p:spPr>
        <p:txBody>
          <a:bodyPr wrap="square" lIns="0" tIns="0" rIns="0" bIns="0" rtlCol="0" anchor="t"/>
          <a:lstStyle/>
          <a:p>
            <a:pPr algn="l" indent="0" marL="0">
              <a:lnSpc>
                <a:spcPct val="100000"/>
              </a:lnSpc>
              <a:buNone/>
            </a:pPr>
            <a:r>
              <a:rPr lang="en-US" sz="900" dirty="0">
                <a:solidFill>
                  <a:srgbClr val="6B6B6B"/>
                </a:solidFill>
                <a:latin typeface="Pretendard" pitchFamily="34" charset="0"/>
                <a:ea typeface="Pretendard" pitchFamily="34" charset="-122"/>
                <a:cs typeface="Pretendard" pitchFamily="34" charset="-120"/>
              </a:rPr>
              <a:t>사용자 검증: 팀원이 관제사·조작자 역할로 실물 2대 확인. 외부 사용자 평가와 현장 정지 시간 측정은 다음 단계.</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4572000" cy="201168"/>
          </a:xfrm>
          <a:prstGeom prst="rect">
            <a:avLst/>
          </a:prstGeom>
          <a:noFill/>
          <a:ln/>
        </p:spPr>
        <p:txBody>
          <a:bodyPr wrap="square" lIns="0" tIns="0" rIns="0" bIns="0" rtlCol="0" anchor="ctr"/>
          <a:lstStyle/>
          <a:p>
            <a:pPr algn="l" indent="0" marL="0">
              <a:lnSpc>
                <a:spcPct val="100000"/>
              </a:lnSpc>
              <a:buNone/>
            </a:pPr>
            <a:r>
              <a:rPr lang="en-US" sz="900" dirty="0">
                <a:solidFill>
                  <a:srgbClr val="6B6B6B"/>
                </a:solidFill>
                <a:latin typeface="Pretendard" pitchFamily="34" charset="0"/>
                <a:ea typeface="Pretendard" pitchFamily="34" charset="-122"/>
                <a:cs typeface="Pretendard" pitchFamily="34" charset="-120"/>
              </a:rPr>
              <a:t>06  발전계획 — 현장 적용 전 보완</a:t>
            </a:r>
            <a:endParaRPr lang="en-US" sz="900" dirty="0"/>
          </a:p>
        </p:txBody>
      </p:sp>
      <p:sp>
        <p:nvSpPr>
          <p:cNvPr id="3" name="Text 1"/>
          <p:cNvSpPr txBox="1"/>
          <p:nvPr/>
        </p:nvSpPr>
        <p:spPr>
          <a:xfrm>
            <a:off x="7223760" y="384048"/>
            <a:ext cx="1371600" cy="201168"/>
          </a:xfrm>
          <a:prstGeom prst="rect">
            <a:avLst/>
          </a:prstGeom>
          <a:noFill/>
          <a:ln/>
        </p:spPr>
        <p:txBody>
          <a:bodyPr wrap="square" lIns="0" tIns="0" rIns="0" bIns="0" rtlCol="0" anchor="ctr"/>
          <a:lstStyle/>
          <a:p>
            <a:pPr algn="r" indent="0" marL="0">
              <a:lnSpc>
                <a:spcPct val="100000"/>
              </a:lnSpc>
              <a:buNone/>
            </a:pPr>
            <a:r>
              <a:rPr lang="en-US" sz="900" dirty="0">
                <a:solidFill>
                  <a:srgbClr val="6B6B6B"/>
                </a:solidFill>
                <a:latin typeface="Pretendard" pitchFamily="34" charset="0"/>
                <a:ea typeface="Pretendard" pitchFamily="34" charset="-122"/>
                <a:cs typeface="Pretendard" pitchFamily="34" charset="-120"/>
              </a:rPr>
              <a:t>0:30</a:t>
            </a:r>
            <a:endParaRPr lang="en-US" sz="900" dirty="0"/>
          </a:p>
        </p:txBody>
      </p:sp>
      <p:sp>
        <p:nvSpPr>
          <p:cNvPr id="4" name="Text 2"/>
          <p:cNvSpPr txBox="1"/>
          <p:nvPr/>
        </p:nvSpPr>
        <p:spPr>
          <a:xfrm>
            <a:off x="8138160" y="4732020"/>
            <a:ext cx="457200" cy="182880"/>
          </a:xfrm>
          <a:prstGeom prst="rect">
            <a:avLst/>
          </a:prstGeom>
          <a:noFill/>
          <a:ln/>
        </p:spPr>
        <p:txBody>
          <a:bodyPr wrap="square" lIns="0" tIns="0" rIns="0" bIns="0" rtlCol="0" anchor="t"/>
          <a:lstStyle/>
          <a:p>
            <a:pPr algn="r" indent="0" marL="0">
              <a:lnSpc>
                <a:spcPct val="100000"/>
              </a:lnSpc>
              <a:buNone/>
            </a:pPr>
            <a:r>
              <a:rPr lang="en-US" sz="800" dirty="0">
                <a:solidFill>
                  <a:srgbClr val="A3A3A3"/>
                </a:solidFill>
                <a:latin typeface="Pretendard" pitchFamily="34" charset="0"/>
                <a:ea typeface="Pretendard" pitchFamily="34" charset="-122"/>
                <a:cs typeface="Pretendard" pitchFamily="34" charset="-120"/>
              </a:rPr>
              <a:t>09</a:t>
            </a:r>
            <a:endParaRPr lang="en-US" sz="800" dirty="0"/>
          </a:p>
        </p:txBody>
      </p:sp>
      <p:sp>
        <p:nvSpPr>
          <p:cNvPr id="6" name="Text 3"/>
          <p:cNvSpPr txBox="1"/>
          <p:nvPr/>
        </p:nvSpPr>
        <p:spPr>
          <a:xfrm>
            <a:off x="548640" y="822960"/>
            <a:ext cx="8046720" cy="1097280"/>
          </a:xfrm>
          <a:prstGeom prst="rect">
            <a:avLst/>
          </a:prstGeom>
          <a:noFill/>
          <a:ln/>
        </p:spPr>
        <p:txBody>
          <a:bodyPr wrap="square" lIns="0" tIns="0" rIns="0" bIns="0" rtlCol="0" anchor="t"/>
          <a:lstStyle/>
          <a:p>
            <a:pPr algn="l" indent="0" marL="0">
              <a:lnSpc>
                <a:spcPct val="115000"/>
              </a:lnSpc>
              <a:buNone/>
            </a:pPr>
            <a:r>
              <a:rPr lang="en-US" sz="3000" b="1" spc="-100" kern="0" dirty="0">
                <a:solidFill>
                  <a:srgbClr val="111111"/>
                </a:solidFill>
                <a:latin typeface="Pretendard" pitchFamily="34" charset="0"/>
                <a:ea typeface="Pretendard" pitchFamily="34" charset="-122"/>
                <a:cs typeface="Pretendard" pitchFamily="34" charset="-120"/>
              </a:rPr>
              <a:t>현장에 들이기 전에 고칠 다섯 가지.</a:t>
            </a:r>
            <a:endParaRPr lang="en-US" sz="3000" dirty="0"/>
          </a:p>
        </p:txBody>
      </p:sp>
      <p:sp>
        <p:nvSpPr>
          <p:cNvPr id="7" name="Shape 4"/>
          <p:cNvSpPr/>
          <p:nvPr/>
        </p:nvSpPr>
        <p:spPr>
          <a:xfrm>
            <a:off x="548640" y="1783080"/>
            <a:ext cx="8046720" cy="0"/>
          </a:xfrm>
          <a:prstGeom prst="line">
            <a:avLst/>
          </a:prstGeom>
          <a:noFill/>
          <a:ln w="9525">
            <a:solidFill>
              <a:srgbClr val="DDDDDD"/>
            </a:solidFill>
            <a:prstDash val="solid"/>
          </a:ln>
        </p:spPr>
      </p:sp>
      <p:sp>
        <p:nvSpPr>
          <p:cNvPr id="8" name="Text 5"/>
          <p:cNvSpPr txBox="1"/>
          <p:nvPr/>
        </p:nvSpPr>
        <p:spPr>
          <a:xfrm>
            <a:off x="548640" y="1911096"/>
            <a:ext cx="2926080" cy="292608"/>
          </a:xfrm>
          <a:prstGeom prst="rect">
            <a:avLst/>
          </a:prstGeom>
          <a:noFill/>
          <a:ln/>
        </p:spPr>
        <p:txBody>
          <a:bodyPr wrap="square" lIns="0" tIns="0" rIns="0" bIns="0" rtlCol="0" anchor="t"/>
          <a:lstStyle/>
          <a:p>
            <a:pPr algn="l" indent="0" marL="0">
              <a:lnSpc>
                <a:spcPct val="100000"/>
              </a:lnSpc>
              <a:buNone/>
            </a:pPr>
            <a:r>
              <a:rPr lang="en-US" sz="1500" b="1" dirty="0">
                <a:solidFill>
                  <a:srgbClr val="111111"/>
                </a:solidFill>
                <a:latin typeface="Pretendard" pitchFamily="34" charset="0"/>
                <a:ea typeface="Pretendard" pitchFamily="34" charset="-122"/>
                <a:cs typeface="Pretendard" pitchFamily="34" charset="-120"/>
              </a:rPr>
              <a:t>높이 사각</a:t>
            </a:r>
            <a:endParaRPr lang="en-US" sz="1500" dirty="0"/>
          </a:p>
        </p:txBody>
      </p:sp>
      <p:sp>
        <p:nvSpPr>
          <p:cNvPr id="9" name="Text 6"/>
          <p:cNvSpPr txBox="1"/>
          <p:nvPr/>
        </p:nvSpPr>
        <p:spPr>
          <a:xfrm>
            <a:off x="3657600" y="1911096"/>
            <a:ext cx="4937760" cy="292608"/>
          </a:xfrm>
          <a:prstGeom prst="rect">
            <a:avLst/>
          </a:prstGeom>
          <a:noFill/>
          <a:ln/>
        </p:spPr>
        <p:txBody>
          <a:bodyPr wrap="square" lIns="0" tIns="0" rIns="0" bIns="0" rtlCol="0" anchor="t"/>
          <a:lstStyle/>
          <a:p>
            <a:pPr algn="l" indent="0" marL="0">
              <a:lnSpc>
                <a:spcPct val="100000"/>
              </a:lnSpc>
              <a:buNone/>
            </a:pPr>
            <a:r>
              <a:rPr lang="en-US" sz="1400" dirty="0">
                <a:solidFill>
                  <a:srgbClr val="6B6B6B"/>
                </a:solidFill>
                <a:latin typeface="Pretendard" pitchFamily="34" charset="0"/>
                <a:ea typeface="Pretendard" pitchFamily="34" charset="-122"/>
                <a:cs typeface="Pretendard" pitchFamily="34" charset="-120"/>
              </a:rPr>
              <a:t>→  깊이 카메라 융합</a:t>
            </a:r>
            <a:endParaRPr lang="en-US" sz="1400" dirty="0"/>
          </a:p>
        </p:txBody>
      </p:sp>
      <p:sp>
        <p:nvSpPr>
          <p:cNvPr id="10" name="Shape 7"/>
          <p:cNvSpPr/>
          <p:nvPr/>
        </p:nvSpPr>
        <p:spPr>
          <a:xfrm>
            <a:off x="548640" y="2313432"/>
            <a:ext cx="8046720" cy="0"/>
          </a:xfrm>
          <a:prstGeom prst="line">
            <a:avLst/>
          </a:prstGeom>
          <a:noFill/>
          <a:ln w="9525">
            <a:solidFill>
              <a:srgbClr val="DDDDDD"/>
            </a:solidFill>
            <a:prstDash val="solid"/>
          </a:ln>
        </p:spPr>
      </p:sp>
      <p:sp>
        <p:nvSpPr>
          <p:cNvPr id="11" name="Text 8"/>
          <p:cNvSpPr txBox="1"/>
          <p:nvPr/>
        </p:nvSpPr>
        <p:spPr>
          <a:xfrm>
            <a:off x="548640" y="2441448"/>
            <a:ext cx="2926080" cy="292608"/>
          </a:xfrm>
          <a:prstGeom prst="rect">
            <a:avLst/>
          </a:prstGeom>
          <a:noFill/>
          <a:ln/>
        </p:spPr>
        <p:txBody>
          <a:bodyPr wrap="square" lIns="0" tIns="0" rIns="0" bIns="0" rtlCol="0" anchor="t"/>
          <a:lstStyle/>
          <a:p>
            <a:pPr algn="l" indent="0" marL="0">
              <a:lnSpc>
                <a:spcPct val="100000"/>
              </a:lnSpc>
              <a:buNone/>
            </a:pPr>
            <a:r>
              <a:rPr lang="en-US" sz="1500" b="1" dirty="0">
                <a:solidFill>
                  <a:srgbClr val="111111"/>
                </a:solidFill>
                <a:latin typeface="Pretendard" pitchFamily="34" charset="0"/>
                <a:ea typeface="Pretendard" pitchFamily="34" charset="-122"/>
                <a:cs typeface="Pretendard" pitchFamily="34" charset="-120"/>
              </a:rPr>
              <a:t>위치 누적 오차</a:t>
            </a:r>
            <a:endParaRPr lang="en-US" sz="1500" dirty="0"/>
          </a:p>
        </p:txBody>
      </p:sp>
      <p:sp>
        <p:nvSpPr>
          <p:cNvPr id="12" name="Text 9"/>
          <p:cNvSpPr txBox="1"/>
          <p:nvPr/>
        </p:nvSpPr>
        <p:spPr>
          <a:xfrm>
            <a:off x="3657600" y="2441448"/>
            <a:ext cx="4937760" cy="292608"/>
          </a:xfrm>
          <a:prstGeom prst="rect">
            <a:avLst/>
          </a:prstGeom>
          <a:noFill/>
          <a:ln/>
        </p:spPr>
        <p:txBody>
          <a:bodyPr wrap="square" lIns="0" tIns="0" rIns="0" bIns="0" rtlCol="0" anchor="t"/>
          <a:lstStyle/>
          <a:p>
            <a:pPr algn="l" indent="0" marL="0">
              <a:lnSpc>
                <a:spcPct val="100000"/>
              </a:lnSpc>
              <a:buNone/>
            </a:pPr>
            <a:r>
              <a:rPr lang="en-US" sz="1400" dirty="0">
                <a:solidFill>
                  <a:srgbClr val="6B6B6B"/>
                </a:solidFill>
                <a:latin typeface="Pretendard" pitchFamily="34" charset="0"/>
                <a:ea typeface="Pretendard" pitchFamily="34" charset="-122"/>
                <a:cs typeface="Pretendard" pitchFamily="34" charset="-120"/>
              </a:rPr>
              <a:t>→  SLAM 위치 보정</a:t>
            </a:r>
            <a:endParaRPr lang="en-US" sz="1400" dirty="0"/>
          </a:p>
        </p:txBody>
      </p:sp>
      <p:sp>
        <p:nvSpPr>
          <p:cNvPr id="13" name="Shape 10"/>
          <p:cNvSpPr/>
          <p:nvPr/>
        </p:nvSpPr>
        <p:spPr>
          <a:xfrm>
            <a:off x="548640" y="2843784"/>
            <a:ext cx="8046720" cy="0"/>
          </a:xfrm>
          <a:prstGeom prst="line">
            <a:avLst/>
          </a:prstGeom>
          <a:noFill/>
          <a:ln w="9525">
            <a:solidFill>
              <a:srgbClr val="DDDDDD"/>
            </a:solidFill>
            <a:prstDash val="solid"/>
          </a:ln>
        </p:spPr>
      </p:sp>
      <p:sp>
        <p:nvSpPr>
          <p:cNvPr id="14" name="Text 11"/>
          <p:cNvSpPr txBox="1"/>
          <p:nvPr/>
        </p:nvSpPr>
        <p:spPr>
          <a:xfrm>
            <a:off x="548640" y="2971800"/>
            <a:ext cx="2926080" cy="292608"/>
          </a:xfrm>
          <a:prstGeom prst="rect">
            <a:avLst/>
          </a:prstGeom>
          <a:noFill/>
          <a:ln/>
        </p:spPr>
        <p:txBody>
          <a:bodyPr wrap="square" lIns="0" tIns="0" rIns="0" bIns="0" rtlCol="0" anchor="t"/>
          <a:lstStyle/>
          <a:p>
            <a:pPr algn="l" indent="0" marL="0">
              <a:lnSpc>
                <a:spcPct val="100000"/>
              </a:lnSpc>
              <a:buNone/>
            </a:pPr>
            <a:r>
              <a:rPr lang="en-US" sz="1500" b="1" dirty="0">
                <a:solidFill>
                  <a:srgbClr val="111111"/>
                </a:solidFill>
                <a:latin typeface="Pretendard" pitchFamily="34" charset="0"/>
                <a:ea typeface="Pretendard" pitchFamily="34" charset="-122"/>
                <a:cs typeface="Pretendard" pitchFamily="34" charset="-120"/>
              </a:rPr>
              <a:t>통신 두절</a:t>
            </a:r>
            <a:endParaRPr lang="en-US" sz="1500" dirty="0"/>
          </a:p>
        </p:txBody>
      </p:sp>
      <p:sp>
        <p:nvSpPr>
          <p:cNvPr id="15" name="Text 12"/>
          <p:cNvSpPr txBox="1"/>
          <p:nvPr/>
        </p:nvSpPr>
        <p:spPr>
          <a:xfrm>
            <a:off x="3657600" y="2971800"/>
            <a:ext cx="4937760" cy="292608"/>
          </a:xfrm>
          <a:prstGeom prst="rect">
            <a:avLst/>
          </a:prstGeom>
          <a:noFill/>
          <a:ln/>
        </p:spPr>
        <p:txBody>
          <a:bodyPr wrap="square" lIns="0" tIns="0" rIns="0" bIns="0" rtlCol="0" anchor="t"/>
          <a:lstStyle/>
          <a:p>
            <a:pPr algn="l" indent="0" marL="0">
              <a:lnSpc>
                <a:spcPct val="100000"/>
              </a:lnSpc>
              <a:buNone/>
            </a:pPr>
            <a:r>
              <a:rPr lang="en-US" sz="1400" dirty="0">
                <a:solidFill>
                  <a:srgbClr val="6B6B6B"/>
                </a:solidFill>
                <a:latin typeface="Pretendard" pitchFamily="34" charset="0"/>
                <a:ea typeface="Pretendard" pitchFamily="34" charset="-122"/>
                <a:cs typeface="Pretendard" pitchFamily="34" charset="-120"/>
              </a:rPr>
              <a:t>→  로봇 측 정지 감시</a:t>
            </a:r>
            <a:endParaRPr lang="en-US" sz="1400" dirty="0"/>
          </a:p>
        </p:txBody>
      </p:sp>
      <p:sp>
        <p:nvSpPr>
          <p:cNvPr id="16" name="Shape 13"/>
          <p:cNvSpPr/>
          <p:nvPr/>
        </p:nvSpPr>
        <p:spPr>
          <a:xfrm>
            <a:off x="548640" y="3374136"/>
            <a:ext cx="8046720" cy="0"/>
          </a:xfrm>
          <a:prstGeom prst="line">
            <a:avLst/>
          </a:prstGeom>
          <a:noFill/>
          <a:ln w="9525">
            <a:solidFill>
              <a:srgbClr val="DDDDDD"/>
            </a:solidFill>
            <a:prstDash val="solid"/>
          </a:ln>
        </p:spPr>
      </p:sp>
      <p:sp>
        <p:nvSpPr>
          <p:cNvPr id="17" name="Text 14"/>
          <p:cNvSpPr txBox="1"/>
          <p:nvPr/>
        </p:nvSpPr>
        <p:spPr>
          <a:xfrm>
            <a:off x="548640" y="3502152"/>
            <a:ext cx="2926080" cy="292608"/>
          </a:xfrm>
          <a:prstGeom prst="rect">
            <a:avLst/>
          </a:prstGeom>
          <a:noFill/>
          <a:ln/>
        </p:spPr>
        <p:txBody>
          <a:bodyPr wrap="square" lIns="0" tIns="0" rIns="0" bIns="0" rtlCol="0" anchor="t"/>
          <a:lstStyle/>
          <a:p>
            <a:pPr algn="l" indent="0" marL="0">
              <a:lnSpc>
                <a:spcPct val="100000"/>
              </a:lnSpc>
              <a:buNone/>
            </a:pPr>
            <a:r>
              <a:rPr lang="en-US" sz="1500" b="1" dirty="0">
                <a:solidFill>
                  <a:srgbClr val="111111"/>
                </a:solidFill>
                <a:latin typeface="Pretendard" pitchFamily="34" charset="0"/>
                <a:ea typeface="Pretendard" pitchFamily="34" charset="-122"/>
                <a:cs typeface="Pretendard" pitchFamily="34" charset="-120"/>
              </a:rPr>
              <a:t>보안</a:t>
            </a:r>
            <a:endParaRPr lang="en-US" sz="1500" dirty="0"/>
          </a:p>
        </p:txBody>
      </p:sp>
      <p:sp>
        <p:nvSpPr>
          <p:cNvPr id="18" name="Text 15"/>
          <p:cNvSpPr txBox="1"/>
          <p:nvPr/>
        </p:nvSpPr>
        <p:spPr>
          <a:xfrm>
            <a:off x="3657600" y="3502152"/>
            <a:ext cx="4937760" cy="292608"/>
          </a:xfrm>
          <a:prstGeom prst="rect">
            <a:avLst/>
          </a:prstGeom>
          <a:noFill/>
          <a:ln/>
        </p:spPr>
        <p:txBody>
          <a:bodyPr wrap="square" lIns="0" tIns="0" rIns="0" bIns="0" rtlCol="0" anchor="t"/>
          <a:lstStyle/>
          <a:p>
            <a:pPr algn="l" indent="0" marL="0">
              <a:lnSpc>
                <a:spcPct val="100000"/>
              </a:lnSpc>
              <a:buNone/>
            </a:pPr>
            <a:r>
              <a:rPr lang="en-US" sz="1400" dirty="0">
                <a:solidFill>
                  <a:srgbClr val="6B6B6B"/>
                </a:solidFill>
                <a:latin typeface="Pretendard" pitchFamily="34" charset="0"/>
                <a:ea typeface="Pretendard" pitchFamily="34" charset="-122"/>
                <a:cs typeface="Pretendard" pitchFamily="34" charset="-120"/>
              </a:rPr>
              <a:t>→  인증 · 암호화 · 망 분리</a:t>
            </a:r>
            <a:endParaRPr lang="en-US" sz="1400" dirty="0"/>
          </a:p>
        </p:txBody>
      </p:sp>
      <p:sp>
        <p:nvSpPr>
          <p:cNvPr id="19" name="Shape 16"/>
          <p:cNvSpPr/>
          <p:nvPr/>
        </p:nvSpPr>
        <p:spPr>
          <a:xfrm>
            <a:off x="548640" y="3904488"/>
            <a:ext cx="8046720" cy="0"/>
          </a:xfrm>
          <a:prstGeom prst="line">
            <a:avLst/>
          </a:prstGeom>
          <a:noFill/>
          <a:ln w="9525">
            <a:solidFill>
              <a:srgbClr val="DDDDDD"/>
            </a:solidFill>
            <a:prstDash val="solid"/>
          </a:ln>
        </p:spPr>
      </p:sp>
      <p:sp>
        <p:nvSpPr>
          <p:cNvPr id="20" name="Text 17"/>
          <p:cNvSpPr txBox="1"/>
          <p:nvPr/>
        </p:nvSpPr>
        <p:spPr>
          <a:xfrm>
            <a:off x="548640" y="4032504"/>
            <a:ext cx="2926080" cy="292608"/>
          </a:xfrm>
          <a:prstGeom prst="rect">
            <a:avLst/>
          </a:prstGeom>
          <a:noFill/>
          <a:ln/>
        </p:spPr>
        <p:txBody>
          <a:bodyPr wrap="square" lIns="0" tIns="0" rIns="0" bIns="0" rtlCol="0" anchor="t"/>
          <a:lstStyle/>
          <a:p>
            <a:pPr algn="l" indent="0" marL="0">
              <a:lnSpc>
                <a:spcPct val="100000"/>
              </a:lnSpc>
              <a:buNone/>
            </a:pPr>
            <a:r>
              <a:rPr lang="en-US" sz="1500" b="1" dirty="0">
                <a:solidFill>
                  <a:srgbClr val="111111"/>
                </a:solidFill>
                <a:latin typeface="Pretendard" pitchFamily="34" charset="0"/>
                <a:ea typeface="Pretendard" pitchFamily="34" charset="-122"/>
                <a:cs typeface="Pretendard" pitchFamily="34" charset="-120"/>
              </a:rPr>
              <a:t>효과 실측</a:t>
            </a:r>
            <a:endParaRPr lang="en-US" sz="1500" dirty="0"/>
          </a:p>
        </p:txBody>
      </p:sp>
      <p:sp>
        <p:nvSpPr>
          <p:cNvPr id="21" name="Text 18"/>
          <p:cNvSpPr txBox="1"/>
          <p:nvPr/>
        </p:nvSpPr>
        <p:spPr>
          <a:xfrm>
            <a:off x="3657600" y="4032504"/>
            <a:ext cx="4937760" cy="292608"/>
          </a:xfrm>
          <a:prstGeom prst="rect">
            <a:avLst/>
          </a:prstGeom>
          <a:noFill/>
          <a:ln/>
        </p:spPr>
        <p:txBody>
          <a:bodyPr wrap="square" lIns="0" tIns="0" rIns="0" bIns="0" rtlCol="0" anchor="t"/>
          <a:lstStyle/>
          <a:p>
            <a:pPr algn="l" indent="0" marL="0">
              <a:lnSpc>
                <a:spcPct val="100000"/>
              </a:lnSpc>
              <a:buNone/>
            </a:pPr>
            <a:r>
              <a:rPr lang="en-US" sz="1400" dirty="0">
                <a:solidFill>
                  <a:srgbClr val="6B6B6B"/>
                </a:solidFill>
                <a:latin typeface="Pretendard" pitchFamily="34" charset="0"/>
                <a:ea typeface="Pretendard" pitchFamily="34" charset="-122"/>
                <a:cs typeface="Pretendard" pitchFamily="34" charset="-120"/>
              </a:rPr>
              <a:t>→  파일럿 라인에서 정지 시간 측정</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4572000" cy="201168"/>
          </a:xfrm>
          <a:prstGeom prst="rect">
            <a:avLst/>
          </a:prstGeom>
          <a:noFill/>
          <a:ln/>
        </p:spPr>
        <p:txBody>
          <a:bodyPr wrap="square" lIns="0" tIns="0" rIns="0" bIns="0" rtlCol="0" anchor="ctr"/>
          <a:lstStyle/>
          <a:p>
            <a:pPr algn="l" indent="0" marL="0">
              <a:lnSpc>
                <a:spcPct val="100000"/>
              </a:lnSpc>
              <a:buNone/>
            </a:pPr>
            <a:r>
              <a:rPr lang="en-US" sz="900" dirty="0">
                <a:solidFill>
                  <a:srgbClr val="6B6B6B"/>
                </a:solidFill>
                <a:latin typeface="Pretendard" pitchFamily="34" charset="0"/>
                <a:ea typeface="Pretendard" pitchFamily="34" charset="-122"/>
                <a:cs typeface="Pretendard" pitchFamily="34" charset="-120"/>
              </a:rPr>
              <a:t>06  발전계획 — 비즈니스모델</a:t>
            </a:r>
            <a:endParaRPr lang="en-US" sz="900" dirty="0"/>
          </a:p>
        </p:txBody>
      </p:sp>
      <p:sp>
        <p:nvSpPr>
          <p:cNvPr id="3" name="Text 1"/>
          <p:cNvSpPr txBox="1"/>
          <p:nvPr/>
        </p:nvSpPr>
        <p:spPr>
          <a:xfrm>
            <a:off x="7223760" y="384048"/>
            <a:ext cx="1371600" cy="201168"/>
          </a:xfrm>
          <a:prstGeom prst="rect">
            <a:avLst/>
          </a:prstGeom>
          <a:noFill/>
          <a:ln/>
        </p:spPr>
        <p:txBody>
          <a:bodyPr wrap="square" lIns="0" tIns="0" rIns="0" bIns="0" rtlCol="0" anchor="ctr"/>
          <a:lstStyle/>
          <a:p>
            <a:pPr algn="r" indent="0" marL="0">
              <a:lnSpc>
                <a:spcPct val="100000"/>
              </a:lnSpc>
              <a:buNone/>
            </a:pPr>
            <a:r>
              <a:rPr lang="en-US" sz="900" dirty="0">
                <a:solidFill>
                  <a:srgbClr val="6B6B6B"/>
                </a:solidFill>
                <a:latin typeface="Pretendard" pitchFamily="34" charset="0"/>
                <a:ea typeface="Pretendard" pitchFamily="34" charset="-122"/>
                <a:cs typeface="Pretendard" pitchFamily="34" charset="-120"/>
              </a:rPr>
              <a:t>0:30</a:t>
            </a:r>
            <a:endParaRPr lang="en-US" sz="900" dirty="0"/>
          </a:p>
        </p:txBody>
      </p:sp>
      <p:sp>
        <p:nvSpPr>
          <p:cNvPr id="4" name="Text 2"/>
          <p:cNvSpPr txBox="1"/>
          <p:nvPr/>
        </p:nvSpPr>
        <p:spPr>
          <a:xfrm>
            <a:off x="8138160" y="4732020"/>
            <a:ext cx="457200" cy="182880"/>
          </a:xfrm>
          <a:prstGeom prst="rect">
            <a:avLst/>
          </a:prstGeom>
          <a:noFill/>
          <a:ln/>
        </p:spPr>
        <p:txBody>
          <a:bodyPr wrap="square" lIns="0" tIns="0" rIns="0" bIns="0" rtlCol="0" anchor="t"/>
          <a:lstStyle/>
          <a:p>
            <a:pPr algn="r" indent="0" marL="0">
              <a:lnSpc>
                <a:spcPct val="100000"/>
              </a:lnSpc>
              <a:buNone/>
            </a:pPr>
            <a:r>
              <a:rPr lang="en-US" sz="800" dirty="0">
                <a:solidFill>
                  <a:srgbClr val="A3A3A3"/>
                </a:solidFill>
                <a:latin typeface="Pretendard" pitchFamily="34" charset="0"/>
                <a:ea typeface="Pretendard" pitchFamily="34" charset="-122"/>
                <a:cs typeface="Pretendard" pitchFamily="34" charset="-120"/>
              </a:rPr>
              <a:t>10</a:t>
            </a:r>
            <a:endParaRPr lang="en-US" sz="800" dirty="0"/>
          </a:p>
        </p:txBody>
      </p:sp>
      <p:sp>
        <p:nvSpPr>
          <p:cNvPr id="6" name="Text 3"/>
          <p:cNvSpPr txBox="1"/>
          <p:nvPr/>
        </p:nvSpPr>
        <p:spPr>
          <a:xfrm>
            <a:off x="548640" y="822960"/>
            <a:ext cx="8046720" cy="1097280"/>
          </a:xfrm>
          <a:prstGeom prst="rect">
            <a:avLst/>
          </a:prstGeom>
          <a:noFill/>
          <a:ln/>
        </p:spPr>
        <p:txBody>
          <a:bodyPr wrap="square" lIns="0" tIns="0" rIns="0" bIns="0" rtlCol="0" anchor="t"/>
          <a:lstStyle/>
          <a:p>
            <a:pPr algn="l" indent="0" marL="0">
              <a:lnSpc>
                <a:spcPct val="115000"/>
              </a:lnSpc>
              <a:buNone/>
            </a:pPr>
            <a:r>
              <a:rPr lang="en-US" sz="3000" b="1" spc="-100" kern="0" dirty="0">
                <a:solidFill>
                  <a:srgbClr val="111111"/>
                </a:solidFill>
                <a:latin typeface="Pretendard" pitchFamily="34" charset="0"/>
                <a:ea typeface="Pretendard" pitchFamily="34" charset="-122"/>
                <a:cs typeface="Pretendard" pitchFamily="34" charset="-120"/>
              </a:rPr>
              <a:t>기존 AGV에 얹는</a:t>
            </a:r>
            <a:endParaRPr lang="en-US" sz="3000" dirty="0"/>
          </a:p>
          <a:p>
            <a:pPr algn="l" indent="0" marL="0">
              <a:lnSpc>
                <a:spcPct val="115000"/>
              </a:lnSpc>
              <a:buNone/>
            </a:pPr>
            <a:r>
              <a:rPr lang="en-US" sz="3000" b="1" spc="-100" kern="0" dirty="0">
                <a:solidFill>
                  <a:srgbClr val="111111"/>
                </a:solidFill>
                <a:latin typeface="Pretendard" pitchFamily="34" charset="0"/>
                <a:ea typeface="Pretendard" pitchFamily="34" charset="-122"/>
                <a:cs typeface="Pretendard" pitchFamily="34" charset="-120"/>
              </a:rPr>
              <a:t>안전 개입 레이어.</a:t>
            </a:r>
            <a:endParaRPr lang="en-US" sz="3000" dirty="0"/>
          </a:p>
        </p:txBody>
      </p:sp>
      <p:sp>
        <p:nvSpPr>
          <p:cNvPr id="7" name="Shape 4"/>
          <p:cNvSpPr/>
          <p:nvPr/>
        </p:nvSpPr>
        <p:spPr>
          <a:xfrm>
            <a:off x="548640" y="2240280"/>
            <a:ext cx="2438400" cy="0"/>
          </a:xfrm>
          <a:prstGeom prst="line">
            <a:avLst/>
          </a:prstGeom>
          <a:noFill/>
          <a:ln w="19050">
            <a:solidFill>
              <a:srgbClr val="111111"/>
            </a:solidFill>
            <a:prstDash val="solid"/>
          </a:ln>
        </p:spPr>
      </p:sp>
      <p:sp>
        <p:nvSpPr>
          <p:cNvPr id="8" name="Text 5"/>
          <p:cNvSpPr txBox="1"/>
          <p:nvPr/>
        </p:nvSpPr>
        <p:spPr>
          <a:xfrm>
            <a:off x="548640" y="2377440"/>
            <a:ext cx="2438400" cy="320040"/>
          </a:xfrm>
          <a:prstGeom prst="rect">
            <a:avLst/>
          </a:prstGeom>
          <a:noFill/>
          <a:ln/>
        </p:spPr>
        <p:txBody>
          <a:bodyPr wrap="square" lIns="0" tIns="0" rIns="0" bIns="0" rtlCol="0" anchor="t"/>
          <a:lstStyle/>
          <a:p>
            <a:pPr algn="l" indent="0" marL="0">
              <a:lnSpc>
                <a:spcPct val="100000"/>
              </a:lnSpc>
              <a:buNone/>
            </a:pPr>
            <a:r>
              <a:rPr lang="en-US" sz="1600" b="1" dirty="0">
                <a:solidFill>
                  <a:srgbClr val="111111"/>
                </a:solidFill>
                <a:latin typeface="Pretendard" pitchFamily="34" charset="0"/>
                <a:ea typeface="Pretendard" pitchFamily="34" charset="-122"/>
                <a:cs typeface="Pretendard" pitchFamily="34" charset="-120"/>
              </a:rPr>
              <a:t>개조 패키지</a:t>
            </a:r>
            <a:endParaRPr lang="en-US" sz="1600" dirty="0"/>
          </a:p>
        </p:txBody>
      </p:sp>
      <p:sp>
        <p:nvSpPr>
          <p:cNvPr id="9" name="Text 6"/>
          <p:cNvSpPr txBox="1"/>
          <p:nvPr/>
        </p:nvSpPr>
        <p:spPr>
          <a:xfrm>
            <a:off x="548640" y="2743200"/>
            <a:ext cx="2438400" cy="274320"/>
          </a:xfrm>
          <a:prstGeom prst="rect">
            <a:avLst/>
          </a:prstGeom>
          <a:noFill/>
          <a:ln/>
        </p:spPr>
        <p:txBody>
          <a:bodyPr wrap="square" lIns="0" tIns="0" rIns="0" bIns="0" rtlCol="0" anchor="t"/>
          <a:lstStyle/>
          <a:p>
            <a:pPr algn="l" indent="0" marL="0">
              <a:lnSpc>
                <a:spcPct val="100000"/>
              </a:lnSpc>
              <a:buNone/>
            </a:pPr>
            <a:r>
              <a:rPr lang="en-US" sz="1200" dirty="0">
                <a:solidFill>
                  <a:srgbClr val="6B6B6B"/>
                </a:solidFill>
                <a:latin typeface="Pretendard" pitchFamily="34" charset="0"/>
                <a:ea typeface="Pretendard" pitchFamily="34" charset="-122"/>
                <a:cs typeface="Pretendard" pitchFamily="34" charset="-120"/>
              </a:rPr>
              <a:t>기체 교체 없이 SW 설치</a:t>
            </a:r>
            <a:endParaRPr lang="en-US" sz="1200" dirty="0"/>
          </a:p>
        </p:txBody>
      </p:sp>
      <p:sp>
        <p:nvSpPr>
          <p:cNvPr id="10" name="Shape 7"/>
          <p:cNvSpPr/>
          <p:nvPr/>
        </p:nvSpPr>
        <p:spPr>
          <a:xfrm>
            <a:off x="3352800" y="2240280"/>
            <a:ext cx="2438400" cy="0"/>
          </a:xfrm>
          <a:prstGeom prst="line">
            <a:avLst/>
          </a:prstGeom>
          <a:noFill/>
          <a:ln w="19050">
            <a:solidFill>
              <a:srgbClr val="111111"/>
            </a:solidFill>
            <a:prstDash val="solid"/>
          </a:ln>
        </p:spPr>
      </p:sp>
      <p:sp>
        <p:nvSpPr>
          <p:cNvPr id="11" name="Text 8"/>
          <p:cNvSpPr txBox="1"/>
          <p:nvPr/>
        </p:nvSpPr>
        <p:spPr>
          <a:xfrm>
            <a:off x="3352800" y="2377440"/>
            <a:ext cx="2438400" cy="320040"/>
          </a:xfrm>
          <a:prstGeom prst="rect">
            <a:avLst/>
          </a:prstGeom>
          <a:noFill/>
          <a:ln/>
        </p:spPr>
        <p:txBody>
          <a:bodyPr wrap="square" lIns="0" tIns="0" rIns="0" bIns="0" rtlCol="0" anchor="t"/>
          <a:lstStyle/>
          <a:p>
            <a:pPr algn="l" indent="0" marL="0">
              <a:lnSpc>
                <a:spcPct val="100000"/>
              </a:lnSpc>
              <a:buNone/>
            </a:pPr>
            <a:r>
              <a:rPr lang="en-US" sz="1600" b="1" dirty="0">
                <a:solidFill>
                  <a:srgbClr val="111111"/>
                </a:solidFill>
                <a:latin typeface="Pretendard" pitchFamily="34" charset="0"/>
                <a:ea typeface="Pretendard" pitchFamily="34" charset="-122"/>
                <a:cs typeface="Pretendard" pitchFamily="34" charset="-120"/>
              </a:rPr>
              <a:t>관제 구독</a:t>
            </a:r>
            <a:endParaRPr lang="en-US" sz="1600" dirty="0"/>
          </a:p>
        </p:txBody>
      </p:sp>
      <p:sp>
        <p:nvSpPr>
          <p:cNvPr id="12" name="Text 9"/>
          <p:cNvSpPr txBox="1"/>
          <p:nvPr/>
        </p:nvSpPr>
        <p:spPr>
          <a:xfrm>
            <a:off x="3352800" y="2743200"/>
            <a:ext cx="2438400" cy="274320"/>
          </a:xfrm>
          <a:prstGeom prst="rect">
            <a:avLst/>
          </a:prstGeom>
          <a:noFill/>
          <a:ln/>
        </p:spPr>
        <p:txBody>
          <a:bodyPr wrap="square" lIns="0" tIns="0" rIns="0" bIns="0" rtlCol="0" anchor="t"/>
          <a:lstStyle/>
          <a:p>
            <a:pPr algn="l" indent="0" marL="0">
              <a:lnSpc>
                <a:spcPct val="100000"/>
              </a:lnSpc>
              <a:buNone/>
            </a:pPr>
            <a:r>
              <a:rPr lang="en-US" sz="1200" dirty="0">
                <a:solidFill>
                  <a:srgbClr val="6B6B6B"/>
                </a:solidFill>
                <a:latin typeface="Pretendard" pitchFamily="34" charset="0"/>
                <a:ea typeface="Pretendard" pitchFamily="34" charset="-122"/>
                <a:cs typeface="Pretendard" pitchFamily="34" charset="-120"/>
              </a:rPr>
              <a:t>로봇 대수 기준 구독</a:t>
            </a:r>
            <a:endParaRPr lang="en-US" sz="1200" dirty="0"/>
          </a:p>
        </p:txBody>
      </p:sp>
      <p:sp>
        <p:nvSpPr>
          <p:cNvPr id="13" name="Shape 10"/>
          <p:cNvSpPr/>
          <p:nvPr/>
        </p:nvSpPr>
        <p:spPr>
          <a:xfrm>
            <a:off x="6156960" y="2240280"/>
            <a:ext cx="2438400" cy="0"/>
          </a:xfrm>
          <a:prstGeom prst="line">
            <a:avLst/>
          </a:prstGeom>
          <a:noFill/>
          <a:ln w="19050">
            <a:solidFill>
              <a:srgbClr val="111111"/>
            </a:solidFill>
            <a:prstDash val="solid"/>
          </a:ln>
        </p:spPr>
      </p:sp>
      <p:sp>
        <p:nvSpPr>
          <p:cNvPr id="14" name="Text 11"/>
          <p:cNvSpPr txBox="1"/>
          <p:nvPr/>
        </p:nvSpPr>
        <p:spPr>
          <a:xfrm>
            <a:off x="6156960" y="2377440"/>
            <a:ext cx="2438400" cy="320040"/>
          </a:xfrm>
          <a:prstGeom prst="rect">
            <a:avLst/>
          </a:prstGeom>
          <a:noFill/>
          <a:ln/>
        </p:spPr>
        <p:txBody>
          <a:bodyPr wrap="square" lIns="0" tIns="0" rIns="0" bIns="0" rtlCol="0" anchor="t"/>
          <a:lstStyle/>
          <a:p>
            <a:pPr algn="l" indent="0" marL="0">
              <a:lnSpc>
                <a:spcPct val="100000"/>
              </a:lnSpc>
              <a:buNone/>
            </a:pPr>
            <a:r>
              <a:rPr lang="en-US" sz="1600" b="1" dirty="0">
                <a:solidFill>
                  <a:srgbClr val="111111"/>
                </a:solidFill>
                <a:latin typeface="Pretendard" pitchFamily="34" charset="0"/>
                <a:ea typeface="Pretendard" pitchFamily="34" charset="-122"/>
                <a:cs typeface="Pretendard" pitchFamily="34" charset="-120"/>
              </a:rPr>
              <a:t>원격 개입 센터</a:t>
            </a:r>
            <a:endParaRPr lang="en-US" sz="1600" dirty="0"/>
          </a:p>
        </p:txBody>
      </p:sp>
      <p:sp>
        <p:nvSpPr>
          <p:cNvPr id="15" name="Text 12"/>
          <p:cNvSpPr txBox="1"/>
          <p:nvPr/>
        </p:nvSpPr>
        <p:spPr>
          <a:xfrm>
            <a:off x="6156960" y="2743200"/>
            <a:ext cx="2438400" cy="274320"/>
          </a:xfrm>
          <a:prstGeom prst="rect">
            <a:avLst/>
          </a:prstGeom>
          <a:noFill/>
          <a:ln/>
        </p:spPr>
        <p:txBody>
          <a:bodyPr wrap="square" lIns="0" tIns="0" rIns="0" bIns="0" rtlCol="0" anchor="t"/>
          <a:lstStyle/>
          <a:p>
            <a:pPr algn="l" indent="0" marL="0">
              <a:lnSpc>
                <a:spcPct val="100000"/>
              </a:lnSpc>
              <a:buNone/>
            </a:pPr>
            <a:r>
              <a:rPr lang="en-US" sz="1200" dirty="0">
                <a:solidFill>
                  <a:srgbClr val="6B6B6B"/>
                </a:solidFill>
                <a:latin typeface="Pretendard" pitchFamily="34" charset="0"/>
                <a:ea typeface="Pretendard" pitchFamily="34" charset="-122"/>
                <a:cs typeface="Pretendard" pitchFamily="34" charset="-120"/>
              </a:rPr>
              <a:t>여러 현장을 한 관제석에서</a:t>
            </a:r>
            <a:endParaRPr lang="en-US" sz="1200" dirty="0"/>
          </a:p>
        </p:txBody>
      </p:sp>
      <p:sp>
        <p:nvSpPr>
          <p:cNvPr id="16" name="Shape 13"/>
          <p:cNvSpPr/>
          <p:nvPr/>
        </p:nvSpPr>
        <p:spPr>
          <a:xfrm>
            <a:off x="0" y="3429000"/>
            <a:ext cx="9144000" cy="1097280"/>
          </a:xfrm>
          <a:prstGeom prst="rect">
            <a:avLst/>
          </a:prstGeom>
          <a:solidFill>
            <a:srgbClr val="F5B800"/>
          </a:solidFill>
          <a:ln w="12700">
            <a:solidFill>
              <a:srgbClr val="F5B800"/>
            </a:solidFill>
            <a:prstDash val="solid"/>
          </a:ln>
        </p:spPr>
      </p:sp>
      <p:sp>
        <p:nvSpPr>
          <p:cNvPr id="17" name="Text 14"/>
          <p:cNvSpPr txBox="1"/>
          <p:nvPr/>
        </p:nvSpPr>
        <p:spPr>
          <a:xfrm>
            <a:off x="548640" y="3429000"/>
            <a:ext cx="8046720" cy="1097280"/>
          </a:xfrm>
          <a:prstGeom prst="rect">
            <a:avLst/>
          </a:prstGeom>
          <a:noFill/>
          <a:ln/>
        </p:spPr>
        <p:txBody>
          <a:bodyPr wrap="square" lIns="0" tIns="0" rIns="0" bIns="0" rtlCol="0" anchor="ctr"/>
          <a:lstStyle/>
          <a:p>
            <a:pPr algn="l" indent="0" marL="0">
              <a:lnSpc>
                <a:spcPct val="100000"/>
              </a:lnSpc>
              <a:buNone/>
            </a:pPr>
            <a:r>
              <a:rPr lang="en-US" sz="2200" b="1" spc="-100" kern="0" dirty="0">
                <a:solidFill>
                  <a:srgbClr val="111111"/>
                </a:solidFill>
                <a:latin typeface="Pretendard" pitchFamily="34" charset="0"/>
                <a:ea typeface="Pretendard" pitchFamily="34" charset="-122"/>
                <a:cs typeface="Pretendard" pitchFamily="34" charset="-120"/>
              </a:rPr>
              <a:t>로봇은 멈추고 알리고, 판단은 사람이 내린다.</a:t>
            </a:r>
            <a:endParaRPr lang="en-US" sz="2200" dirty="0"/>
          </a:p>
        </p:txBody>
      </p:sp>
      <p:sp>
        <p:nvSpPr>
          <p:cNvPr id="18" name="Text 15"/>
          <p:cNvSpPr txBox="1"/>
          <p:nvPr/>
        </p:nvSpPr>
        <p:spPr>
          <a:xfrm>
            <a:off x="548640" y="4663440"/>
            <a:ext cx="7498080" cy="182880"/>
          </a:xfrm>
          <a:prstGeom prst="rect">
            <a:avLst/>
          </a:prstGeom>
          <a:noFill/>
          <a:ln/>
        </p:spPr>
        <p:txBody>
          <a:bodyPr wrap="square" lIns="0" tIns="0" rIns="0" bIns="0" rtlCol="0" anchor="t"/>
          <a:lstStyle/>
          <a:p>
            <a:pPr algn="l" indent="0" marL="0">
              <a:lnSpc>
                <a:spcPct val="100000"/>
              </a:lnSpc>
              <a:buNone/>
            </a:pPr>
            <a:r>
              <a:rPr lang="en-US" sz="800" dirty="0">
                <a:solidFill>
                  <a:srgbClr val="A3A3A3"/>
                </a:solidFill>
                <a:latin typeface="Pretendard" pitchFamily="34" charset="0"/>
                <a:ea typeface="Pretendard" pitchFamily="34" charset="-122"/>
                <a:cs typeface="Pretendard" pitchFamily="34" charset="-120"/>
              </a:rPr>
              <a:t>구상 단계 — 가격·매출은 파일럿 이후 산정 · 시장 AGV·AMR 2030년 $22B (LogisticsIQ 2024)</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멈추고, 알리고, 사람이 빼낸다 — Swiss Safety</dc:title>
  <dc:subject>PptxGenJS Presentation</dc:subject>
  <dc:creator>PptxGenJS</dc:creator>
  <cp:lastModifiedBy>PptxGenJS</cp:lastModifiedBy>
  <cp:revision>1</cp:revision>
  <dcterms:created xsi:type="dcterms:W3CDTF">2026-10-04T06:24:28Z</dcterms:created>
  <dcterms:modified xsi:type="dcterms:W3CDTF">2026-10-04T06:24:28Z</dcterms:modified>
</cp:coreProperties>
</file>