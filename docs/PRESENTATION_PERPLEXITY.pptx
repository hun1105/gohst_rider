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국립한국해양대학교 [팀명]입니다. 막히면 멈추고, 알리고, 사람이 VR로 빼내는 AGV 피지컬 AI를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AGV와 같은 통로를 쓰는 작업자는 부딪히고 끼입니다. 산업용 로봇 재해의 53%가 끼임이고, 2024년 끼임 사망자는 66명이었습니다. 관제사는 AGV가 멈출 때마다 현장으로 걸어가야 하고, 그동안 라인이 서면 자동차 공장은 시간당 최대 230만 달러를 잃습니다. 보급형 AGV는 한 평면만 보고, 뒤를 못 봐 스스로 물러나지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AGV 두 대를 운용하면서 협착과 충돌을 0건으로 만들고, 막혔을 때 현장 출동 없이 원격으로 빼내는 것입니다. 역할은 나눴습니다. 에이전트는 감시하고, 멈추고, 왜 멈췄는지와 빠져나갈 경로를 계산합니다. 움직이는 결정은 사람이 합니다. 그래서 자동 후진도, 자동 재개도 없습니다. 핵심기능은 네 가지입니다. 첫째, 전방 0.35미터나 로봇 간 0.3미터 안이면 전진을 막습니다. 둘째, 라이다 72방향으로 탈출 경로를 찾아 영상 바닥과 지도에 그리고, 돌아야 할 쪽 손을 진동시킵니다. 셋째, 관제 지도에서 로봇을 누르면 그 로봇의 VR 운전석으로 바로 들어갑니다. 넷째, 두 대가 각자 순찰하다 만나면 둘 다 멈추고, 사람이 한 대를 비켜줍니다.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흐름은 여섯 단계입니다. 순찰하다 라이다와 오도메트리로 위험을 감지하면 정지 게이트가 전진을 막고, 탈출 경로를 계산합니다. 여기까지가 에이전트입니다. 방법은 5도 간격 72방향마다 로봇 폭 통로의 여유를 재고, 여유는 크고 회전은 적은 방향을 고르는 것입니다. 그 다음 VR 개입과 재개는 사람이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 1과 ROS 2로 나뉜 터틀봇 두 대를 초당 20회 도는 파이썬 릴레이가 묶습니다. AI는 대형 언어 모델이 아니라 라이다 기하 추론이라 매 주기 같은 입력에 같은 판단을 냅니다. 도구는 ROS의 cmd_vel, odom, scan과 카메라, Unity, 퀘스트이고, 로봇별 모드와 정지 원인, 운행 이력을 기억합니다. 안전 게이트를 통과한 속도만 바퀴로 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실물로 보여드리겠습니다. 관제 PC에서 R을 누르면 두 대가 시작 위치를 맞추고 초당 0.1미터로 직진합니다. 서로 0.3미터 안으로 들어오자 둘 다 멈췄고, 지도에 적색으로, 터미널에 STUCK으로 찍힙니다. 이번엔 작업자가 앞을 막아보겠습니다. 0.35미터 안에서 전진 지령이 0이 됩니다. 관제 지도에서 이 로봇을 누르면 VR 운전석으로 바로 들어갑니다. 영상 바닥에 빠져나갈 길이 그려지고, 돌아야 할 쪽 손이 진동합니다. 그립을 쥔 채 오른쪽 스틱으로 후진, 왼쪽 스틱으로 선회합니다. 그립을 놓으면 즉시 멈추고, 아무리 밀어도 0.15미터를 넘지 않습니다. 다시 R을 누르면 순찰로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화면을 정리하면, 콕핏에는 경로와 정지 배너, 관제 맵에는 적색 경고와 정지 원인, 터미널에는 판단과 도구 호출 기록이 남습니다. 멈춘 이유와 빠져나갈 길이 모두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AGV는 멈추면 사람이 걸어가야 풀렸습니다. 이제는 전진만 막고, 관제석에서 클릭 한 번으로 VR로 빼냅니다. 자동 시험 78개를 모두 통과했고, 10회 반복과 300초 부하에서 안전 위반은 0건이었습니다. 사용자 검증은 팀원이 관제사와 조작자 역할로 실물 두 대에서 확인했고, 외부 사용자 평가와 현장 정지 시간 측정은 다음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현장에 들이기 전 고칠 점도 분명합니다. 높이 사각은 깊이 카메라로, 위치 오차는 SLAM으로 보완하고, 로봇 측 정지 감시와 통신 인증을 붙인 뒤 파일럿 라인에서 정지 시간을 실측하겠습니다.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사업은 기존 AGV에 얹는 개조 패키지와 관제 구독, 여러 현장을 한 자리에서 복구하는 원격 개입 서비스로 구상합니다. 로봇은 멈추고 알리고, 판단은 사람이 내린다.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10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984248" y="566928"/>
            <a:ext cx="6748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제4회 경남 AI·SW 경진대회 · 대학부 · 분야 32 제조 피지컬 AI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984248" y="914400"/>
            <a:ext cx="6748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멈추고, 알리고, 사람이 빼낸다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1984248" y="1627632"/>
            <a:ext cx="674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MetaQuest VR 기반 피지컬 AI AGV 원격 개입 &amp; 협착 방지 디지털 트윈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359152" y="2112264"/>
            <a:ext cx="5998464" cy="713232"/>
          </a:xfrm>
          <a:prstGeom prst="roundRect">
            <a:avLst>
              <a:gd name="adj" fmla="val 21154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95728" y="2148840"/>
            <a:ext cx="5925312" cy="640080"/>
          </a:xfrm>
          <a:prstGeom prst="roundRect">
            <a:avLst>
              <a:gd name="adj" fmla="val 17857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596896" y="2148840"/>
            <a:ext cx="5102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멈춘 AGV, 현장에 가지 않고 빼낼 수 있을까?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7845552" y="2295144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45552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441448" y="2990088"/>
            <a:ext cx="941832" cy="237744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441448" y="299008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LiDAR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474720" y="2990088"/>
            <a:ext cx="1252728" cy="237744"/>
          </a:xfrm>
          <a:prstGeom prst="roundRect">
            <a:avLst>
              <a:gd name="adj" fmla="val 50000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74720" y="299008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Meta Quest 2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818888" y="2990088"/>
            <a:ext cx="1408176" cy="237744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18888" y="29900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TurtleBot3 × 2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318504" y="2990088"/>
            <a:ext cx="1330452" cy="237744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18504" y="2990088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1 · ROS 2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395728" y="3474720"/>
            <a:ext cx="2898648" cy="777240"/>
          </a:xfrm>
          <a:prstGeom prst="roundRect">
            <a:avLst>
              <a:gd name="adj" fmla="val 20000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2578608" y="358444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로봇이 판단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2578608" y="3840480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위험하면 즉시 정지, 원인과 탈출 경로 계산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422392" y="3474720"/>
            <a:ext cx="2898648" cy="777240"/>
          </a:xfrm>
          <a:prstGeom prst="roundRect">
            <a:avLst>
              <a:gd name="adj" fmla="val 20000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5605272" y="3584448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사람이 결정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605272" y="3840480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 → VR 콕핏에서 직접 탈출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1984248" y="4526280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국립한국해양대학교 · [팀명] · [발표자]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1078992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  문제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AGV와 같은 통로를 쓰는 사람들은 어떤 문제를 겪고 있나?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984248" y="1179576"/>
            <a:ext cx="6748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작업자는 부딪히고 끼이며, 관제사는 AGV가 멈출 때마다 현장으로 걸어가고, 그동안 라인이 선다.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1984248" y="1700784"/>
            <a:ext cx="2164080" cy="1417320"/>
          </a:xfrm>
          <a:prstGeom prst="roundRect">
            <a:avLst>
              <a:gd name="adj" fmla="val 1096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2167128" y="1847088"/>
            <a:ext cx="179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53%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2167128" y="2478024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산업용 로봇 재해 중 끼임 (부딪힘 34%)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819144" y="1847088"/>
            <a:ext cx="182880" cy="182880"/>
          </a:xfrm>
          <a:prstGeom prst="ellipse">
            <a:avLst/>
          </a:prstGeom>
          <a:solidFill>
            <a:srgbClr val="F3F0EA"/>
          </a:solidFill>
          <a:ln w="6350">
            <a:solidFill>
              <a:srgbClr val="D1D1C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819144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4276344" y="1700784"/>
            <a:ext cx="2164080" cy="1417320"/>
          </a:xfrm>
          <a:prstGeom prst="roundRect">
            <a:avLst>
              <a:gd name="adj" fmla="val 1096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4459224" y="1847088"/>
            <a:ext cx="179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66명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4459224" y="2478024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끼임 사고사망, 전년 대비 +22.2%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111240" y="1847088"/>
            <a:ext cx="182880" cy="182880"/>
          </a:xfrm>
          <a:prstGeom prst="ellipse">
            <a:avLst/>
          </a:prstGeom>
          <a:solidFill>
            <a:srgbClr val="F3F0EA"/>
          </a:solidFill>
          <a:ln w="6350">
            <a:solidFill>
              <a:srgbClr val="D1D1C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11240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568440" y="1700784"/>
            <a:ext cx="2164080" cy="1417320"/>
          </a:xfrm>
          <a:prstGeom prst="roundRect">
            <a:avLst>
              <a:gd name="adj" fmla="val 1096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751320" y="1847088"/>
            <a:ext cx="179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$2.3M</a:t>
            </a:r>
            <a:endParaRPr lang="en-US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6751320" y="2478024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자동차 라인 시간당 정지 비용 최대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403336" y="1847088"/>
            <a:ext cx="182880" cy="182880"/>
          </a:xfrm>
          <a:prstGeom prst="ellipse">
            <a:avLst/>
          </a:prstGeom>
          <a:solidFill>
            <a:srgbClr val="F3F0EA"/>
          </a:solidFill>
          <a:ln w="6350">
            <a:solidFill>
              <a:srgbClr val="D1D1C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403336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1984248" y="3300984"/>
            <a:ext cx="6748272" cy="749808"/>
          </a:xfrm>
          <a:prstGeom prst="roundRect">
            <a:avLst>
              <a:gd name="adj" fmla="val 20732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167128" y="3392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보급형 AGV의 한계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2167128" y="3630168"/>
            <a:ext cx="638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① 2D LiDAR 한 평면만 본다    ② 뒤를 못 봐 스스로 못 물러난다    ③ 멈추면 사람이 걸어가야 풀린다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984248" y="45262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2395728" y="4526280"/>
            <a:ext cx="1412748" cy="237744"/>
          </a:xfrm>
          <a:prstGeom prst="roundRect">
            <a:avLst>
              <a:gd name="adj" fmla="val 50000"/>
            </a:avLst>
          </a:prstGeom>
          <a:solidFill>
            <a:srgbClr val="FDFBFA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395728" y="4526280"/>
            <a:ext cx="1412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KOSHA 2011–2020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899916" y="4526280"/>
            <a:ext cx="1069848" cy="237744"/>
          </a:xfrm>
          <a:prstGeom prst="roundRect">
            <a:avLst>
              <a:gd name="adj" fmla="val 50000"/>
            </a:avLst>
          </a:prstGeom>
          <a:solidFill>
            <a:srgbClr val="FDFBFA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899916" y="4526280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고용노동부 2025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061204" y="4526280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FDFBFA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061204" y="45262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Siemens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4592" y="1463040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Agent의 목표와 역할, 핵심기능은?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984248" y="1179576"/>
            <a:ext cx="2148840" cy="1024128"/>
          </a:xfrm>
          <a:prstGeom prst="roundRect">
            <a:avLst>
              <a:gd name="adj" fmla="val 15179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167128" y="13075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2167128" y="15453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AGV 2대 협착·충돌 0건,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막히면 출동 없이 원격 탈출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984248" y="2331720"/>
            <a:ext cx="2148840" cy="1783080"/>
          </a:xfrm>
          <a:prstGeom prst="roundRect">
            <a:avLst>
              <a:gd name="adj" fmla="val 871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167128" y="2478024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167128" y="247802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2167128" y="2779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감시 · 정지 · 원인 · 경로 추천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167128" y="309981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167128" y="30998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사람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2167128" y="3401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선택 · VR 조종 · 재개 승인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2167128" y="3749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후진 · 자동 재개 없음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261104" y="1179576"/>
            <a:ext cx="2171700" cy="1417320"/>
          </a:xfrm>
          <a:prstGeom prst="roundRect">
            <a:avLst>
              <a:gd name="adj" fmla="val 1096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4443984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4443984" y="1563624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즉시 멈춘다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4443984" y="1929384"/>
            <a:ext cx="18059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0.35m · AGV 간 0.3m → 전진 지령 0. 후진은 후방 0.20m 가드.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560820" y="1179576"/>
            <a:ext cx="2171700" cy="1417320"/>
          </a:xfrm>
          <a:prstGeom prst="roundRect">
            <a:avLst>
              <a:gd name="adj" fmla="val 1096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6743700" y="1325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6743700" y="1563624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경로를 그린다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6743700" y="1929384"/>
            <a:ext cx="18059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72방향 탈출 경로를 영상 바닥·관제 맵에 표시, 돌 쪽 손 진동.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261104" y="2724912"/>
            <a:ext cx="2171700" cy="1417320"/>
          </a:xfrm>
          <a:prstGeom prst="roundRect">
            <a:avLst>
              <a:gd name="adj" fmla="val 1096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4443984" y="2871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4443984" y="3108960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클릭 한 번에 VR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4443984" y="3474720"/>
            <a:ext cx="18059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 → 그 로봇 콕핏, 그 로봇만 MANUAL, 그립 데드맨.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560820" y="2724912"/>
            <a:ext cx="2171700" cy="1417320"/>
          </a:xfrm>
          <a:prstGeom prst="roundRect">
            <a:avLst>
              <a:gd name="adj" fmla="val 1096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6743700" y="28712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6743700" y="3108960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2대 AUTO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743700" y="3474720"/>
            <a:ext cx="18059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직진 순찰, 0.3m 안에서 만나면 둘 다 정지, 사람이 한 대를 비킨다.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" y="1847088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순서로 판단하고, 어디서 사람에게 넘기나?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984248" y="1179576"/>
            <a:ext cx="2164080" cy="868680"/>
          </a:xfrm>
          <a:prstGeom prst="roundRect">
            <a:avLst>
              <a:gd name="adj" fmla="val 17895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167128" y="1344168"/>
            <a:ext cx="274320" cy="274320"/>
          </a:xfrm>
          <a:prstGeom prst="ellips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6712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2551176" y="1325880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AUTO 순찰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2167128" y="1709928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키 · 2대 직진 0.10 m/s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276344" y="1179576"/>
            <a:ext cx="2164080" cy="868680"/>
          </a:xfrm>
          <a:prstGeom prst="roundRect">
            <a:avLst>
              <a:gd name="adj" fmla="val 17895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459224" y="1344168"/>
            <a:ext cx="274320" cy="274320"/>
          </a:xfrm>
          <a:prstGeom prst="ellips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459224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4843272" y="1325880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위험 감지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4459224" y="1709928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360° · odom 20 Hz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568440" y="1179576"/>
            <a:ext cx="2164080" cy="868680"/>
          </a:xfrm>
          <a:prstGeom prst="roundRect">
            <a:avLst>
              <a:gd name="adj" fmla="val 17895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751320" y="1344168"/>
            <a:ext cx="274320" cy="274320"/>
          </a:xfrm>
          <a:prstGeom prst="ellips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51320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7135368" y="1325880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정지 게이트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6751320" y="1709928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전진 지령 0 · 원인 기록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1984248" y="2176272"/>
            <a:ext cx="2164080" cy="868680"/>
          </a:xfrm>
          <a:prstGeom prst="roundRect">
            <a:avLst>
              <a:gd name="adj" fmla="val 17895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2167128" y="2340864"/>
            <a:ext cx="274320" cy="274320"/>
          </a:xfrm>
          <a:prstGeom prst="ellips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16712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2551176" y="232257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탈출 경로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2167128" y="2706624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72방향 회랑 · 영상 투영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276344" y="2176272"/>
            <a:ext cx="2164080" cy="868680"/>
          </a:xfrm>
          <a:prstGeom prst="roundRect">
            <a:avLst>
              <a:gd name="adj" fmla="val 17895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459224" y="2340864"/>
            <a:ext cx="274320" cy="274320"/>
          </a:xfrm>
          <a:prstGeom prst="ellips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459224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4843272" y="232257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VR 개입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5727192" y="235915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727192" y="23591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사람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4459224" y="2706624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 → 콕핏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568440" y="2176272"/>
            <a:ext cx="2164080" cy="868680"/>
          </a:xfrm>
          <a:prstGeom prst="roundRect">
            <a:avLst>
              <a:gd name="adj" fmla="val 17895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6751320" y="2340864"/>
            <a:ext cx="274320" cy="274320"/>
          </a:xfrm>
          <a:prstGeom prst="ellips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75132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7135368" y="232257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AUTO 재개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8019288" y="235915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019288" y="23591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사람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6751320" y="2706624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R · 자동 재개 없음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1984248" y="3246120"/>
            <a:ext cx="2164080" cy="1005840"/>
          </a:xfrm>
          <a:prstGeom prst="roundRect">
            <a:avLst>
              <a:gd name="adj" fmla="val 15455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167128" y="3374136"/>
            <a:ext cx="179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2167128" y="3611880"/>
            <a:ext cx="179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&lt; 0.35m 또는 AGV 간 &lt; 0.3m → 전진 차단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4276344" y="3246120"/>
            <a:ext cx="2164080" cy="1005840"/>
          </a:xfrm>
          <a:prstGeom prst="roundRect">
            <a:avLst>
              <a:gd name="adj" fmla="val 15455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459224" y="3374136"/>
            <a:ext cx="179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4459224" y="3611880"/>
            <a:ext cx="179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5° × 72방향 회랑 여유 d(h), J = d(h) − 0.25·|h| 최대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6568440" y="3246120"/>
            <a:ext cx="2164080" cy="1005840"/>
          </a:xfrm>
          <a:prstGeom prst="roundRect">
            <a:avLst>
              <a:gd name="adj" fmla="val 15455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751320" y="3374136"/>
            <a:ext cx="179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850" dirty="0"/>
          </a:p>
        </p:txBody>
      </p:sp>
      <p:sp>
        <p:nvSpPr>
          <p:cNvPr id="70" name="Text 67"/>
          <p:cNvSpPr txBox="1"/>
          <p:nvPr/>
        </p:nvSpPr>
        <p:spPr>
          <a:xfrm>
            <a:off x="6751320" y="3611880"/>
            <a:ext cx="179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바닥에 경로 띠·선회 화살표, 조작은 사람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1984248" y="45262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2395728" y="4526280"/>
            <a:ext cx="1824228" cy="237744"/>
          </a:xfrm>
          <a:prstGeom prst="roundRect">
            <a:avLst>
              <a:gd name="adj" fmla="val 50000"/>
            </a:avLst>
          </a:prstGeom>
          <a:solidFill>
            <a:srgbClr val="FDFBFA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2395728" y="4526280"/>
            <a:ext cx="182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VFH · Borenstein 1991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4311396" y="4526280"/>
            <a:ext cx="2235708" cy="237744"/>
          </a:xfrm>
          <a:prstGeom prst="roundRect">
            <a:avLst>
              <a:gd name="adj" fmla="val 50000"/>
            </a:avLst>
          </a:prstGeom>
          <a:solidFill>
            <a:srgbClr val="FDFBFA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4311396" y="4526280"/>
            <a:ext cx="2235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Follow-the-Gap · Sezer 2012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" y="1847088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AI, Tool, Data, Memory는 각각 무엇인가?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984248" y="1179576"/>
            <a:ext cx="3931920" cy="1963178"/>
          </a:xfrm>
          <a:prstGeom prst="roundRect">
            <a:avLst>
              <a:gd name="adj" fmla="val 7918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0" descr="시스템 아키텍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1271016"/>
            <a:ext cx="3749040" cy="178029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984248" y="323419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게이트를 통과한 속도만 /cmd_vel로 나간다 · 20 Hz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6190488" y="11795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6190488" y="147218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기하 추론 · 곡률 궤적. LLM 미사용, 같은 입력 → 같은 판단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190488" y="1965960"/>
            <a:ext cx="254203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190488" y="20482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Tool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6190488" y="234086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/cmd_vel · /odom · /scan (rosbridge), 카메라, Unity, Quest 2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190488" y="2834640"/>
            <a:ext cx="254203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190488" y="29169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Data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6190488" y="320954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LiDAR 360° · 휠 odom · 640×480 영상. 학습 데이터 없음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190488" y="3703320"/>
            <a:ext cx="254203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190488" y="37856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Memory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6190488" y="407822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로봇별 AUTO/MANUAL · 정지 원인 · 운행 이력 JSONL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" y="2231136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입력 → 판단 → Tool → 결과가 어떻게 이어지나?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165592" y="113385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65592" y="113385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LIVE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984248" y="1380744"/>
            <a:ext cx="6748272" cy="2706624"/>
          </a:xfrm>
          <a:prstGeom prst="roundRect">
            <a:avLst>
              <a:gd name="adj" fmla="val 5743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2121408" y="1453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3035808" y="14538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041648" y="14538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(Agent)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5824728" y="1453896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 호출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7132320" y="14538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121408" y="1728216"/>
            <a:ext cx="647395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121408" y="174650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자율 순찰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3035808" y="1746504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PC  R</a:t>
            </a:r>
            <a:endParaRPr lang="en-US" sz="930" dirty="0"/>
          </a:p>
        </p:txBody>
      </p:sp>
      <p:sp>
        <p:nvSpPr>
          <p:cNvPr id="39" name="Text 36"/>
          <p:cNvSpPr txBox="1"/>
          <p:nvPr/>
        </p:nvSpPr>
        <p:spPr>
          <a:xfrm>
            <a:off x="4041648" y="1746504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간 0.3m · 전방 0.35m 감시</a:t>
            </a:r>
            <a:endParaRPr lang="en-US" sz="930" dirty="0"/>
          </a:p>
        </p:txBody>
      </p:sp>
      <p:sp>
        <p:nvSpPr>
          <p:cNvPr id="40" name="Text 37"/>
          <p:cNvSpPr txBox="1"/>
          <p:nvPr/>
        </p:nvSpPr>
        <p:spPr>
          <a:xfrm>
            <a:off x="5824728" y="17465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0.10 m/s</a:t>
            </a:r>
            <a:endParaRPr lang="en-US" sz="930" dirty="0"/>
          </a:p>
        </p:txBody>
      </p:sp>
      <p:sp>
        <p:nvSpPr>
          <p:cNvPr id="41" name="Text 38"/>
          <p:cNvSpPr txBox="1"/>
          <p:nvPr/>
        </p:nvSpPr>
        <p:spPr>
          <a:xfrm>
            <a:off x="7132320" y="174650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2대 주행 → 접근 시 정지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2121408" y="2185416"/>
            <a:ext cx="647395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121408" y="220370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정지·알림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3035808" y="2203704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작업자 진입</a:t>
            </a:r>
            <a:endParaRPr lang="en-US" sz="930" dirty="0"/>
          </a:p>
        </p:txBody>
      </p:sp>
      <p:sp>
        <p:nvSpPr>
          <p:cNvPr id="45" name="Text 42"/>
          <p:cNvSpPr txBox="1"/>
          <p:nvPr/>
        </p:nvSpPr>
        <p:spPr>
          <a:xfrm>
            <a:off x="4041648" y="2203704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0.35m 안 → 전진 차단</a:t>
            </a:r>
            <a:endParaRPr lang="en-US" sz="930" dirty="0"/>
          </a:p>
        </p:txBody>
      </p:sp>
      <p:sp>
        <p:nvSpPr>
          <p:cNvPr id="46" name="Text 43"/>
          <p:cNvSpPr txBox="1"/>
          <p:nvPr/>
        </p:nvSpPr>
        <p:spPr>
          <a:xfrm>
            <a:off x="5824728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 · STOP</a:t>
            </a:r>
            <a:endParaRPr lang="en-US" sz="930" dirty="0"/>
          </a:p>
        </p:txBody>
      </p:sp>
      <p:sp>
        <p:nvSpPr>
          <p:cNvPr id="47" name="Text 44"/>
          <p:cNvSpPr txBox="1"/>
          <p:nvPr/>
        </p:nvSpPr>
        <p:spPr>
          <a:xfrm>
            <a:off x="7132320" y="220370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지도 적색 · 원인 · 경로 띠</a:t>
            </a:r>
            <a:endParaRPr lang="en-US" sz="930" dirty="0"/>
          </a:p>
        </p:txBody>
      </p:sp>
      <p:sp>
        <p:nvSpPr>
          <p:cNvPr id="48" name="Shape 45"/>
          <p:cNvSpPr/>
          <p:nvPr/>
        </p:nvSpPr>
        <p:spPr>
          <a:xfrm>
            <a:off x="2121408" y="2642616"/>
            <a:ext cx="647395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121408" y="266090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VR 개입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3035808" y="2660904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</a:t>
            </a:r>
            <a:endParaRPr lang="en-US" sz="930" dirty="0"/>
          </a:p>
        </p:txBody>
      </p:sp>
      <p:sp>
        <p:nvSpPr>
          <p:cNvPr id="51" name="Text 48"/>
          <p:cNvSpPr txBox="1"/>
          <p:nvPr/>
        </p:nvSpPr>
        <p:spPr>
          <a:xfrm>
            <a:off x="4041648" y="2660904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로봇만 MANUAL · 탈출 방향</a:t>
            </a:r>
            <a:endParaRPr lang="en-US" sz="930" dirty="0"/>
          </a:p>
        </p:txBody>
      </p:sp>
      <p:sp>
        <p:nvSpPr>
          <p:cNvPr id="52" name="Text 49"/>
          <p:cNvSpPr txBox="1"/>
          <p:nvPr/>
        </p:nvSpPr>
        <p:spPr>
          <a:xfrm>
            <a:off x="5824728" y="26609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 콕핏 · 손 진동</a:t>
            </a:r>
            <a:endParaRPr lang="en-US" sz="930" dirty="0"/>
          </a:p>
        </p:txBody>
      </p:sp>
      <p:sp>
        <p:nvSpPr>
          <p:cNvPr id="53" name="Text 50"/>
          <p:cNvSpPr txBox="1"/>
          <p:nvPr/>
        </p:nvSpPr>
        <p:spPr>
          <a:xfrm>
            <a:off x="7132320" y="266090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그립 + 스틱으로 탈출</a:t>
            </a:r>
            <a:endParaRPr lang="en-US" sz="930" dirty="0"/>
          </a:p>
        </p:txBody>
      </p:sp>
      <p:sp>
        <p:nvSpPr>
          <p:cNvPr id="54" name="Shape 51"/>
          <p:cNvSpPr/>
          <p:nvPr/>
        </p:nvSpPr>
        <p:spPr>
          <a:xfrm>
            <a:off x="2121408" y="3099816"/>
            <a:ext cx="647395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121408" y="311810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안전장치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3035808" y="3118104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그립 놓기 · 과속</a:t>
            </a:r>
            <a:endParaRPr lang="en-US" sz="930" dirty="0"/>
          </a:p>
        </p:txBody>
      </p:sp>
      <p:sp>
        <p:nvSpPr>
          <p:cNvPr id="57" name="Text 54"/>
          <p:cNvSpPr txBox="1"/>
          <p:nvPr/>
        </p:nvSpPr>
        <p:spPr>
          <a:xfrm>
            <a:off x="4041648" y="3118104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데드맨 · 0.15 m/s · 워치독 0.5s</a:t>
            </a:r>
            <a:endParaRPr lang="en-US" sz="930" dirty="0"/>
          </a:p>
        </p:txBody>
      </p:sp>
      <p:sp>
        <p:nvSpPr>
          <p:cNvPr id="58" name="Text 55"/>
          <p:cNvSpPr txBox="1"/>
          <p:nvPr/>
        </p:nvSpPr>
        <p:spPr>
          <a:xfrm>
            <a:off x="5824728" y="31181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 또는 제한</a:t>
            </a:r>
            <a:endParaRPr lang="en-US" sz="930" dirty="0"/>
          </a:p>
        </p:txBody>
      </p:sp>
      <p:sp>
        <p:nvSpPr>
          <p:cNvPr id="59" name="Text 56"/>
          <p:cNvSpPr txBox="1"/>
          <p:nvPr/>
        </p:nvSpPr>
        <p:spPr>
          <a:xfrm>
            <a:off x="7132320" y="311810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즉시 정지 · 속도 제한</a:t>
            </a:r>
            <a:endParaRPr lang="en-US" sz="930" dirty="0"/>
          </a:p>
        </p:txBody>
      </p:sp>
      <p:sp>
        <p:nvSpPr>
          <p:cNvPr id="60" name="Shape 57"/>
          <p:cNvSpPr/>
          <p:nvPr/>
        </p:nvSpPr>
        <p:spPr>
          <a:xfrm>
            <a:off x="2121408" y="3557016"/>
            <a:ext cx="647395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121408" y="357530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재개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3035808" y="3575304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PC  R</a:t>
            </a:r>
            <a:endParaRPr lang="en-US" sz="930" dirty="0"/>
          </a:p>
        </p:txBody>
      </p:sp>
      <p:sp>
        <p:nvSpPr>
          <p:cNvPr id="63" name="Text 60"/>
          <p:cNvSpPr txBox="1"/>
          <p:nvPr/>
        </p:nvSpPr>
        <p:spPr>
          <a:xfrm>
            <a:off x="4041648" y="3575304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승인 시에만 AUTO</a:t>
            </a:r>
            <a:endParaRPr lang="en-US" sz="930" dirty="0"/>
          </a:p>
        </p:txBody>
      </p:sp>
      <p:sp>
        <p:nvSpPr>
          <p:cNvPr id="64" name="Text 61"/>
          <p:cNvSpPr txBox="1"/>
          <p:nvPr/>
        </p:nvSpPr>
        <p:spPr>
          <a:xfrm>
            <a:off x="5824728" y="35753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0.10 m/s</a:t>
            </a:r>
            <a:endParaRPr lang="en-US" sz="930" dirty="0"/>
          </a:p>
        </p:txBody>
      </p:sp>
      <p:sp>
        <p:nvSpPr>
          <p:cNvPr id="65" name="Text 62"/>
          <p:cNvSpPr txBox="1"/>
          <p:nvPr/>
        </p:nvSpPr>
        <p:spPr>
          <a:xfrm>
            <a:off x="7132320" y="357530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순찰 복귀</a:t>
            </a:r>
            <a:endParaRPr lang="en-US" sz="930" dirty="0"/>
          </a:p>
        </p:txBody>
      </p:sp>
      <p:sp>
        <p:nvSpPr>
          <p:cNvPr id="66" name="Text 63"/>
          <p:cNvSpPr txBox="1"/>
          <p:nvPr/>
        </p:nvSpPr>
        <p:spPr>
          <a:xfrm>
            <a:off x="1984248" y="4553712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4분할: 관제 맵 · Quest 콕핏 · 릴레이 터미널 · 실물 캠 — 라이브 불가 시 시연 영상으로 대체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" y="2231136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멈췄을 때 화면에는 무엇이 보이나?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984248" y="1179576"/>
            <a:ext cx="2606040" cy="2000250"/>
          </a:xfrm>
          <a:prstGeom prst="roundRect">
            <a:avLst>
              <a:gd name="adj" fmla="val 7771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0" descr="콕핏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1271016"/>
            <a:ext cx="2423160" cy="181737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718304" y="1179576"/>
            <a:ext cx="2000250" cy="2000250"/>
          </a:xfrm>
          <a:prstGeom prst="roundRect">
            <a:avLst>
              <a:gd name="adj" fmla="val 7771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pic>
        <p:nvPicPr>
          <p:cNvPr id="31" name="Image 1" descr="관제 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271016"/>
            <a:ext cx="1817370" cy="181737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947154" y="1179576"/>
            <a:ext cx="1785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콕핏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6947154" y="1453896"/>
            <a:ext cx="178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바닥 경로 띠 · 선회 화살표 · 정지 배너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6947154" y="2048256"/>
            <a:ext cx="1785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관제 맵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6947154" y="2322576"/>
            <a:ext cx="178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적색 차체 · 위험 원판 · 사이드바 정지 원인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6947154" y="2916936"/>
            <a:ext cx="1785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터미널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6947154" y="3191256"/>
            <a:ext cx="1785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[AUTO] STUCK · [INTERLOCK] = 판단 → Tool 기록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1984248" y="327126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콕핏: 정지 배너 · 탈출 경로</a:t>
            </a:r>
            <a:endParaRPr lang="en-US" sz="850" dirty="0"/>
          </a:p>
        </p:txBody>
      </p:sp>
      <p:sp>
        <p:nvSpPr>
          <p:cNvPr id="39" name="Text 34"/>
          <p:cNvSpPr txBox="1"/>
          <p:nvPr/>
        </p:nvSpPr>
        <p:spPr>
          <a:xfrm>
            <a:off x="4718304" y="3271266"/>
            <a:ext cx="20002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맵: 적색 경고</a:t>
            </a:r>
            <a:endParaRPr lang="en-US" sz="850" dirty="0"/>
          </a:p>
        </p:txBody>
      </p:sp>
      <p:sp>
        <p:nvSpPr>
          <p:cNvPr id="40" name="Text 35"/>
          <p:cNvSpPr txBox="1"/>
          <p:nvPr/>
        </p:nvSpPr>
        <p:spPr>
          <a:xfrm>
            <a:off x="1984248" y="4553712"/>
            <a:ext cx="6748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출력 예시 · 발표 당일 라이브 화면이 우선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" y="2615184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달라졌고, 어떻게 검증했나?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984248" y="1179576"/>
            <a:ext cx="2011680" cy="1600200"/>
          </a:xfrm>
          <a:prstGeom prst="roundRect">
            <a:avLst>
              <a:gd name="adj" fmla="val 9714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167128" y="1307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2167128" y="1591056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비상정지 → 통로 마비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현장 출동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이유 기록 없음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23944" y="1179576"/>
            <a:ext cx="2011680" cy="1600200"/>
          </a:xfrm>
          <a:prstGeom prst="roundRect">
            <a:avLst>
              <a:gd name="adj" fmla="val 9714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4306824" y="1307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306824" y="1591056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전진만 차단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관제석에서 VR로 탈출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원인·경로가 로그에 남음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355080" y="11795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78/78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7498080" y="11795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E2E 자동 시험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355080" y="1728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10회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7498080" y="17282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무결점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355080" y="22768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0건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7498080" y="22768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300초 부하 안전 위반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984248" y="2962656"/>
            <a:ext cx="6748272" cy="822960"/>
          </a:xfrm>
          <a:prstGeom prst="roundRect">
            <a:avLst>
              <a:gd name="adj" fmla="val 18889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167128" y="309067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167128" y="30906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사용자 검증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2167128" y="3383280"/>
            <a:ext cx="6382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팀원이 관제사·VR 조작자 역할로 실물 TB1·TB2 확인. 외부 사용자 평가와 현장 정지 시간(MTBI) 측정은 다음 단계.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4592" y="2999232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 들이기 전에 무엇을 보완해야 하나?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984248" y="1179576"/>
            <a:ext cx="6748272" cy="2926080"/>
          </a:xfrm>
          <a:prstGeom prst="roundRect">
            <a:avLst>
              <a:gd name="adj" fmla="val 5313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16712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76732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669340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 방법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167128" y="1527048"/>
            <a:ext cx="638251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167128" y="1527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높이 사각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3767328" y="152704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LiDAR 바닥 약 0.17m 한 평면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693408" y="1527048"/>
            <a:ext cx="1856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깊이 카메라 융합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167128" y="2039112"/>
            <a:ext cx="638251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167128" y="20391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위치 누적 오차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3767328" y="203911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휠 odom 누적 → 시작 위치 재설정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693408" y="2039112"/>
            <a:ext cx="1856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SLAM 위치 보정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2167128" y="2551176"/>
            <a:ext cx="638251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67128" y="25511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통신 두절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3767328" y="255117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1 로봇 정지 동작이 펌웨어 의존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693408" y="2551176"/>
            <a:ext cx="1856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로봇 측 정지 감시 노드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2167128" y="3063240"/>
            <a:ext cx="638251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167128" y="30632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보안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3767328" y="30632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rosbridge 인증 없음 → 망 분리 운용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693408" y="3063240"/>
            <a:ext cx="1856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인증 · 암호화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2167128" y="3575304"/>
            <a:ext cx="6382512" cy="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167128" y="357530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효과 실측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3767328" y="357530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시간(MTBI) 현장 측정 전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6693408" y="3575304"/>
            <a:ext cx="1856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파일럿 라인 계측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00200" cy="51435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0200" y="0"/>
            <a:ext cx="0" cy="5143500"/>
          </a:xfrm>
          <a:prstGeom prst="line">
            <a:avLst/>
          </a:prstGeom>
          <a:noFill/>
          <a:ln w="6350">
            <a:solidFill>
              <a:srgbClr val="D1D1C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84048"/>
            <a:ext cx="182880" cy="164592"/>
          </a:xfrm>
          <a:prstGeom prst="triangle">
            <a:avLst/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47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[팀명]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868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10789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078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2608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Agent 설명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4630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1847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구조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8470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" y="22311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실제 시연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31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" y="26151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성과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6151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4592" y="2999232"/>
            <a:ext cx="1271016" cy="310896"/>
          </a:xfrm>
          <a:prstGeom prst="roundRect">
            <a:avLst>
              <a:gd name="adj" fmla="val 36765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2608" y="2999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  발전 · BM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9992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42748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 2026</a:t>
            </a:r>
            <a:endParaRPr lang="en-US" sz="7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291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47594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947672" y="374904"/>
            <a:ext cx="6821424" cy="640080"/>
          </a:xfrm>
          <a:prstGeom prst="roundRect">
            <a:avLst>
              <a:gd name="adj" fmla="val 23571"/>
            </a:avLst>
          </a:prstGeom>
          <a:solidFill>
            <a:srgbClr val="FAF8F5"/>
          </a:solidFill>
          <a:ln w="15875">
            <a:solidFill>
              <a:srgbClr val="016A71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84248" y="411480"/>
            <a:ext cx="6748272" cy="566928"/>
          </a:xfrm>
          <a:prstGeom prst="roundRect">
            <a:avLst>
              <a:gd name="adj" fmla="val 20161"/>
            </a:avLst>
          </a:prstGeom>
          <a:solidFill>
            <a:srgbClr val="FAF8F5"/>
          </a:solidFill>
          <a:ln w="9525">
            <a:solidFill>
              <a:srgbClr val="D1D1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85416" y="411480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2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확산하고, 무엇으로 사업화하나?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57032" y="521208"/>
            <a:ext cx="347472" cy="347472"/>
          </a:xfrm>
          <a:prstGeom prst="roundRect">
            <a:avLst>
              <a:gd name="adj" fmla="val 32895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57032" y="521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AF8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984248" y="1179576"/>
            <a:ext cx="2164080" cy="1188720"/>
          </a:xfrm>
          <a:prstGeom prst="roundRect">
            <a:avLst>
              <a:gd name="adj" fmla="val 13077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167128" y="1325880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개조 패키지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2167128" y="1682496"/>
            <a:ext cx="179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2D LiDAR AGV에 릴레이 + 관제·VR SW 설치. 기체 교체 없음.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276344" y="1179576"/>
            <a:ext cx="2164080" cy="1188720"/>
          </a:xfrm>
          <a:prstGeom prst="roundRect">
            <a:avLst>
              <a:gd name="adj" fmla="val 13077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4459224" y="1325880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관제 구독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459224" y="1682496"/>
            <a:ext cx="179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대수 기준 SW 구독, 정지 원인 로그 리포트.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568440" y="1179576"/>
            <a:ext cx="2164080" cy="1188720"/>
          </a:xfrm>
          <a:prstGeom prst="roundRect">
            <a:avLst>
              <a:gd name="adj" fmla="val 13077"/>
            </a:avLst>
          </a:prstGeom>
          <a:solidFill>
            <a:srgbClr val="FDFBFA"/>
          </a:solidFill>
          <a:ln w="12700">
            <a:solidFill>
              <a:srgbClr val="FDFBF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6751320" y="1325880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25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원격 개입 센터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751320" y="1682496"/>
            <a:ext cx="179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현장의 멈춘 로봇을 한 관제석에서 VR로 복구.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984248" y="2478024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016A71"/>
          </a:solidFill>
          <a:ln w="12700">
            <a:solidFill>
              <a:srgbClr val="016A7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984248" y="24780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구상 단계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2916936" y="2478024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270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가격·매출 수치는 파일럿 이후 산정  ·  시장: AGV·AMR 2030년 $22B (LogisticsIQ 2024)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984248" y="2935224"/>
            <a:ext cx="6748272" cy="1097280"/>
          </a:xfrm>
          <a:prstGeom prst="roundRect">
            <a:avLst>
              <a:gd name="adj" fmla="val 14167"/>
            </a:avLst>
          </a:prstGeom>
          <a:solidFill>
            <a:srgbClr val="27251E"/>
          </a:solidFill>
          <a:ln w="12700">
            <a:solidFill>
              <a:srgbClr val="27251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258568" y="2935224"/>
            <a:ext cx="6199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AF8F5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로봇은 멈추고 알리고, 판단은 사람이 내린다.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멈추고, 알리고, 사람이 빼낸다 — Perplexity style</dc:title>
  <dc:subject>PptxGenJS Presentation</dc:subject>
  <dc:creator>PptxGenJS</dc:creator>
  <cp:lastModifiedBy>PptxGenJS</cp:lastModifiedBy>
  <cp:revision>1</cp:revision>
  <dcterms:created xsi:type="dcterms:W3CDTF">2026-10-04T04:41:41Z</dcterms:created>
  <dcterms:modified xsi:type="dcterms:W3CDTF">2026-10-04T04:41:41Z</dcterms:modified>
</cp:coreProperties>
</file>