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5852160"/>
          </a:xfrm>
          <a:prstGeom prst="rect">
            <a:avLst/>
          </a:prstGeom>
          <a:solidFill>
            <a:srgbClr val="0F2D4D"/>
          </a:solidFill>
          <a:ln w="12700">
            <a:solidFill>
              <a:srgbClr val="0F2D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87568"/>
            <a:ext cx="30275784" cy="164592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2C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제4회
</a:t>
            </a:r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경남 AI·SW 경진대회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 제조 피지컬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0" y="411480"/>
            <a:ext cx="193029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MetaQuest VR 기반 피지컬 AI AGV</a:t>
            </a:r>
            <a:endParaRPr lang="en-US" sz="6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개입 &amp; 협착 방지 디지털 트윈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035040" y="2743200"/>
            <a:ext cx="19302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E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Remote VR Intervention and Entrapment Prevention for Physical-AI AGVs with a Digital Twin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0" y="3474720"/>
            <a:ext cx="19302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· [팀장명]*, [팀원명]*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035040" y="4206240"/>
            <a:ext cx="19302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E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*국립한국해양대학교 [학부/학과]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5520904" y="822960"/>
            <a:ext cx="4023360" cy="3657600"/>
          </a:xfrm>
          <a:prstGeom prst="roundRect">
            <a:avLst>
              <a:gd name="adj" fmla="val 5000"/>
            </a:avLst>
          </a:prstGeom>
          <a:solidFill>
            <a:srgbClr val="16395F"/>
          </a:solidFill>
          <a:ln w="19050">
            <a:solidFill>
              <a:srgbClr val="3B6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20904" y="8229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C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
</a:t>
            </a:r>
            <a:pPr algn="ctr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TurtleBot3 × 2</a:t>
            </a:r>
            <a:endParaRPr lang="en-US" sz="3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 Quest 2</a:t>
            </a:r>
            <a:endParaRPr lang="en-US" sz="3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Unity 6 · ROS 1/2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1520" y="6629400"/>
            <a:ext cx="14040612" cy="960120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6629400"/>
            <a:ext cx="1349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프로젝트 현황</a:t>
            </a:r>
            <a:endParaRPr lang="en-US" sz="4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7863840"/>
          <a:ext cx="14040612" cy="914400"/>
        </p:xfrm>
        <a:graphic>
          <a:graphicData uri="http://schemas.openxmlformats.org/drawingml/2006/table">
            <a:tbl>
              <a:tblPr/>
              <a:tblGrid>
                <a:gridCol w="3052307"/>
                <a:gridCol w="10988305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제목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MetaQuest VR 기반 피지컬 AI 원격 개입 &amp; AGV 협착 방지 디지털 트윈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1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요약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2D LiDAR·카메라만 단 보급형 AGV가 위험하면 스스로 멈추고, 정지 원인과 탈출 경로를 화면에 그려 관제사를 부른다. 관제사가 지도에서 로봇을 누르면 VR로 그 로봇 운전석에 들어가 빼낸 뒤 순찰을 다시 맡긴다.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/ 분야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대학부 / 32 (3-2. 제조 피지컬 AI — MetaQuest2 VR 기반 피지컬 AI Agent)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팀명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[팀명] (국립한국해양대학교)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팀원 · 역할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[팀장명]: [역할] / [팀원명]: [역할]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https://github.com/hun1105/gohst_rider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31520" y="12609576"/>
            <a:ext cx="14040612" cy="960120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2609576"/>
            <a:ext cx="1349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프로젝트 개요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22960" y="13844016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 문제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68680" y="14410944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280160" y="14392656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사람과 AGV가 같은 통로를 쓰는 곳에서 사고는 끼임·부딪힘에 몰리고 [1][2], 멈춘 라인은 곧 비용이다 [3].</a:t>
            </a:r>
            <a:endParaRPr lang="en-US" sz="2500" dirty="0"/>
          </a:p>
        </p:txBody>
      </p:sp>
      <p:sp>
        <p:nvSpPr>
          <p:cNvPr id="19" name="Shape 16"/>
          <p:cNvSpPr/>
          <p:nvPr/>
        </p:nvSpPr>
        <p:spPr>
          <a:xfrm>
            <a:off x="731520" y="15455900"/>
            <a:ext cx="4497324" cy="2011680"/>
          </a:xfrm>
          <a:prstGeom prst="roundRect">
            <a:avLst>
              <a:gd name="adj" fmla="val 5455"/>
            </a:avLst>
          </a:prstGeom>
          <a:solidFill>
            <a:srgbClr val="0F2D4D"/>
          </a:solidFill>
          <a:ln w="12700">
            <a:solidFill>
              <a:srgbClr val="0F2D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15638780"/>
            <a:ext cx="4223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C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868680" y="16598900"/>
            <a:ext cx="422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재해 중 끼임</a:t>
            </a:r>
            <a:endParaRPr lang="en-US" sz="2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KOSHA 2011–2020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5503164" y="15455900"/>
            <a:ext cx="449732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40324" y="15638780"/>
            <a:ext cx="4223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66명</a:t>
            </a:r>
            <a:endParaRPr lang="en-US" sz="5400" dirty="0"/>
          </a:p>
        </p:txBody>
      </p:sp>
      <p:sp>
        <p:nvSpPr>
          <p:cNvPr id="24" name="Text 21"/>
          <p:cNvSpPr/>
          <p:nvPr/>
        </p:nvSpPr>
        <p:spPr>
          <a:xfrm>
            <a:off x="5640324" y="16598900"/>
            <a:ext cx="422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끼임 사망</a:t>
            </a:r>
            <a:endParaRPr lang="en-US" sz="2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고용노동부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274808" y="15455900"/>
            <a:ext cx="449732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11968" y="15638780"/>
            <a:ext cx="4223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$2.3M/h</a:t>
            </a:r>
            <a:endParaRPr lang="en-US" sz="5400" dirty="0"/>
          </a:p>
        </p:txBody>
      </p:sp>
      <p:sp>
        <p:nvSpPr>
          <p:cNvPr id="27" name="Text 24"/>
          <p:cNvSpPr/>
          <p:nvPr/>
        </p:nvSpPr>
        <p:spPr>
          <a:xfrm>
            <a:off x="10411968" y="16598900"/>
            <a:ext cx="422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 라인 정지 최대</a:t>
            </a:r>
            <a:endParaRPr lang="en-US" sz="2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2024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868680" y="17805908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1280160" y="17787620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높이 사각지대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2D LiDAR는 바닥 약 0.17m 한 평면만 본다.</a:t>
            </a:r>
            <a:endParaRPr lang="en-US" sz="2500" dirty="0"/>
          </a:p>
        </p:txBody>
      </p:sp>
      <p:sp>
        <p:nvSpPr>
          <p:cNvPr id="30" name="Text 27"/>
          <p:cNvSpPr/>
          <p:nvPr/>
        </p:nvSpPr>
        <p:spPr>
          <a:xfrm>
            <a:off x="868680" y="18346674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31" name="Text 28"/>
          <p:cNvSpPr/>
          <p:nvPr/>
        </p:nvSpPr>
        <p:spPr>
          <a:xfrm>
            <a:off x="1280160" y="18328386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자율 후진의 역설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뒤를 못 보니 스스로 물러날 수 없어 비상정지로 끝난다.</a:t>
            </a:r>
            <a:endParaRPr lang="en-US" sz="2500" dirty="0"/>
          </a:p>
        </p:txBody>
      </p:sp>
      <p:sp>
        <p:nvSpPr>
          <p:cNvPr id="32" name="Text 29"/>
          <p:cNvSpPr/>
          <p:nvPr/>
        </p:nvSpPr>
        <p:spPr>
          <a:xfrm>
            <a:off x="868680" y="18887440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33" name="Text 30"/>
          <p:cNvSpPr/>
          <p:nvPr/>
        </p:nvSpPr>
        <p:spPr>
          <a:xfrm>
            <a:off x="1280160" y="18869152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물리적 출동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멈춘 로봇은 관리자가 걸어가야 풀리고, 그동안 통로가 막힌다 [6][7].</a:t>
            </a:r>
            <a:endParaRPr lang="en-US" sz="2500" dirty="0"/>
          </a:p>
        </p:txBody>
      </p:sp>
      <p:sp>
        <p:nvSpPr>
          <p:cNvPr id="34" name="Text 31"/>
          <p:cNvSpPr/>
          <p:nvPr/>
        </p:nvSpPr>
        <p:spPr>
          <a:xfrm>
            <a:off x="822960" y="19519646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 사용자</a:t>
            </a:r>
            <a:endParaRPr lang="en-US" sz="28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068286"/>
          <a:ext cx="14040612" cy="914400"/>
        </p:xfrm>
        <a:graphic>
          <a:graphicData uri="http://schemas.openxmlformats.org/drawingml/2006/table">
            <a:tbl>
              <a:tblPr/>
              <a:tblGrid>
                <a:gridCol w="3088935"/>
                <a:gridCol w="3088935"/>
                <a:gridCol w="7862743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하는 일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관제사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PC 관제 맵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AGV를 지도로 보며 멈춘 로봇을 고른다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원격 조작자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Meta Quest 2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고른 로봇의 1인칭 운전석에서 직접 빼낸다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현장 작업자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AGV와 같은 통로를 쓰는 보호 대상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822960" y="22473158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 목표</a:t>
            </a:r>
            <a:endParaRPr lang="en-US" sz="2800" dirty="0"/>
          </a:p>
        </p:txBody>
      </p:sp>
      <p:sp>
        <p:nvSpPr>
          <p:cNvPr id="37" name="Text 33"/>
          <p:cNvSpPr/>
          <p:nvPr/>
        </p:nvSpPr>
        <p:spPr>
          <a:xfrm>
            <a:off x="868680" y="23040086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38" name="Text 34"/>
          <p:cNvSpPr/>
          <p:nvPr/>
        </p:nvSpPr>
        <p:spPr>
          <a:xfrm>
            <a:off x="1280160" y="23021798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 2대 운용 중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작업자 협착·충돌 0건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봉착 시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출동 없이 원격 탈출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500" dirty="0"/>
          </a:p>
        </p:txBody>
      </p:sp>
      <p:sp>
        <p:nvSpPr>
          <p:cNvPr id="39" name="Text 35"/>
          <p:cNvSpPr/>
          <p:nvPr/>
        </p:nvSpPr>
        <p:spPr>
          <a:xfrm>
            <a:off x="868680" y="23580852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40" name="Text 36"/>
          <p:cNvSpPr/>
          <p:nvPr/>
        </p:nvSpPr>
        <p:spPr>
          <a:xfrm>
            <a:off x="1280160" y="23562564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로봇이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(정지·원인·탈출 경로 계산),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움직임 결정은 근거를 본 사람이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내린다.</a:t>
            </a:r>
            <a:endParaRPr lang="en-US" sz="2500" dirty="0"/>
          </a:p>
        </p:txBody>
      </p:sp>
      <p:sp>
        <p:nvSpPr>
          <p:cNvPr id="41" name="Shape 37"/>
          <p:cNvSpPr/>
          <p:nvPr/>
        </p:nvSpPr>
        <p:spPr>
          <a:xfrm>
            <a:off x="731520" y="24350218"/>
            <a:ext cx="14040612" cy="960120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05840" y="24350218"/>
            <a:ext cx="1349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개발 세부 내용</a:t>
            </a:r>
            <a:endParaRPr lang="en-US" sz="4400" dirty="0"/>
          </a:p>
        </p:txBody>
      </p:sp>
      <p:sp>
        <p:nvSpPr>
          <p:cNvPr id="43" name="Text 39"/>
          <p:cNvSpPr/>
          <p:nvPr/>
        </p:nvSpPr>
        <p:spPr>
          <a:xfrm>
            <a:off x="822960" y="25584658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 시스템 구조 — 3 Tier</a:t>
            </a:r>
            <a:endParaRPr lang="en-US" sz="2800" dirty="0"/>
          </a:p>
        </p:txBody>
      </p:sp>
      <p:sp>
        <p:nvSpPr>
          <p:cNvPr id="44" name="Text 40"/>
          <p:cNvSpPr/>
          <p:nvPr/>
        </p:nvSpPr>
        <p:spPr>
          <a:xfrm>
            <a:off x="868680" y="26151586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45" name="Text 41"/>
          <p:cNvSpPr/>
          <p:nvPr/>
        </p:nvSpPr>
        <p:spPr>
          <a:xfrm>
            <a:off x="1280160" y="26133298"/>
            <a:ext cx="13354812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TurtleBot3 2대 (TB1 ROS 1 · TB2 ROS 2) ↔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릴레이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Python asyncio 20 Hz ↔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트윈·VR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Unity 6 관제 맵 + Quest 2 콕핏.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게이트를 통과한 속도만 /cmd_vel로 나간다.</a:t>
            </a:r>
            <a:endParaRPr lang="en-US" sz="2500" dirty="0"/>
          </a:p>
        </p:txBody>
      </p:sp>
      <p:sp>
        <p:nvSpPr>
          <p:cNvPr id="46" name="Shape 42"/>
          <p:cNvSpPr/>
          <p:nvPr/>
        </p:nvSpPr>
        <p:spPr>
          <a:xfrm>
            <a:off x="731520" y="27609292"/>
            <a:ext cx="14040612" cy="6397347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pic>
        <p:nvPicPr>
          <p:cNvPr id="47" name="Image 0" descr="[그림 1] 시스템 아키텍처 — Unity ↔ AI 릴레이 ↔ TurtleBot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634" y="27792172"/>
            <a:ext cx="10666385" cy="6031587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731520" y="34006639"/>
            <a:ext cx="14040612" cy="502920"/>
          </a:xfrm>
          <a:prstGeom prst="rect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14400" y="34006639"/>
            <a:ext cx="13674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[그림 1] 시스템 아키텍처 — Unity ↔ AI 릴레이 ↔ TurtleBot3</a:t>
            </a:r>
            <a:endParaRPr lang="en-US" sz="2100" dirty="0"/>
          </a:p>
        </p:txBody>
      </p:sp>
      <p:sp>
        <p:nvSpPr>
          <p:cNvPr id="50" name="Text 45"/>
          <p:cNvSpPr/>
          <p:nvPr/>
        </p:nvSpPr>
        <p:spPr>
          <a:xfrm>
            <a:off x="822960" y="34738159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3.2 활용 데이터</a:t>
            </a:r>
            <a:endParaRPr lang="en-US" sz="2800" dirty="0"/>
          </a:p>
        </p:txBody>
      </p:sp>
      <p:sp>
        <p:nvSpPr>
          <p:cNvPr id="51" name="Text 46"/>
          <p:cNvSpPr/>
          <p:nvPr/>
        </p:nvSpPr>
        <p:spPr>
          <a:xfrm>
            <a:off x="868680" y="35305087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52" name="Text 47"/>
          <p:cNvSpPr/>
          <p:nvPr/>
        </p:nvSpPr>
        <p:spPr>
          <a:xfrm>
            <a:off x="1280160" y="35286799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센서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LiDAR 360° (무효값 0.0 제외, 0.12m 하한), 휠 odom, 640×480 영상 15.7 fps. 학습 데이터 수집·라벨링 없음.</a:t>
            </a:r>
            <a:endParaRPr lang="en-US" sz="2500" dirty="0"/>
          </a:p>
        </p:txBody>
      </p:sp>
      <p:sp>
        <p:nvSpPr>
          <p:cNvPr id="53" name="Text 48"/>
          <p:cNvSpPr/>
          <p:nvPr/>
        </p:nvSpPr>
        <p:spPr>
          <a:xfrm>
            <a:off x="868680" y="36258603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54" name="Text 49"/>
          <p:cNvSpPr/>
          <p:nvPr/>
        </p:nvSpPr>
        <p:spPr>
          <a:xfrm>
            <a:off x="1280160" y="36240315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사전학습 모델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YOLOv8n (COCO) 회랑 검출 — 현장 미검증, 실시간 판단은 LiDAR가 맡음.</a:t>
            </a:r>
            <a:endParaRPr lang="en-US" sz="2500" dirty="0"/>
          </a:p>
        </p:txBody>
      </p:sp>
      <p:sp>
        <p:nvSpPr>
          <p:cNvPr id="55" name="Text 50"/>
          <p:cNvSpPr/>
          <p:nvPr/>
        </p:nvSpPr>
        <p:spPr>
          <a:xfrm>
            <a:off x="868680" y="36799369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56" name="Text 51"/>
          <p:cNvSpPr/>
          <p:nvPr/>
        </p:nvSpPr>
        <p:spPr>
          <a:xfrm>
            <a:off x="1280160" y="36781081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운행 이력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릴레이 이벤트 로그 + 1 Hz 텔레메트리 JSONL (정지 원인·모드·경로 신뢰도).</a:t>
            </a:r>
            <a:endParaRPr lang="en-US" sz="2500" dirty="0"/>
          </a:p>
        </p:txBody>
      </p:sp>
      <p:sp>
        <p:nvSpPr>
          <p:cNvPr id="57" name="Text 52"/>
          <p:cNvSpPr/>
          <p:nvPr/>
        </p:nvSpPr>
        <p:spPr>
          <a:xfrm>
            <a:off x="822960" y="37431575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3.3 AI · Tool · 알고리즘</a:t>
            </a:r>
            <a:endParaRPr lang="en-US" sz="28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980215"/>
          <a:ext cx="14040612" cy="914400"/>
        </p:xfrm>
        <a:graphic>
          <a:graphicData uri="http://schemas.openxmlformats.org/drawingml/2006/table">
            <a:tbl>
              <a:tblPr/>
              <a:tblGrid>
                <a:gridCol w="3774358"/>
                <a:gridCol w="10266254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 요소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Goal · Planning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협착·충돌 0건 / 순찰 → 위험 감지 → 정지 → 탈출 경로 → 수동 개입 → 재개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Reasoning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LiDAR 섹터 거리 · 로봇 폭 회랑 · 곡률 궤적 · 로봇 간 거리 (LLM 미사용)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Tool Use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ROS /cmd_vel · /odom · /scan (rosbridge), ustreamer 카메라, WebSocket, Unity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Memory · Feedback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로봇별 모드 · 정지 원인 · 운행 이력 / 영상 경로 띠 · 적색 경고 · 손 진동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9" name="Text 53"/>
          <p:cNvSpPr/>
          <p:nvPr/>
        </p:nvSpPr>
        <p:spPr>
          <a:xfrm>
            <a:off x="15595092" y="6492240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3.3 (계속) 정지 · 탈출 판단 — 조건 → 방법 → 결과</a:t>
            </a:r>
            <a:endParaRPr lang="en-US" sz="2800" dirty="0"/>
          </a:p>
        </p:txBody>
      </p:sp>
      <p:sp>
        <p:nvSpPr>
          <p:cNvPr id="60" name="Text 54"/>
          <p:cNvSpPr/>
          <p:nvPr/>
        </p:nvSpPr>
        <p:spPr>
          <a:xfrm>
            <a:off x="15640812" y="7059168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61" name="Text 55"/>
          <p:cNvSpPr/>
          <p:nvPr/>
        </p:nvSpPr>
        <p:spPr>
          <a:xfrm>
            <a:off x="16052292" y="7040880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전방 &lt; 0.35m 또는 로봇 간 중심 &lt; 0.3m → 전진 지령 0, 정지·알림 (후진은 후방 0.20m 가드).</a:t>
            </a:r>
            <a:endParaRPr lang="en-US" sz="2500" dirty="0"/>
          </a:p>
        </p:txBody>
      </p:sp>
      <p:sp>
        <p:nvSpPr>
          <p:cNvPr id="62" name="Text 56"/>
          <p:cNvSpPr/>
          <p:nvPr/>
        </p:nvSpPr>
        <p:spPr>
          <a:xfrm>
            <a:off x="15640812" y="8012684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63" name="Text 57"/>
          <p:cNvSpPr/>
          <p:nvPr/>
        </p:nvSpPr>
        <p:spPr>
          <a:xfrm>
            <a:off x="16052292" y="7994396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5° × 72방향 로봇 폭 회랑 여유 d(h), 0.5m 미만 제외, </a:t>
            </a:r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 = d(h) − 0.25·|h|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최대 방향 (VFH [4] · Follow-the-Gap [5] 계열).</a:t>
            </a:r>
            <a:endParaRPr lang="en-US" sz="2500" dirty="0"/>
          </a:p>
        </p:txBody>
      </p:sp>
      <p:sp>
        <p:nvSpPr>
          <p:cNvPr id="64" name="Text 58"/>
          <p:cNvSpPr/>
          <p:nvPr/>
        </p:nvSpPr>
        <p:spPr>
          <a:xfrm>
            <a:off x="15640812" y="8966200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65" name="Text 59"/>
          <p:cNvSpPr/>
          <p:nvPr/>
        </p:nvSpPr>
        <p:spPr>
          <a:xfrm>
            <a:off x="16052292" y="8947912"/>
            <a:ext cx="13354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그 방향을 영상 바닥에 경로 띠·선회 화살표로 투영, 조작은 사람.</a:t>
            </a:r>
            <a:endParaRPr lang="en-US" sz="2500" dirty="0"/>
          </a:p>
        </p:txBody>
      </p:sp>
      <p:sp>
        <p:nvSpPr>
          <p:cNvPr id="66" name="Shape 60"/>
          <p:cNvSpPr/>
          <p:nvPr/>
        </p:nvSpPr>
        <p:spPr>
          <a:xfrm>
            <a:off x="15503652" y="9598406"/>
            <a:ext cx="14040612" cy="4094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pic>
        <p:nvPicPr>
          <p:cNvPr id="67" name="Image 1" descr="[그림 2] 탈출 방향 계산 예 — 전방 상자 + 우측 벽 → 좌 40° 선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754" y="9781286"/>
            <a:ext cx="8478408" cy="3728700"/>
          </a:xfrm>
          <a:prstGeom prst="rect">
            <a:avLst/>
          </a:prstGeom>
        </p:spPr>
      </p:pic>
      <p:sp>
        <p:nvSpPr>
          <p:cNvPr id="68" name="Shape 61"/>
          <p:cNvSpPr/>
          <p:nvPr/>
        </p:nvSpPr>
        <p:spPr>
          <a:xfrm>
            <a:off x="15503652" y="13692866"/>
            <a:ext cx="14040612" cy="502920"/>
          </a:xfrm>
          <a:prstGeom prst="rect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15686532" y="13692866"/>
            <a:ext cx="13674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[그림 2] 탈출 방향 계산 예 — 전방 상자 + 우측 벽 → 좌 40° 선택</a:t>
            </a:r>
            <a:endParaRPr lang="en-US" sz="2100" dirty="0"/>
          </a:p>
        </p:txBody>
      </p:sp>
      <p:sp>
        <p:nvSpPr>
          <p:cNvPr id="70" name="Text 63"/>
          <p:cNvSpPr/>
          <p:nvPr/>
        </p:nvSpPr>
        <p:spPr>
          <a:xfrm>
            <a:off x="15595092" y="14424386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3.4 단계별 개발 내용</a:t>
            </a:r>
            <a:endParaRPr lang="en-US" sz="28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14973026"/>
          <a:ext cx="14040612" cy="914400"/>
        </p:xfrm>
        <a:graphic>
          <a:graphicData uri="http://schemas.openxmlformats.org/drawingml/2006/table">
            <a:tbl>
              <a:tblPr/>
              <a:tblGrid>
                <a:gridCol w="3170461"/>
                <a:gridCol w="10870151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기반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메시지 규격(PROTOCOL.md), 릴레이 골격, Unity 트윈 씬 자동 생성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실물 연동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rosbridge 다중 로봇 링크 (ROS 1·2 혼용), 속도 상한·LiDAR 가드·통신 두절 정지, 카메라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안전 판단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후진 삭제 → 정지·알림, LiDAR 탈출 경로, 로봇별 AUTO, 만남 시 둘 다 정지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원격 개입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관제 맵 클릭 빙의, PC·HMD 분리, 그립 데드맨·양손 조작·진동, 영상 경로 투영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검증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가짜 rosbridge E2E 자동 시험 78항목, 10회 반복, 300초 부하, 실물 TB1·TB2 주행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Shape 64"/>
          <p:cNvSpPr/>
          <p:nvPr/>
        </p:nvSpPr>
        <p:spPr>
          <a:xfrm>
            <a:off x="15503652" y="18877514"/>
            <a:ext cx="14040612" cy="960120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15777972" y="18877514"/>
            <a:ext cx="1349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구현 결과</a:t>
            </a:r>
            <a:endParaRPr lang="en-US" sz="4400" dirty="0"/>
          </a:p>
        </p:txBody>
      </p:sp>
      <p:sp>
        <p:nvSpPr>
          <p:cNvPr id="74" name="Text 66"/>
          <p:cNvSpPr/>
          <p:nvPr/>
        </p:nvSpPr>
        <p:spPr>
          <a:xfrm>
            <a:off x="15595092" y="20111954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 기능 구현</a:t>
            </a:r>
            <a:endParaRPr lang="en-US" sz="28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20660594"/>
          <a:ext cx="14040612" cy="914400"/>
        </p:xfrm>
        <a:graphic>
          <a:graphicData uri="http://schemas.openxmlformats.org/drawingml/2006/table">
            <a:tbl>
              <a:tblPr/>
              <a:tblGrid>
                <a:gridCol w="3166020"/>
                <a:gridCol w="7570918"/>
                <a:gridCol w="3303673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 내용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EC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정지·알림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전방 0.35m · 로봇 간 0.3m 전진 차단, 후진·회전은 허용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TC-01 PASS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2대 AUTO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각자 직진 0.10 m/s, 만나면 둘 다 정지, 자동 재개 없음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TC-02·05 자동 PASS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VR 원격 개입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관제 맵 클릭 → 그 로봇 콕핏 즉시 전환, 그 로봇만 MANUAL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TC-03 PASS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원격 조종 안전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그립 데드맨 · 상한 0.15 m/s · 워치독 0.5s · 연결 해제 정지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TC-04 PASS</a:t>
                      </a:r>
                      <a:endParaRPr lang="en-US" sz="2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6" name="Shape 67"/>
          <p:cNvSpPr/>
          <p:nvPr/>
        </p:nvSpPr>
        <p:spPr>
          <a:xfrm>
            <a:off x="15503652" y="24226754"/>
            <a:ext cx="4497324" cy="2011680"/>
          </a:xfrm>
          <a:prstGeom prst="roundRect">
            <a:avLst>
              <a:gd name="adj" fmla="val 5455"/>
            </a:avLst>
          </a:prstGeom>
          <a:solidFill>
            <a:srgbClr val="0F2D4D"/>
          </a:solidFill>
          <a:ln w="12700">
            <a:solidFill>
              <a:srgbClr val="0F2D4D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15640812" y="24409634"/>
            <a:ext cx="4223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C1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78/78</a:t>
            </a:r>
            <a:endParaRPr lang="en-US" sz="5400" dirty="0"/>
          </a:p>
        </p:txBody>
      </p:sp>
      <p:sp>
        <p:nvSpPr>
          <p:cNvPr id="78" name="Text 69"/>
          <p:cNvSpPr/>
          <p:nvPr/>
        </p:nvSpPr>
        <p:spPr>
          <a:xfrm>
            <a:off x="15640812" y="25369754"/>
            <a:ext cx="422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자동 시험</a:t>
            </a:r>
            <a:endParaRPr lang="en-US" sz="2100" dirty="0"/>
          </a:p>
        </p:txBody>
      </p:sp>
      <p:sp>
        <p:nvSpPr>
          <p:cNvPr id="79" name="Shape 70"/>
          <p:cNvSpPr/>
          <p:nvPr/>
        </p:nvSpPr>
        <p:spPr>
          <a:xfrm>
            <a:off x="20275296" y="24226754"/>
            <a:ext cx="449732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sp>
        <p:nvSpPr>
          <p:cNvPr id="80" name="Text 71"/>
          <p:cNvSpPr/>
          <p:nvPr/>
        </p:nvSpPr>
        <p:spPr>
          <a:xfrm>
            <a:off x="20412456" y="24409634"/>
            <a:ext cx="4223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</a:t>
            </a:r>
            <a:endParaRPr lang="en-US" sz="5400" dirty="0"/>
          </a:p>
        </p:txBody>
      </p:sp>
      <p:sp>
        <p:nvSpPr>
          <p:cNvPr id="81" name="Text 72"/>
          <p:cNvSpPr/>
          <p:nvPr/>
        </p:nvSpPr>
        <p:spPr>
          <a:xfrm>
            <a:off x="20412456" y="25369754"/>
            <a:ext cx="422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무결점</a:t>
            </a:r>
            <a:endParaRPr lang="en-US" sz="2100" dirty="0"/>
          </a:p>
        </p:txBody>
      </p:sp>
      <p:sp>
        <p:nvSpPr>
          <p:cNvPr id="82" name="Shape 73"/>
          <p:cNvSpPr/>
          <p:nvPr/>
        </p:nvSpPr>
        <p:spPr>
          <a:xfrm>
            <a:off x="25046940" y="24226754"/>
            <a:ext cx="4497324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25184100" y="24409634"/>
            <a:ext cx="42230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5400" dirty="0"/>
          </a:p>
        </p:txBody>
      </p:sp>
      <p:sp>
        <p:nvSpPr>
          <p:cNvPr id="84" name="Text 75"/>
          <p:cNvSpPr/>
          <p:nvPr/>
        </p:nvSpPr>
        <p:spPr>
          <a:xfrm>
            <a:off x="25184100" y="25369754"/>
            <a:ext cx="422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300초 부하 안전 위반</a:t>
            </a:r>
            <a:endParaRPr lang="en-US" sz="2100" dirty="0"/>
          </a:p>
        </p:txBody>
      </p:sp>
      <p:sp>
        <p:nvSpPr>
          <p:cNvPr id="85" name="Text 76"/>
          <p:cNvSpPr/>
          <p:nvPr/>
        </p:nvSpPr>
        <p:spPr>
          <a:xfrm>
            <a:off x="15595092" y="26558474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 대시보드 — 관제 맵 · VR 콕핏</a:t>
            </a:r>
            <a:endParaRPr lang="en-US" sz="2800" dirty="0"/>
          </a:p>
        </p:txBody>
      </p:sp>
      <p:sp>
        <p:nvSpPr>
          <p:cNvPr id="86" name="Shape 77"/>
          <p:cNvSpPr/>
          <p:nvPr/>
        </p:nvSpPr>
        <p:spPr>
          <a:xfrm>
            <a:off x="15503652" y="27107114"/>
            <a:ext cx="1404061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pic>
        <p:nvPicPr>
          <p:cNvPr id="87" name="Image 2" descr="콕핏: 정지 배너 · 탈출 경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6318" y="27289994"/>
            <a:ext cx="4389120" cy="3291840"/>
          </a:xfrm>
          <a:prstGeom prst="rect">
            <a:avLst/>
          </a:prstGeom>
        </p:spPr>
      </p:pic>
      <p:sp>
        <p:nvSpPr>
          <p:cNvPr id="88" name="Text 78"/>
          <p:cNvSpPr/>
          <p:nvPr/>
        </p:nvSpPr>
        <p:spPr>
          <a:xfrm>
            <a:off x="18546318" y="3067327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콕핏: 정지 배너 · 탈출 경로</a:t>
            </a:r>
            <a:endParaRPr lang="en-US" sz="2100" dirty="0"/>
          </a:p>
        </p:txBody>
      </p:sp>
      <p:pic>
        <p:nvPicPr>
          <p:cNvPr id="89" name="Image 3" descr="관제 맵: 적색 경고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9758" y="27289994"/>
            <a:ext cx="3291840" cy="3291840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23209758" y="3067327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맵: 적색 경고</a:t>
            </a:r>
            <a:endParaRPr lang="en-US" sz="2100" dirty="0"/>
          </a:p>
        </p:txBody>
      </p:sp>
      <p:sp>
        <p:nvSpPr>
          <p:cNvPr id="91" name="Shape 80"/>
          <p:cNvSpPr/>
          <p:nvPr/>
        </p:nvSpPr>
        <p:spPr>
          <a:xfrm>
            <a:off x="15503652" y="31313354"/>
            <a:ext cx="14040612" cy="502920"/>
          </a:xfrm>
          <a:prstGeom prst="rect">
            <a:avLst/>
          </a:prstGeom>
          <a:solidFill>
            <a:srgbClr val="E6E8EB"/>
          </a:solidFill>
          <a:ln w="12700">
            <a:solidFill>
              <a:srgbClr val="E6E8EB"/>
            </a:solidFill>
            <a:prstDash val="solid"/>
          </a:ln>
        </p:spPr>
      </p:sp>
      <p:sp>
        <p:nvSpPr>
          <p:cNvPr id="92" name="Text 81"/>
          <p:cNvSpPr/>
          <p:nvPr/>
        </p:nvSpPr>
        <p:spPr>
          <a:xfrm>
            <a:off x="15686532" y="31313354"/>
            <a:ext cx="136748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[그림 3] 정지 시 화면 — 멈춘 이유와 빠져나갈 길이 보인다</a:t>
            </a:r>
            <a:endParaRPr lang="en-US" sz="2100" dirty="0"/>
          </a:p>
        </p:txBody>
      </p:sp>
      <p:sp>
        <p:nvSpPr>
          <p:cNvPr id="93" name="Text 82"/>
          <p:cNvSpPr/>
          <p:nvPr/>
        </p:nvSpPr>
        <p:spPr>
          <a:xfrm>
            <a:off x="15640812" y="32063162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94" name="Text 83"/>
          <p:cNvSpPr/>
          <p:nvPr/>
        </p:nvSpPr>
        <p:spPr>
          <a:xfrm>
            <a:off x="16052292" y="32044874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맵: 로봇별 상태 카드 (AUTO/MANUAL/STOP · 정지 원인), 휠 줌·드래그, 사이드바 위치·크기 조절.</a:t>
            </a:r>
            <a:endParaRPr lang="en-US" sz="2500" dirty="0"/>
          </a:p>
        </p:txBody>
      </p:sp>
      <p:sp>
        <p:nvSpPr>
          <p:cNvPr id="95" name="Shape 84"/>
          <p:cNvSpPr/>
          <p:nvPr/>
        </p:nvSpPr>
        <p:spPr>
          <a:xfrm>
            <a:off x="15503652" y="33245278"/>
            <a:ext cx="14040612" cy="960120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96" name="Text 85"/>
          <p:cNvSpPr/>
          <p:nvPr/>
        </p:nvSpPr>
        <p:spPr>
          <a:xfrm>
            <a:off x="15777972" y="33245278"/>
            <a:ext cx="1349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기대효과</a:t>
            </a:r>
            <a:endParaRPr lang="en-US" sz="4400" dirty="0"/>
          </a:p>
        </p:txBody>
      </p:sp>
      <p:sp>
        <p:nvSpPr>
          <p:cNvPr id="97" name="Text 86"/>
          <p:cNvSpPr/>
          <p:nvPr/>
        </p:nvSpPr>
        <p:spPr>
          <a:xfrm>
            <a:off x="15640812" y="34498006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98" name="Text 87"/>
          <p:cNvSpPr/>
          <p:nvPr/>
        </p:nvSpPr>
        <p:spPr>
          <a:xfrm>
            <a:off x="16052292" y="34479718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기대효과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출동 대신 관제석에서 복구 → 통로 정체 감소, 정지 원인·경로 기록으로 사고 원인 추적.</a:t>
            </a:r>
            <a:endParaRPr lang="en-US" sz="2500" dirty="0"/>
          </a:p>
        </p:txBody>
      </p:sp>
      <p:sp>
        <p:nvSpPr>
          <p:cNvPr id="99" name="Text 88"/>
          <p:cNvSpPr/>
          <p:nvPr/>
        </p:nvSpPr>
        <p:spPr>
          <a:xfrm>
            <a:off x="15640812" y="35451522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100" name="Text 89"/>
          <p:cNvSpPr/>
          <p:nvPr/>
        </p:nvSpPr>
        <p:spPr>
          <a:xfrm>
            <a:off x="16052292" y="35433234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3D LiDAR 없이 2D LiDAR·카메라·SW로 정지 판단과 VR 원격 탈출 구현, ROS 1·2 실물 2대 동시 운용.</a:t>
            </a:r>
            <a:endParaRPr lang="en-US" sz="2500" dirty="0"/>
          </a:p>
        </p:txBody>
      </p:sp>
      <p:sp>
        <p:nvSpPr>
          <p:cNvPr id="101" name="Text 90"/>
          <p:cNvSpPr/>
          <p:nvPr/>
        </p:nvSpPr>
        <p:spPr>
          <a:xfrm>
            <a:off x="15640812" y="36405038"/>
            <a:ext cx="36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750" dirty="0"/>
          </a:p>
        </p:txBody>
      </p:sp>
      <p:sp>
        <p:nvSpPr>
          <p:cNvPr id="102" name="Text 91"/>
          <p:cNvSpPr/>
          <p:nvPr/>
        </p:nvSpPr>
        <p:spPr>
          <a:xfrm>
            <a:off x="16052292" y="36386750"/>
            <a:ext cx="133548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pPr indent="0" marL="0">
              <a:lnSpc>
                <a:spcPct val="130000"/>
              </a:lnSpc>
              <a:buNone/>
            </a:pPr>
            <a:r>
              <a:rPr lang="en-US" sz="2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높이 사각 · odom 누적 오차 · rosbridge 무인증 · 정지 시간(MTBI) 현장 미측정 → 깊이 카메라 · SLAM · 인증 · 파일럿 실측.</a:t>
            </a:r>
            <a:endParaRPr lang="en-US" sz="2500" dirty="0"/>
          </a:p>
        </p:txBody>
      </p:sp>
      <p:sp>
        <p:nvSpPr>
          <p:cNvPr id="103" name="Shape 92"/>
          <p:cNvSpPr/>
          <p:nvPr/>
        </p:nvSpPr>
        <p:spPr>
          <a:xfrm>
            <a:off x="15503652" y="37587154"/>
            <a:ext cx="14040612" cy="960120"/>
          </a:xfrm>
          <a:prstGeom prst="rect">
            <a:avLst/>
          </a:prstGeom>
          <a:solidFill>
            <a:srgbClr val="2E5A8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04" name="Text 93"/>
          <p:cNvSpPr/>
          <p:nvPr/>
        </p:nvSpPr>
        <p:spPr>
          <a:xfrm>
            <a:off x="15777972" y="37587154"/>
            <a:ext cx="134919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참고문헌</a:t>
            </a:r>
            <a:endParaRPr lang="en-US" sz="4400" dirty="0"/>
          </a:p>
        </p:txBody>
      </p:sp>
      <p:sp>
        <p:nvSpPr>
          <p:cNvPr id="105" name="Text 94"/>
          <p:cNvSpPr/>
          <p:nvPr/>
        </p:nvSpPr>
        <p:spPr>
          <a:xfrm>
            <a:off x="15640812" y="3883988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260" dirty="0"/>
          </a:p>
        </p:txBody>
      </p:sp>
      <p:sp>
        <p:nvSpPr>
          <p:cNvPr id="106" name="Text 95"/>
          <p:cNvSpPr/>
          <p:nvPr/>
        </p:nvSpPr>
        <p:spPr>
          <a:xfrm>
            <a:off x="16052292" y="38821594"/>
            <a:ext cx="13354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[1] KOSHA 산업용 로봇 재해 분석 2011~2020. [2] 고용노동부, 2024년 재해조사 대상 사망사고 발생현황 (2025). [3] Siemens, The True Cost of Downtime 2024.</a:t>
            </a:r>
            <a:endParaRPr lang="en-US" sz="1800" dirty="0"/>
          </a:p>
        </p:txBody>
      </p:sp>
      <p:sp>
        <p:nvSpPr>
          <p:cNvPr id="107" name="Text 96"/>
          <p:cNvSpPr/>
          <p:nvPr/>
        </p:nvSpPr>
        <p:spPr>
          <a:xfrm>
            <a:off x="15640812" y="3956225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2E5A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</a:t>
            </a:r>
            <a:endParaRPr lang="en-US" sz="1260" dirty="0"/>
          </a:p>
        </p:txBody>
      </p:sp>
      <p:sp>
        <p:nvSpPr>
          <p:cNvPr id="108" name="Text 97"/>
          <p:cNvSpPr/>
          <p:nvPr/>
        </p:nvSpPr>
        <p:spPr>
          <a:xfrm>
            <a:off x="16052292" y="39543970"/>
            <a:ext cx="13354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[4] Borenstein &amp; Koren, The Vector Field Histogram, IEEE T-RA, 1991. [5] Sezer &amp; Gokasan, Follow the Gap Method, RAS, 2012. [6] AutoInspect, arXiv:2404.12785, 2024. [7] VDI 2710 Blatt 5.</a:t>
            </a:r>
            <a:endParaRPr lang="en-US" sz="1800" dirty="0"/>
          </a:p>
        </p:txBody>
      </p:sp>
      <p:sp>
        <p:nvSpPr>
          <p:cNvPr id="109" name="Shape 98"/>
          <p:cNvSpPr/>
          <p:nvPr/>
        </p:nvSpPr>
        <p:spPr>
          <a:xfrm>
            <a:off x="0" y="41340024"/>
            <a:ext cx="3027578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6"/>
            </a:solidFill>
            <a:prstDash val="solid"/>
          </a:ln>
        </p:spPr>
      </p:sp>
      <p:sp>
        <p:nvSpPr>
          <p:cNvPr id="110" name="Text 99"/>
          <p:cNvSpPr/>
          <p:nvPr/>
        </p:nvSpPr>
        <p:spPr>
          <a:xfrm>
            <a:off x="731520" y="41340024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국립한국해양대학교</a:t>
            </a:r>
            <a:endParaRPr lang="en-US" sz="4000" dirty="0"/>
          </a:p>
        </p:txBody>
      </p:sp>
      <p:sp>
        <p:nvSpPr>
          <p:cNvPr id="111" name="Text 100"/>
          <p:cNvSpPr/>
          <p:nvPr/>
        </p:nvSpPr>
        <p:spPr>
          <a:xfrm>
            <a:off x="14913864" y="41340024"/>
            <a:ext cx="1463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소스코드 https://github.com/hun1105/gohst_rider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판넬형 보고서 — MetaQuest VR 피지컬 AI AGV 디지털 트윈</dc:title>
  <dc:subject>PptxGenJS Presentation</dc:subject>
  <dc:creator>PptxGenJS</dc:creator>
  <cp:lastModifiedBy>PptxGenJS</cp:lastModifiedBy>
  <cp:revision>1</cp:revision>
  <dcterms:created xsi:type="dcterms:W3CDTF">2026-10-03T14:36:24Z</dcterms:created>
  <dcterms:modified xsi:type="dcterms:W3CDTF">2026-10-03T14:36:24Z</dcterms:modified>
</cp:coreProperties>
</file>