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국립한국해양대학교 [팀명]입니다. 막히면 멈추고, 알리고, 사람이 VR로 빼내는 AGV 피지컬 AI를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AGV와 같은 통로를 쓰는 작업자는 부딪히고 끼입니다. 산업용 로봇 재해의 53%가 끼임이고, 2024년 끼임 사망자는 66명이었습니다. 관제사는 AGV가 멈출 때마다 현장으로 걸어가야 하고, 그동안 라인이 서면 자동차 공장은 시간당 최대 230만 달러를 잃습니다. 보급형 AGV는 한 평면만 보고, 뒤를 못 봐 스스로 물러나지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AGV 두 대를 운용하면서 협착과 충돌을 0건으로 만들고, 막혔을 때 현장 출동 없이 원격으로 빼내는 것입니다. 역할은 나눴습니다. 에이전트는 감시하고, 멈추고, 왜 멈췄는지와 빠져나갈 경로를 계산합니다. 움직이는 결정은 사람이 합니다. 그래서 자동 후진도, 자동 재개도 없습니다. 핵심기능은 네 가지입니다. 첫째, 전방 0.35미터나 로봇 간 0.3미터 안이면 전진을 막습니다. 둘째, 라이다 72방향으로 탈출 경로를 찾아 영상 바닥과 지도에 그리고, 돌아야 할 쪽 손을 진동시킵니다. 셋째, 관제 지도에서 로봇을 누르면 그 로봇의 VR 운전석으로 바로 들어갑니다. 넷째, 두 대가 각자 순찰하다 만나면 둘 다 멈추고, 사람이 한 대를 비켜줍니다.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흐름은 여섯 단계입니다. 순찰하다 라이다와 오도메트리로 위험을 감지하면 정지 게이트가 전진을 막고, 탈출 경로를 계산합니다. 여기까지가 에이전트입니다. 방법은 5도 간격 72방향마다 로봇 폭 통로의 여유를 재고, 여유는 크고 회전은 적은 방향을 고르는 것입니다. 그 다음 VR 개입과 재개는 사람이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 1과 ROS 2로 나뉜 터틀봇 두 대를 초당 20회 도는 파이썬 릴레이가 묶습니다. AI는 대형 언어 모델이 아니라 라이다 기하 추론이라 매 주기 같은 입력에 같은 판단을 냅니다. 도구는 ROS의 cmd_vel, odom, scan과 카메라, Unity, 퀘스트이고, 로봇별 모드와 정지 원인, 운행 이력을 기억합니다. 안전 게이트를 통과한 속도만 바퀴로 나갑니다.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실물로 보여드리겠습니다. 관제 PC에서 R을 누르면 두 대가 시작 위치를 맞추고 초당 0.1미터로 직진합니다. 서로 0.3미터 안으로 들어오자 둘 다 멈췄고, 지도에 적색으로, 터미널에 STUCK으로 찍힙니다. 이번엔 작업자가 앞을 막아보겠습니다. 0.35미터 안에서 전진 지령이 0이 됩니다. 관제 지도에서 이 로봇을 누르면 VR 운전석으로 바로 들어갑니다. 영상 바닥에 빠져나갈 길이 그려지고, 돌아야 할 쪽 손이 진동합니다. 그립을 쥔 채 오른쪽 스틱으로 후진, 왼쪽 스틱으로 선회합니다. 그립을 놓으면 즉시 멈추고, 아무리 밀어도 0.15미터를 넘지 않습니다. 다시 R을 누르면 순찰로 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화면을 정리하면, 콕핏에는 경로와 정지 배너, 관제 맵에는 적색 경고와 정지 원인, 터미널에는 판단과 도구 호출 기록이 남습니다. 멈춘 이유와 빠져나갈 길이 모두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AGV는 멈추면 사람이 걸어가야 풀렸습니다. 이제는 전진만 막고, 관제석에서 클릭 한 번으로 VR로 빼냅니다. 자동 시험 78개를 모두 통과했고, 10회 반복과 300초 부하에서 안전 위반은 0건이었습니다. 사용자 검증은 팀원이 관제사와 조작자 역할로 실물 두 대에서 확인했고, 외부 사용자 평가와 현장 정지 시간 측정은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 들이기 전 고칠 점도 분명합니다. 높이 사각은 깊이 카메라로, 위치 오차는 SLAM으로 보완하고, 로봇 측 정지 감시와 통신 인증을 붙인 뒤 파일럿 라인에서 정지 시간을 실측하겠습니다.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사업은 기존 AGV에 얹는 개조 패키지와 관제 구독, 여러 현장을 한 자리에서 복구하는 원격 개입 서비스로 구상합니다. 로봇은 멈추고 알리고, 판단은 사람이 내린다.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10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206240" y="685800"/>
            <a:ext cx="2651760" cy="265176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0" y="2651760"/>
            <a:ext cx="3108960" cy="310896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26280" y="1143000"/>
            <a:ext cx="2743200" cy="2089404"/>
          </a:xfrm>
          <a:prstGeom prst="roundRect">
            <a:avLst>
              <a:gd name="adj" fmla="val 700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pic>
        <p:nvPicPr>
          <p:cNvPr id="9" name="Image 0" descr="VR 콕핏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1207008"/>
            <a:ext cx="2615184" cy="19613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03720" y="2240280"/>
            <a:ext cx="1737360" cy="1737360"/>
          </a:xfrm>
          <a:prstGeom prst="roundRect">
            <a:avLst>
              <a:gd name="adj" fmla="val 842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pic>
        <p:nvPicPr>
          <p:cNvPr id="11" name="Image 1" descr="관제 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304288"/>
            <a:ext cx="1609344" cy="16093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02920" y="2011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-2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멈추고,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spc="-2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알리고,</a:t>
            </a:r>
            <a:endParaRPr lang="en-US" sz="4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000" b="1" spc="-2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빼낸다.</a:t>
            </a:r>
            <a:endParaRPr lang="en-US" sz="4000" dirty="0"/>
          </a:p>
        </p:txBody>
      </p:sp>
      <p:sp>
        <p:nvSpPr>
          <p:cNvPr id="13" name="Text 8"/>
          <p:cNvSpPr txBox="1"/>
          <p:nvPr/>
        </p:nvSpPr>
        <p:spPr>
          <a:xfrm>
            <a:off x="502920" y="914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MetaQuest VR 기반 피지컬 AI AGV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개입 &amp; 협착 방지 디지털 트윈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0292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국립한국해양대학교 · [발표자] · 대학부 32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PROBLEM — 누구의 어떤 문제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AGV와 같은 통로를 쓰는 사람들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1837944"/>
            <a:ext cx="292608" cy="29260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1832" y="17830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작업자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41832" y="2020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부딪히고 끼인다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2404872"/>
            <a:ext cx="292608" cy="29260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1832" y="2350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관제사·관리자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41832" y="25877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멈출 때마다 출동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292608" cy="29260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1832" y="29169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공장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941832" y="3154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통로가 막히면 라인이 선다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154680" y="1737360"/>
            <a:ext cx="1719072" cy="1828800"/>
          </a:xfrm>
          <a:prstGeom prst="roundRect">
            <a:avLst>
              <a:gd name="adj" fmla="val 7447"/>
            </a:avLst>
          </a:prstGeom>
          <a:solidFill>
            <a:srgbClr val="FFE3CF"/>
          </a:solidFill>
          <a:ln w="12700">
            <a:solidFill>
              <a:srgbClr val="FFE3C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337560" y="187452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3337560" y="2606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재해 중 끼임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337560" y="32004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KOSHA 2011–2020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038344" y="1737360"/>
            <a:ext cx="1719072" cy="1828800"/>
          </a:xfrm>
          <a:prstGeom prst="roundRect">
            <a:avLst>
              <a:gd name="adj" fmla="val 7447"/>
            </a:avLst>
          </a:prstGeom>
          <a:solidFill>
            <a:srgbClr val="E7E5F7"/>
          </a:solidFill>
          <a:ln w="12700">
            <a:solidFill>
              <a:srgbClr val="E7E5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221224" y="187452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66명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5221224" y="2606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 끼임 사망 +22.2%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221224" y="32004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고용노동부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922008" y="1737360"/>
            <a:ext cx="1719072" cy="1828800"/>
          </a:xfrm>
          <a:prstGeom prst="roundRect">
            <a:avLst>
              <a:gd name="adj" fmla="val 7447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04888" y="187452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$2.3M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7104888" y="2606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자동차 라인 시간당 정지 비용 최대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104888" y="32004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Siemens 2024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AGV는  ① 한 평면만 보고   ② 뒤를 못 봐 스스로 못 물러나고   ③ 멈추면 사람이 걸어가야 풀린다.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AGENT — 목표 · 역할 · 핵심기능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875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로봇이,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결정은 사람이.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— AGV 2대 운용 중 협착·충돌 0건,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출동 없이 원격 탈출.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834640"/>
            <a:ext cx="2971800" cy="16002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9535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감시 · 정지 · 원인 · 경로 추천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38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739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선택 · VR 조종 · 재개 승인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148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후진 · 자동 재개 없음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94760" y="914400"/>
            <a:ext cx="2340864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77640" y="1097280"/>
            <a:ext cx="384048" cy="38404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7764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480560" y="11338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멈춘다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77640" y="162763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· AGV 간 0.3m → 전진 지령 0. 후진은 후방 0.20m 가드.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300216" y="914400"/>
            <a:ext cx="2340864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83096" y="1097280"/>
            <a:ext cx="384048" cy="38404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8309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986016" y="113385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경로를 그린다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83096" y="162763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72방향 탈출 경로를 영상 바닥·관제 맵에, 돌 쪽 손 진동.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94760" y="2560320"/>
            <a:ext cx="2340864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77640" y="2743200"/>
            <a:ext cx="384048" cy="38404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77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480560" y="277977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한 번에 VR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977640" y="327355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그 로봇 콕핏, 그 로봇만 MANUAL, 그립 데드맨.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300216" y="2560320"/>
            <a:ext cx="2340864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83096" y="2743200"/>
            <a:ext cx="384048" cy="38404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83096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6986016" y="2779776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AUTO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483096" y="3273552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직진 순찰, 0.3m 안에서 만나면 둘 다 정지.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ARCHITECTURE — WORKFLOW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순찰 → 정지 → 경로 → 개입 → 재개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112520" y="2103120"/>
            <a:ext cx="6918960" cy="0"/>
          </a:xfrm>
          <a:prstGeom prst="line">
            <a:avLst/>
          </a:prstGeom>
          <a:noFill/>
          <a:ln w="19050">
            <a:solidFill>
              <a:srgbClr val="E6E6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8200" y="1828800"/>
            <a:ext cx="548640" cy="54864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82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순찰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키 · 2대 직진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21992" y="1828800"/>
            <a:ext cx="548640" cy="54864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221992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886712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감지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886712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· odom 20 Hz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05784" y="1828800"/>
            <a:ext cx="548640" cy="54864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05784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70504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게이트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270504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전진 0 · 원인 기록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9576" y="1828800"/>
            <a:ext cx="548640" cy="54864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9576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654296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탈출 경로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654296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72방향 · 영상 투영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73368" y="1828800"/>
            <a:ext cx="548640" cy="54864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73368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038088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개입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038088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· 콕핏 · 데드맨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757160" y="1828800"/>
            <a:ext cx="548640" cy="54864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571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421880" y="251460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 재개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7421880" y="2816352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02920" y="3401568"/>
            <a:ext cx="146304" cy="146304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2376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508760" y="3401568"/>
            <a:ext cx="146304" cy="146304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728216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02920" y="3703320"/>
            <a:ext cx="8138160" cy="777240"/>
          </a:xfrm>
          <a:prstGeom prst="roundRect">
            <a:avLst>
              <a:gd name="adj" fmla="val 16471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1520" y="3703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 전방 &lt; 0.35m 또는 AGV 간 &lt; 0.3m → 전진 차단     방법  72방향 회랑 여유 d(h), J = d − 0.25·|h| 최대     결과  영상 바닥 경로 띠 · 조작은 사람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ARCHITECTURE — AI · TOOL · DATA · MEMORY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두 대, 릴레이 하나, 화면 둘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-548640" y="2926080"/>
            <a:ext cx="2377440" cy="2377440"/>
          </a:xfrm>
          <a:prstGeom prst="ellipse">
            <a:avLst/>
          </a:prstGeom>
          <a:solidFill>
            <a:srgbClr val="FFE3CF"/>
          </a:solidFill>
          <a:ln w="12700">
            <a:solidFill>
              <a:srgbClr val="FFE3C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737360"/>
            <a:ext cx="4791456" cy="2390551"/>
          </a:xfrm>
          <a:prstGeom prst="roundRect">
            <a:avLst>
              <a:gd name="adj" fmla="val 5355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pic>
        <p:nvPicPr>
          <p:cNvPr id="11" name="Image 0" descr="시스템 아키텍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47088"/>
            <a:ext cx="4572000" cy="217109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4219351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게이트를 통과한 속도만 /cmd_vel로 · 20 Hz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173736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669280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기하 추론 · 곡률 궤적 · LLM 미사용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669280" y="2304288"/>
            <a:ext cx="29718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69280" y="23591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261518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/cmd_vel · /odom · /scan · 카메라 · Unity · Quest 2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669280" y="2926080"/>
            <a:ext cx="29718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669280" y="298094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32369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LiDAR 360° · 휠 odom · 640×480 영상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669280" y="3547872"/>
            <a:ext cx="297180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669280" y="36027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Memory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669280" y="38587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로봇별 모드 · 정지 원인 · 운행 이력 JSONL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LIVE DEMO — 입력 → 판단 → TOOL → 결과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2대로 보여드리는 한 바퀴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6916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169164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315468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 (Agent)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 호출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691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spc="1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1480" y="1965960"/>
            <a:ext cx="8321040" cy="420624"/>
          </a:xfrm>
          <a:prstGeom prst="roundRect">
            <a:avLst>
              <a:gd name="adj" fmla="val 2173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2103120"/>
            <a:ext cx="182880" cy="18288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19842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 순찰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19842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3154680" y="19842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간 0.3m · 전방 0.35m 감시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198424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19842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주행 → 접근 시 둘 다 정지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" y="2560320"/>
            <a:ext cx="182880" cy="18288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24414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정지·알림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920240" y="24414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작업자 진입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154680" y="24414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안 → 전진 차단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257800" y="244144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· STOP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24414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 적색 · 원인 · 경로 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1480" y="2880360"/>
            <a:ext cx="8321040" cy="420624"/>
          </a:xfrm>
          <a:prstGeom prst="roundRect">
            <a:avLst>
              <a:gd name="adj" fmla="val 2173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3017520"/>
            <a:ext cx="182880" cy="18288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28986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개입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920240" y="28986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3154680" y="28986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로봇만 MANUAL · 탈출 방향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5257800" y="289864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 콕핏 · 손 진동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28986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그립 + 스틱으로 탈출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02920" y="3474720"/>
            <a:ext cx="182880" cy="18288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33558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안전장치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920240" y="33558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그립 놓기 · 과속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3154680" y="33558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데드맨 · 0.15 m/s · 워치독 0.5s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257800" y="335584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 또는 제한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858000" y="33558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정지 · 속도 제한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3794760"/>
            <a:ext cx="8321040" cy="420624"/>
          </a:xfrm>
          <a:prstGeom prst="roundRect">
            <a:avLst>
              <a:gd name="adj" fmla="val 21739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920" y="3931920"/>
            <a:ext cx="182880" cy="18288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7240" y="38130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재개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920240" y="381304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PC  R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3154680" y="38130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승인 시에만 AUTO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257800" y="381304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/cmd_vel 0.10 m/s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858000" y="381304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순찰 복귀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44348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4분할: 관제 맵 · Quest 콕핏 · 릴레이 터미널 · 실물 캠  —  라이브 불가 시 시연 영상으로 대체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LIVE DEMO — 화면 근거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875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이유와</a:t>
            </a:r>
            <a:endParaRPr lang="en-US" sz="2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6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빠져나갈 길이 보인다.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931920" y="914400"/>
            <a:ext cx="2468880" cy="246888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2377440"/>
            <a:ext cx="2651760" cy="265176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0520" y="1234440"/>
            <a:ext cx="2651760" cy="2020824"/>
          </a:xfrm>
          <a:prstGeom prst="roundRect">
            <a:avLst>
              <a:gd name="adj" fmla="val 7240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pic>
        <p:nvPicPr>
          <p:cNvPr id="12" name="Image 0" descr="콕핏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4528" y="1298448"/>
            <a:ext cx="2523744" cy="18928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086600" y="1783080"/>
            <a:ext cx="1600200" cy="1600200"/>
          </a:xfrm>
          <a:prstGeom prst="roundRect">
            <a:avLst>
              <a:gd name="adj" fmla="val 9143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pic>
        <p:nvPicPr>
          <p:cNvPr id="14" name="Image 1" descr="관제 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1847088"/>
            <a:ext cx="1472184" cy="1472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2920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COCKPIT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바닥 경로 띠 · 선회 화살표 · 정지 배너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2926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GOD-VIEW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적색 차체 · 위험 원판 · 사이드바 정지 원인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3474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[AUTO] STUCK · [INTERLOCK] = 판단 → Tool 기록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160520" y="44348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출력 예시 · 발표 당일 라이브 화면이 우선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IMPACT — BEFORE / AFTER · 검증 · 효과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멈춤은 같아도, 푸는 방법이 바뀐다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173736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2140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비상정지 → 통로 마비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현장 출동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이유 기록 없음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044952" y="173736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FFE3CF"/>
          </a:solidFill>
          <a:ln w="12700">
            <a:solidFill>
              <a:srgbClr val="FFE3C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27832" y="1847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spc="1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3227832" y="2121408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전진만 차단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관제석에서 VR로 탈출</a:t>
            </a:r>
            <a:endParaRPr lang="en-US" sz="11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원인·경로가 로그에 남음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724144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78/78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7141464" y="173736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E2E 자동 시험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724144" y="2359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7141464" y="2359152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무결점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724144" y="29809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0건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7141464" y="2980944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300초 부하 안전 위반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749040"/>
            <a:ext cx="8138160" cy="713232"/>
          </a:xfrm>
          <a:prstGeom prst="roundRect">
            <a:avLst>
              <a:gd name="adj" fmla="val 17949"/>
            </a:avLst>
          </a:prstGeom>
          <a:solidFill>
            <a:srgbClr val="E7E5F7"/>
          </a:solidFill>
          <a:ln w="12700">
            <a:solidFill>
              <a:srgbClr val="E7E5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74904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검증 — 팀원이 관제사·VR 조작자 역할로 실물 TB1·TB2 확인. 외부 사용자 평가와 현장 정지 시간(MTBI) 측정은 다음 단계.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NEXT — 한계 · 현장 적용 전 보완점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 들이기 전에 고칠 것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201168" cy="20116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1737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높이 사각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17373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LiDAR 바닥 약 0.17m 한 평면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73736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깊이 카메라 융합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249424"/>
            <a:ext cx="81381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423160"/>
            <a:ext cx="201168" cy="20116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22860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누적 오차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22860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휠 odom 누적 → 시작 위치 재설정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2860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SLAM 위치 보정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798064"/>
            <a:ext cx="81381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2971800"/>
            <a:ext cx="201168" cy="20116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28346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 두절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2788920" y="28346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 1 로봇 정지 동작이 펌웨어 의존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283464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로봇 측 정지 감시 노드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3346704"/>
            <a:ext cx="81381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" y="3520440"/>
            <a:ext cx="201168" cy="201168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" y="3383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2788920" y="33832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rosbridge 인증 없음 → 망 분리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33832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인증 · 암호화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" y="3895344"/>
            <a:ext cx="813816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02920" y="4069080"/>
            <a:ext cx="201168" cy="201168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3931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실측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2788920" y="393192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 시간(MTBI) 현장 측정 전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393192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파일럿 라인 계측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5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[팀명] × 경남 AI·SW 경진대회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1228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spc="15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NEXT — 기대효과 · 비즈니스모델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269480" y="658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26680" y="47960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10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AGV에 얹는 안전 개입 레이어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02920" y="1691640"/>
            <a:ext cx="2602992" cy="1234440"/>
          </a:xfrm>
          <a:prstGeom prst="roundRect">
            <a:avLst>
              <a:gd name="adj" fmla="val 10370"/>
            </a:avLst>
          </a:prstGeom>
          <a:solidFill>
            <a:srgbClr val="FFE3CF"/>
          </a:solidFill>
          <a:ln w="12700">
            <a:solidFill>
              <a:srgbClr val="FFE3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810512"/>
            <a:ext cx="223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개조 패키지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48840"/>
            <a:ext cx="2237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2D LiDAR AGV에 릴레이 + 관제·VR SW. 기체 교체 없음.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0504" y="1691640"/>
            <a:ext cx="2602992" cy="1234440"/>
          </a:xfrm>
          <a:prstGeom prst="roundRect">
            <a:avLst>
              <a:gd name="adj" fmla="val 10370"/>
            </a:avLst>
          </a:prstGeom>
          <a:solidFill>
            <a:srgbClr val="E7E5F7"/>
          </a:solidFill>
          <a:ln w="12700">
            <a:solidFill>
              <a:srgbClr val="E7E5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53384" y="1810512"/>
            <a:ext cx="223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구독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53384" y="2148840"/>
            <a:ext cx="2237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 대수 기준 SW 구독, 정지 원인 리포트.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8088" y="1691640"/>
            <a:ext cx="2602992" cy="1234440"/>
          </a:xfrm>
          <a:prstGeom prst="roundRect">
            <a:avLst>
              <a:gd name="adj" fmla="val 10370"/>
            </a:avLst>
          </a:prstGeom>
          <a:solidFill>
            <a:srgbClr val="F5F5F7"/>
          </a:solidFill>
          <a:ln w="12700">
            <a:solidFill>
              <a:srgbClr val="F5F5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20968" y="1810512"/>
            <a:ext cx="223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개입 센터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20968" y="2148840"/>
            <a:ext cx="2237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현장의 멈춘 로봇을 한 관제석에서 복구.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301752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구상 단계 · 가격·매출 수치는 파일럿 이후 산정  |  시장: AGV·AMR 2030년 $22B (LogisticsIQ 2024)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333756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로봇은 멈추고 알리고,</a:t>
            </a:r>
            <a:endParaRPr lang="en-US" sz="2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800" b="1" spc="-10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사람이 내린다.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6675120" y="3154680"/>
            <a:ext cx="1188720" cy="1188720"/>
          </a:xfrm>
          <a:prstGeom prst="ellipse">
            <a:avLst/>
          </a:prstGeom>
          <a:solidFill>
            <a:srgbClr val="FFB27A"/>
          </a:solidFill>
          <a:ln w="12700">
            <a:solidFill>
              <a:srgbClr val="FFB27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60920" y="3520440"/>
            <a:ext cx="1005840" cy="1005840"/>
          </a:xfrm>
          <a:prstGeom prst="ellipse">
            <a:avLst/>
          </a:prstGeom>
          <a:solidFill>
            <a:srgbClr val="B7B4E4"/>
          </a:solidFill>
          <a:ln w="12700">
            <a:solidFill>
              <a:srgbClr val="B7B4E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멈추고, 알리고, 사람이 빼낸다 — Pitch style</dc:title>
  <dc:subject>PptxGenJS Presentation</dc:subject>
  <dc:creator>PptxGenJS</dc:creator>
  <cp:lastModifiedBy>PptxGenJS</cp:lastModifiedBy>
  <cp:revision>1</cp:revision>
  <dcterms:created xsi:type="dcterms:W3CDTF">2026-10-03T15:03:51Z</dcterms:created>
  <dcterms:modified xsi:type="dcterms:W3CDTF">2026-10-03T15:03:51Z</dcterms:modified>
</cp:coreProperties>
</file>