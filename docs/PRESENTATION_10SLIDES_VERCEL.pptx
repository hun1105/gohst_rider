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국립한국해양대학교 [팀명]입니다. 막히면 멈추고 사람을 불러 VR로 빼내는 AGV 피지컬 AI를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산업용 로봇 사고의 53%가 끼임, 34%가 부딪힘입니다. 2024년 끼임으로 66명이 숨졌습니다. 라인이 멈추면 자동차 공장은 시간당 최대 230만 달러를 잃습니다. 사고와 정지 비용은 사람과 AGV가 같은 통로를 쓰는 바로 그 지점에서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보급형 AGV는 2D 라이다 단일 평면만 봅니다. 선반 돌출물을 못 보고, 막혔을 때 규격은 주행 방향의 사람 감지를 요구하니 뒤를 못 보는 로봇은 스스로 물러날 수 없어 비상정지합니다. 그러면 관리자가 현장에 올 때까지 통로가 막힙니다.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솔루션은 위험 감지 시 무조건 멈추고, 왜 멈췄는지와 360도 라이다 기반 최적 탈출 경로를 화면에 그립니다. 기존 AGV처럼 관리자가 현장까지 걸어가는 대신, 관제 지도 클릭 한 번으로 그 로봇의 VR 콕핏에 바로 들어가 빼냅니다.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현장의 터틀봇 2대는 ROS 1과 ROS 2로 나뉘어 있지만 초당 20회 도는 비동기 AI 릴레이로 통합했습니다. 릴레이는 기하 추론과 안전 게이트를 거친 명령만 바퀴에 전달하며, Unity는 PC 관제 맵과 Quest VR 1인칭 화면을 따로 출력합니다.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협착·충돌 0건과 무사고 탈출입니다. 순찰하다 위험을 감지하면 정지하고, 라이다로 탈출 경로를 계산해 사람에게 넘깁니다. 도구는 ROS의 cmd_vel·odom·scan과 카메라, 웹소켓, Unity이고, 로봇별 모드와 정지 원인, 운행 이력을 기억합니다. 결과는 화면과 컨트롤러 진동으로 돌려줍니다.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조건은 전방 0.35미터, 로봇 간 1미터 안이면 전진 차단입니다. 방법은 라이다 72방향 회랑의 여유 공간을 계산해 통과 여유는 최대화하고 회전각은 최소화하는 방위를 도출합니다. 결과로 최적 방향을 FPV 영상 바닥에 가이드라인으로 그리고, 전진은 막은 채 후진과 회전은 사람이 조작합니다.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단순 횟수 검증이 아닌 5대 산업 시나리오로 검증했습니다. 돌발 장애물, 2대 대향 마주침, 사방 고립, VR 즉각 텔레포트, 센서 결측 방어 등 가상 브리지 73개 자동 시험을 모두 통과했고, 실물에서는 정지·주행·VR 전환을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시스템의 한계도 명확히 인지하고 있습니다. 2D 라이다의 상부 돌출물 미감지는 향후 RGB-D 비전으로, 공장 통신 음영은 이음 5G로, 3대 이상 동시 교착은 VDA 5050 플릿 매니저 연동으로 해결해 나갈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AGV·AMR 시장은 2030년 220억 달러로 커지지만 안전 사고와 멈춤 비용이 걸림돌입니다. 고가 기체를 새로 들이는 대신, 기존 2D 기체에 소프트웨어를 얹고 관제석에서 VR로 개입해 라인을 복구합니다. 로봇은 멈추고 알리고, 판단은 사람이 내린다. 이것이 가장 현실적인 피지컬 AI입니다.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502920" y="548640"/>
            <a:ext cx="5486400" cy="201168"/>
          </a:xfrm>
          <a:prstGeom prst="rect">
            <a:avLst/>
          </a:prstGeom>
          <a:noFill/>
          <a:ln/>
        </p:spPr>
        <p:txBody>
          <a:bodyPr wrap="square" lIns="0" tIns="0" rIns="0" bIns="0" rtlCol="0" anchor="ctr"/>
          <a:lstStyle/>
          <a:p>
            <a:pPr indent="0" marL="0">
              <a:buNone/>
            </a:pPr>
            <a:r>
              <a:rPr lang="en-US" sz="850" spc="120" kern="0" dirty="0">
                <a:solidFill>
                  <a:srgbClr val="171717"/>
                </a:solidFill>
                <a:latin typeface="Cascadia Mono" pitchFamily="34" charset="0"/>
                <a:ea typeface="Cascadia Mono" pitchFamily="34" charset="-122"/>
                <a:cs typeface="Cascadia Mono" pitchFamily="34" charset="-120"/>
              </a:rPr>
              <a:t>제4회 경남 AI·SW 경진대회 · 대학부 · 분야 32</a:t>
            </a:r>
            <a:endParaRPr lang="en-US" sz="850" dirty="0"/>
          </a:p>
        </p:txBody>
      </p:sp>
      <p:sp>
        <p:nvSpPr>
          <p:cNvPr id="3" name="Text 1"/>
          <p:cNvSpPr txBox="1"/>
          <p:nvPr/>
        </p:nvSpPr>
        <p:spPr>
          <a:xfrm>
            <a:off x="502920" y="914400"/>
            <a:ext cx="4206240" cy="2377440"/>
          </a:xfrm>
          <a:prstGeom prst="rect">
            <a:avLst/>
          </a:prstGeom>
          <a:noFill/>
          <a:ln/>
        </p:spPr>
        <p:txBody>
          <a:bodyPr wrap="square" lIns="0" tIns="0" rIns="0" bIns="0" rtlCol="0" anchor="t"/>
          <a:lstStyle/>
          <a:p>
            <a:pPr indent="0" marL="0">
              <a:lnSpc>
                <a:spcPct val="95000"/>
              </a:lnSpc>
              <a:buNone/>
            </a:pPr>
            <a:r>
              <a:rPr lang="en-US" sz="4200" spc="-200" kern="0" dirty="0">
                <a:solidFill>
                  <a:srgbClr val="171717"/>
                </a:solidFill>
                <a:latin typeface="Pretendard" pitchFamily="34" charset="0"/>
                <a:ea typeface="Pretendard" pitchFamily="34" charset="-122"/>
                <a:cs typeface="Pretendard" pitchFamily="34" charset="-120"/>
              </a:rPr>
              <a:t>멈추고,</a:t>
            </a:r>
            <a:endParaRPr lang="en-US" sz="4200" dirty="0"/>
          </a:p>
          <a:p>
            <a:pPr indent="0" marL="0">
              <a:lnSpc>
                <a:spcPct val="95000"/>
              </a:lnSpc>
              <a:buNone/>
            </a:pPr>
            <a:r>
              <a:rPr lang="en-US" sz="4200" spc="-200" kern="0" dirty="0">
                <a:solidFill>
                  <a:srgbClr val="171717"/>
                </a:solidFill>
                <a:latin typeface="Pretendard" pitchFamily="34" charset="0"/>
                <a:ea typeface="Pretendard" pitchFamily="34" charset="-122"/>
                <a:cs typeface="Pretendard" pitchFamily="34" charset="-120"/>
              </a:rPr>
              <a:t>알리고,</a:t>
            </a:r>
            <a:endParaRPr lang="en-US" sz="4200" dirty="0"/>
          </a:p>
          <a:p>
            <a:pPr indent="0" marL="0">
              <a:lnSpc>
                <a:spcPct val="95000"/>
              </a:lnSpc>
              <a:buNone/>
            </a:pPr>
            <a:r>
              <a:rPr lang="en-US" sz="4200" spc="-200" kern="0" dirty="0">
                <a:solidFill>
                  <a:srgbClr val="171717"/>
                </a:solidFill>
                <a:latin typeface="Pretendard" pitchFamily="34" charset="0"/>
                <a:ea typeface="Pretendard" pitchFamily="34" charset="-122"/>
                <a:cs typeface="Pretendard" pitchFamily="34" charset="-120"/>
              </a:rPr>
              <a:t>사람이 빼낸다.</a:t>
            </a:r>
            <a:endParaRPr lang="en-US" sz="4200" dirty="0"/>
          </a:p>
        </p:txBody>
      </p:sp>
      <p:sp>
        <p:nvSpPr>
          <p:cNvPr id="4" name="Shape 2"/>
          <p:cNvSpPr/>
          <p:nvPr/>
        </p:nvSpPr>
        <p:spPr>
          <a:xfrm>
            <a:off x="4800600" y="1234440"/>
            <a:ext cx="1554480" cy="1344168"/>
          </a:xfrm>
          <a:prstGeom prst="triangle">
            <a:avLst/>
          </a:prstGeom>
          <a:solidFill>
            <a:srgbClr val="000000"/>
          </a:solidFill>
          <a:ln w="12700">
            <a:solidFill>
              <a:srgbClr val="000000"/>
            </a:solidFill>
            <a:prstDash val="solid"/>
          </a:ln>
        </p:spPr>
      </p:sp>
      <p:sp>
        <p:nvSpPr>
          <p:cNvPr id="5" name="Text 3"/>
          <p:cNvSpPr txBox="1"/>
          <p:nvPr/>
        </p:nvSpPr>
        <p:spPr>
          <a:xfrm>
            <a:off x="6903720" y="1051560"/>
            <a:ext cx="1737360" cy="182880"/>
          </a:xfrm>
          <a:prstGeom prst="rect">
            <a:avLst/>
          </a:prstGeom>
          <a:noFill/>
          <a:ln/>
        </p:spPr>
        <p:txBody>
          <a:bodyPr wrap="square" lIns="0" tIns="0" rIns="0" bIns="0" rtlCol="0" anchor="ctr"/>
          <a:lstStyle/>
          <a:p>
            <a:pPr indent="0" marL="0">
              <a:buNone/>
            </a:pPr>
            <a:r>
              <a:rPr lang="en-US" sz="750" spc="120" kern="0" dirty="0">
                <a:solidFill>
                  <a:srgbClr val="666666"/>
                </a:solidFill>
                <a:latin typeface="Cascadia Mono" pitchFamily="34" charset="0"/>
                <a:ea typeface="Cascadia Mono" pitchFamily="34" charset="-122"/>
                <a:cs typeface="Cascadia Mono" pitchFamily="34" charset="-120"/>
              </a:rPr>
              <a:t>PROBLEM</a:t>
            </a:r>
            <a:endParaRPr lang="en-US" sz="750" dirty="0"/>
          </a:p>
        </p:txBody>
      </p:sp>
      <p:sp>
        <p:nvSpPr>
          <p:cNvPr id="6" name="Text 4"/>
          <p:cNvSpPr txBox="1"/>
          <p:nvPr/>
        </p:nvSpPr>
        <p:spPr>
          <a:xfrm>
            <a:off x="6903720" y="1234440"/>
            <a:ext cx="1783080" cy="228600"/>
          </a:xfrm>
          <a:prstGeom prst="rect">
            <a:avLst/>
          </a:prstGeom>
          <a:noFill/>
          <a:ln/>
        </p:spPr>
        <p:txBody>
          <a:bodyPr wrap="square" lIns="0" tIns="0" rIns="0" bIns="0" rtlCol="0" anchor="ctr"/>
          <a:lstStyle/>
          <a:p>
            <a:pPr indent="0" marL="0">
              <a:buNone/>
            </a:pPr>
            <a:r>
              <a:rPr lang="en-US" sz="1100" dirty="0">
                <a:solidFill>
                  <a:srgbClr val="171717"/>
                </a:solidFill>
                <a:latin typeface="Pretendard" pitchFamily="34" charset="0"/>
                <a:ea typeface="Pretendard" pitchFamily="34" charset="-122"/>
                <a:cs typeface="Pretendard" pitchFamily="34" charset="-120"/>
              </a:rPr>
              <a:t>AGV 협착·교착</a:t>
            </a:r>
            <a:endParaRPr lang="en-US" sz="1100" dirty="0"/>
          </a:p>
        </p:txBody>
      </p:sp>
      <p:sp>
        <p:nvSpPr>
          <p:cNvPr id="7" name="Text 5"/>
          <p:cNvSpPr txBox="1"/>
          <p:nvPr/>
        </p:nvSpPr>
        <p:spPr>
          <a:xfrm>
            <a:off x="6903720" y="1554480"/>
            <a:ext cx="1737360" cy="182880"/>
          </a:xfrm>
          <a:prstGeom prst="rect">
            <a:avLst/>
          </a:prstGeom>
          <a:noFill/>
          <a:ln/>
        </p:spPr>
        <p:txBody>
          <a:bodyPr wrap="square" lIns="0" tIns="0" rIns="0" bIns="0" rtlCol="0" anchor="ctr"/>
          <a:lstStyle/>
          <a:p>
            <a:pPr indent="0" marL="0">
              <a:buNone/>
            </a:pPr>
            <a:r>
              <a:rPr lang="en-US" sz="750" spc="120" kern="0" dirty="0">
                <a:solidFill>
                  <a:srgbClr val="666666"/>
                </a:solidFill>
                <a:latin typeface="Cascadia Mono" pitchFamily="34" charset="0"/>
                <a:ea typeface="Cascadia Mono" pitchFamily="34" charset="-122"/>
                <a:cs typeface="Cascadia Mono" pitchFamily="34" charset="-120"/>
              </a:rPr>
              <a:t>AGENT</a:t>
            </a:r>
            <a:endParaRPr lang="en-US" sz="750" dirty="0"/>
          </a:p>
        </p:txBody>
      </p:sp>
      <p:sp>
        <p:nvSpPr>
          <p:cNvPr id="8" name="Text 6"/>
          <p:cNvSpPr txBox="1"/>
          <p:nvPr/>
        </p:nvSpPr>
        <p:spPr>
          <a:xfrm>
            <a:off x="6903720" y="1737360"/>
            <a:ext cx="1783080" cy="228600"/>
          </a:xfrm>
          <a:prstGeom prst="rect">
            <a:avLst/>
          </a:prstGeom>
          <a:noFill/>
          <a:ln/>
        </p:spPr>
        <p:txBody>
          <a:bodyPr wrap="square" lIns="0" tIns="0" rIns="0" bIns="0" rtlCol="0" anchor="ctr"/>
          <a:lstStyle/>
          <a:p>
            <a:pPr indent="0" marL="0">
              <a:buNone/>
            </a:pPr>
            <a:r>
              <a:rPr lang="en-US" sz="1100" dirty="0">
                <a:solidFill>
                  <a:srgbClr val="171717"/>
                </a:solidFill>
                <a:latin typeface="Pretendard" pitchFamily="34" charset="0"/>
                <a:ea typeface="Pretendard" pitchFamily="34" charset="-122"/>
                <a:cs typeface="Pretendard" pitchFamily="34" charset="-120"/>
              </a:rPr>
              <a:t>LiDAR 판단 + 정지 우선</a:t>
            </a:r>
            <a:endParaRPr lang="en-US" sz="1100" dirty="0"/>
          </a:p>
        </p:txBody>
      </p:sp>
      <p:sp>
        <p:nvSpPr>
          <p:cNvPr id="9" name="Text 7"/>
          <p:cNvSpPr txBox="1"/>
          <p:nvPr/>
        </p:nvSpPr>
        <p:spPr>
          <a:xfrm>
            <a:off x="6903720" y="2057400"/>
            <a:ext cx="1737360" cy="182880"/>
          </a:xfrm>
          <a:prstGeom prst="rect">
            <a:avLst/>
          </a:prstGeom>
          <a:noFill/>
          <a:ln/>
        </p:spPr>
        <p:txBody>
          <a:bodyPr wrap="square" lIns="0" tIns="0" rIns="0" bIns="0" rtlCol="0" anchor="ctr"/>
          <a:lstStyle/>
          <a:p>
            <a:pPr indent="0" marL="0">
              <a:buNone/>
            </a:pPr>
            <a:r>
              <a:rPr lang="en-US" sz="750" spc="120" kern="0" dirty="0">
                <a:solidFill>
                  <a:srgbClr val="666666"/>
                </a:solidFill>
                <a:latin typeface="Cascadia Mono" pitchFamily="34" charset="0"/>
                <a:ea typeface="Cascadia Mono" pitchFamily="34" charset="-122"/>
                <a:cs typeface="Cascadia Mono" pitchFamily="34" charset="-120"/>
              </a:rPr>
              <a:t>INTERFACE</a:t>
            </a:r>
            <a:endParaRPr lang="en-US" sz="750" dirty="0"/>
          </a:p>
        </p:txBody>
      </p:sp>
      <p:sp>
        <p:nvSpPr>
          <p:cNvPr id="10" name="Text 8"/>
          <p:cNvSpPr txBox="1"/>
          <p:nvPr/>
        </p:nvSpPr>
        <p:spPr>
          <a:xfrm>
            <a:off x="6903720" y="2240280"/>
            <a:ext cx="1783080" cy="228600"/>
          </a:xfrm>
          <a:prstGeom prst="rect">
            <a:avLst/>
          </a:prstGeom>
          <a:noFill/>
          <a:ln/>
        </p:spPr>
        <p:txBody>
          <a:bodyPr wrap="square" lIns="0" tIns="0" rIns="0" bIns="0" rtlCol="0" anchor="ctr"/>
          <a:lstStyle/>
          <a:p>
            <a:pPr indent="0" marL="0">
              <a:buNone/>
            </a:pPr>
            <a:r>
              <a:rPr lang="en-US" sz="1100" dirty="0">
                <a:solidFill>
                  <a:srgbClr val="171717"/>
                </a:solidFill>
                <a:latin typeface="Pretendard" pitchFamily="34" charset="0"/>
                <a:ea typeface="Pretendard" pitchFamily="34" charset="-122"/>
                <a:cs typeface="Pretendard" pitchFamily="34" charset="-120"/>
              </a:rPr>
              <a:t>VR 원격 개입</a:t>
            </a:r>
            <a:endParaRPr lang="en-US" sz="1100" dirty="0"/>
          </a:p>
        </p:txBody>
      </p:sp>
      <p:sp>
        <p:nvSpPr>
          <p:cNvPr id="11" name="Text 9"/>
          <p:cNvSpPr txBox="1"/>
          <p:nvPr/>
        </p:nvSpPr>
        <p:spPr>
          <a:xfrm>
            <a:off x="6903720" y="2560320"/>
            <a:ext cx="1737360" cy="182880"/>
          </a:xfrm>
          <a:prstGeom prst="rect">
            <a:avLst/>
          </a:prstGeom>
          <a:noFill/>
          <a:ln/>
        </p:spPr>
        <p:txBody>
          <a:bodyPr wrap="square" lIns="0" tIns="0" rIns="0" bIns="0" rtlCol="0" anchor="ctr"/>
          <a:lstStyle/>
          <a:p>
            <a:pPr indent="0" marL="0">
              <a:buNone/>
            </a:pPr>
            <a:r>
              <a:rPr lang="en-US" sz="750" spc="120" kern="0" dirty="0">
                <a:solidFill>
                  <a:srgbClr val="666666"/>
                </a:solidFill>
                <a:latin typeface="Cascadia Mono" pitchFamily="34" charset="0"/>
                <a:ea typeface="Cascadia Mono" pitchFamily="34" charset="-122"/>
                <a:cs typeface="Cascadia Mono" pitchFamily="34" charset="-120"/>
              </a:rPr>
              <a:t>HARDWARE</a:t>
            </a:r>
            <a:endParaRPr lang="en-US" sz="750" dirty="0"/>
          </a:p>
        </p:txBody>
      </p:sp>
      <p:sp>
        <p:nvSpPr>
          <p:cNvPr id="12" name="Text 10"/>
          <p:cNvSpPr txBox="1"/>
          <p:nvPr/>
        </p:nvSpPr>
        <p:spPr>
          <a:xfrm>
            <a:off x="6903720" y="2743200"/>
            <a:ext cx="1783080" cy="228600"/>
          </a:xfrm>
          <a:prstGeom prst="rect">
            <a:avLst/>
          </a:prstGeom>
          <a:noFill/>
          <a:ln/>
        </p:spPr>
        <p:txBody>
          <a:bodyPr wrap="square" lIns="0" tIns="0" rIns="0" bIns="0" rtlCol="0" anchor="ctr"/>
          <a:lstStyle/>
          <a:p>
            <a:pPr indent="0" marL="0">
              <a:buNone/>
            </a:pPr>
            <a:r>
              <a:rPr lang="en-US" sz="1100" dirty="0">
                <a:solidFill>
                  <a:srgbClr val="171717"/>
                </a:solidFill>
                <a:latin typeface="Pretendard" pitchFamily="34" charset="0"/>
                <a:ea typeface="Pretendard" pitchFamily="34" charset="-122"/>
                <a:cs typeface="Pretendard" pitchFamily="34" charset="-120"/>
              </a:rPr>
              <a:t>TurtleBot3 × 2</a:t>
            </a:r>
            <a:endParaRPr lang="en-US" sz="1100" dirty="0"/>
          </a:p>
        </p:txBody>
      </p:sp>
      <p:sp>
        <p:nvSpPr>
          <p:cNvPr id="13" name="Text 11"/>
          <p:cNvSpPr txBox="1"/>
          <p:nvPr/>
        </p:nvSpPr>
        <p:spPr>
          <a:xfrm>
            <a:off x="502920" y="3429000"/>
            <a:ext cx="4937760" cy="320040"/>
          </a:xfrm>
          <a:prstGeom prst="rect">
            <a:avLst/>
          </a:prstGeom>
          <a:noFill/>
          <a:ln/>
        </p:spPr>
        <p:txBody>
          <a:bodyPr wrap="square" lIns="0" tIns="0" rIns="0" bIns="0" rtlCol="0" anchor="t"/>
          <a:lstStyle/>
          <a:p>
            <a:pPr indent="0" marL="0">
              <a:lnSpc>
                <a:spcPct val="120000"/>
              </a:lnSpc>
              <a:buNone/>
            </a:pPr>
            <a:r>
              <a:rPr lang="en-US" sz="1250" dirty="0">
                <a:solidFill>
                  <a:srgbClr val="4D4D4D"/>
                </a:solidFill>
                <a:latin typeface="Pretendard" pitchFamily="34" charset="0"/>
                <a:ea typeface="Pretendard" pitchFamily="34" charset="-122"/>
                <a:cs typeface="Pretendard" pitchFamily="34" charset="-120"/>
              </a:rPr>
              <a:t>MetaQuest2 VR 기반 피지컬 AI AGV 원격 개입 &amp; 협착 방지 디지털 트윈</a:t>
            </a:r>
            <a:endParaRPr lang="en-US" sz="1250" dirty="0"/>
          </a:p>
        </p:txBody>
      </p:sp>
      <p:sp>
        <p:nvSpPr>
          <p:cNvPr id="14" name="Shape 12"/>
          <p:cNvSpPr/>
          <p:nvPr/>
        </p:nvSpPr>
        <p:spPr>
          <a:xfrm>
            <a:off x="502920" y="3931920"/>
            <a:ext cx="1417320" cy="329184"/>
          </a:xfrm>
          <a:prstGeom prst="roundRect">
            <a:avLst>
              <a:gd name="adj" fmla="val 16667"/>
            </a:avLst>
          </a:prstGeom>
          <a:solidFill>
            <a:srgbClr val="171717"/>
          </a:solidFill>
          <a:ln w="9525">
            <a:solidFill>
              <a:srgbClr val="171717"/>
            </a:solidFill>
            <a:prstDash val="solid"/>
          </a:ln>
        </p:spPr>
      </p:sp>
      <p:sp>
        <p:nvSpPr>
          <p:cNvPr id="15" name="Text 13"/>
          <p:cNvSpPr txBox="1"/>
          <p:nvPr/>
        </p:nvSpPr>
        <p:spPr>
          <a:xfrm>
            <a:off x="502920" y="3931920"/>
            <a:ext cx="141732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Pretendard" pitchFamily="34" charset="0"/>
                <a:ea typeface="Pretendard" pitchFamily="34" charset="-122"/>
                <a:cs typeface="Pretendard" pitchFamily="34" charset="-120"/>
              </a:rPr>
              <a:t>▲  Live Demo</a:t>
            </a:r>
            <a:endParaRPr lang="en-US" sz="1050" dirty="0"/>
          </a:p>
        </p:txBody>
      </p:sp>
      <p:sp>
        <p:nvSpPr>
          <p:cNvPr id="16" name="Shape 14"/>
          <p:cNvSpPr/>
          <p:nvPr/>
        </p:nvSpPr>
        <p:spPr>
          <a:xfrm>
            <a:off x="2057400" y="3931920"/>
            <a:ext cx="2651760" cy="329184"/>
          </a:xfrm>
          <a:prstGeom prst="roundRect">
            <a:avLst>
              <a:gd name="adj" fmla="val 16667"/>
            </a:avLst>
          </a:prstGeom>
          <a:solidFill>
            <a:srgbClr val="FAFAFA"/>
          </a:solidFill>
          <a:ln w="9525">
            <a:solidFill>
              <a:srgbClr val="EBEBEB"/>
            </a:solidFill>
            <a:prstDash val="solid"/>
          </a:ln>
        </p:spPr>
      </p:sp>
      <p:sp>
        <p:nvSpPr>
          <p:cNvPr id="17" name="Text 15"/>
          <p:cNvSpPr txBox="1"/>
          <p:nvPr/>
        </p:nvSpPr>
        <p:spPr>
          <a:xfrm>
            <a:off x="2057400" y="3931920"/>
            <a:ext cx="2651760" cy="329184"/>
          </a:xfrm>
          <a:prstGeom prst="rect">
            <a:avLst/>
          </a:prstGeom>
          <a:noFill/>
          <a:ln/>
        </p:spPr>
        <p:txBody>
          <a:bodyPr wrap="square" lIns="0" tIns="0" rIns="0" bIns="0" rtlCol="0" anchor="ctr"/>
          <a:lstStyle/>
          <a:p>
            <a:pPr algn="ctr" indent="0" marL="0">
              <a:buNone/>
            </a:pPr>
            <a:r>
              <a:rPr lang="en-US" sz="1000" dirty="0">
                <a:solidFill>
                  <a:srgbClr val="4D4D4D"/>
                </a:solidFill>
                <a:latin typeface="Pretendard" pitchFamily="34" charset="0"/>
                <a:ea typeface="Pretendard" pitchFamily="34" charset="-122"/>
                <a:cs typeface="Pretendard" pitchFamily="34" charset="-120"/>
              </a:rPr>
              <a:t>국립한국해양대학교 · [팀명] · [발표자]</a:t>
            </a:r>
            <a:endParaRPr lang="en-US" sz="1000" dirty="0"/>
          </a:p>
        </p:txBody>
      </p:sp>
      <p:sp>
        <p:nvSpPr>
          <p:cNvPr id="18" name="Text 16"/>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000000"/>
                </a:solidFill>
                <a:latin typeface="Pretendard" pitchFamily="34" charset="0"/>
                <a:ea typeface="Pretendard" pitchFamily="34" charset="-122"/>
                <a:cs typeface="Pretendard" pitchFamily="34" charset="-120"/>
              </a:rPr>
              <a:t>▲</a:t>
            </a:r>
            <a:endParaRPr lang="en-US" sz="900" dirty="0"/>
          </a:p>
        </p:txBody>
      </p:sp>
      <p:sp>
        <p:nvSpPr>
          <p:cNvPr id="19" name="Text 17"/>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666666"/>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20" name="Text 18"/>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666666"/>
                </a:solidFill>
                <a:latin typeface="Cascadia Mono" pitchFamily="34" charset="0"/>
                <a:ea typeface="Cascadia Mono" pitchFamily="34" charset="-122"/>
                <a:cs typeface="Cascadia Mono" pitchFamily="34" charset="-120"/>
              </a:rPr>
              <a:t>01 / 10</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201168"/>
          </a:xfrm>
          <a:prstGeom prst="rect">
            <a:avLst/>
          </a:prstGeom>
          <a:noFill/>
          <a:ln/>
        </p:spPr>
        <p:txBody>
          <a:bodyPr wrap="square" lIns="0" tIns="0" rIns="0" bIns="0" rtlCol="0" anchor="ctr"/>
          <a:lstStyle/>
          <a:p>
            <a:pPr indent="0" marL="0">
              <a:buNone/>
            </a:pPr>
            <a:r>
              <a:rPr lang="en-US" sz="850" spc="120" kern="0" dirty="0">
                <a:solidFill>
                  <a:srgbClr val="171717"/>
                </a:solidFill>
                <a:latin typeface="Cascadia Mono" pitchFamily="34" charset="0"/>
                <a:ea typeface="Cascadia Mono" pitchFamily="34" charset="-122"/>
                <a:cs typeface="Cascadia Mono" pitchFamily="34" charset="-120"/>
              </a:rPr>
              <a:t>01 — PROBLEM</a:t>
            </a:r>
            <a:endParaRPr lang="en-US" sz="850" dirty="0"/>
          </a:p>
        </p:txBody>
      </p:sp>
      <p:sp>
        <p:nvSpPr>
          <p:cNvPr id="3" name="Text 1"/>
          <p:cNvSpPr txBox="1"/>
          <p:nvPr/>
        </p:nvSpPr>
        <p:spPr>
          <a:xfrm>
            <a:off x="502920" y="713232"/>
            <a:ext cx="8138160" cy="566928"/>
          </a:xfrm>
          <a:prstGeom prst="rect">
            <a:avLst/>
          </a:prstGeom>
          <a:noFill/>
          <a:ln/>
        </p:spPr>
        <p:txBody>
          <a:bodyPr wrap="square" lIns="0" tIns="0" rIns="0" bIns="0" rtlCol="0" anchor="ctr"/>
          <a:lstStyle/>
          <a:p>
            <a:pPr indent="0" marL="0">
              <a:buNone/>
            </a:pPr>
            <a:r>
              <a:rPr lang="en-US" sz="2800" spc="-100" kern="0" dirty="0">
                <a:solidFill>
                  <a:srgbClr val="171717"/>
                </a:solidFill>
                <a:latin typeface="Pretendard" pitchFamily="34" charset="0"/>
                <a:ea typeface="Pretendard" pitchFamily="34" charset="-122"/>
                <a:cs typeface="Pretendard" pitchFamily="34" charset="-120"/>
              </a:rPr>
              <a:t>사람과 AGV가 같은 통로를 쓸 때</a:t>
            </a:r>
            <a:endParaRPr lang="en-US" sz="2800" dirty="0"/>
          </a:p>
        </p:txBody>
      </p:sp>
      <p:sp>
        <p:nvSpPr>
          <p:cNvPr id="4" name="Shape 2"/>
          <p:cNvSpPr/>
          <p:nvPr/>
        </p:nvSpPr>
        <p:spPr>
          <a:xfrm>
            <a:off x="502920" y="1508760"/>
            <a:ext cx="2590800" cy="2606040"/>
          </a:xfrm>
          <a:prstGeom prst="roundRect">
            <a:avLst>
              <a:gd name="adj" fmla="val 2118"/>
            </a:avLst>
          </a:prstGeom>
          <a:solidFill>
            <a:srgbClr val="FFFFFF"/>
          </a:solidFill>
          <a:ln w="9525">
            <a:solidFill>
              <a:srgbClr val="EBEBEB"/>
            </a:solidFill>
            <a:prstDash val="solid"/>
          </a:ln>
        </p:spPr>
      </p:sp>
      <p:sp>
        <p:nvSpPr>
          <p:cNvPr id="5" name="Text 3"/>
          <p:cNvSpPr txBox="1"/>
          <p:nvPr/>
        </p:nvSpPr>
        <p:spPr>
          <a:xfrm>
            <a:off x="704088" y="1691640"/>
            <a:ext cx="2188464" cy="777240"/>
          </a:xfrm>
          <a:prstGeom prst="rect">
            <a:avLst/>
          </a:prstGeom>
          <a:noFill/>
          <a:ln/>
        </p:spPr>
        <p:txBody>
          <a:bodyPr wrap="square" lIns="0" tIns="0" rIns="0" bIns="0" rtlCol="0" anchor="ctr"/>
          <a:lstStyle/>
          <a:p>
            <a:pPr indent="0" marL="0">
              <a:buNone/>
            </a:pPr>
            <a:r>
              <a:rPr lang="en-US" sz="4000" spc="-200" kern="0" dirty="0">
                <a:solidFill>
                  <a:srgbClr val="171717"/>
                </a:solidFill>
                <a:latin typeface="Pretendard" pitchFamily="34" charset="0"/>
                <a:ea typeface="Pretendard" pitchFamily="34" charset="-122"/>
                <a:cs typeface="Pretendard" pitchFamily="34" charset="-120"/>
              </a:rPr>
              <a:t>53%</a:t>
            </a:r>
            <a:endParaRPr lang="en-US" sz="4000" dirty="0"/>
          </a:p>
        </p:txBody>
      </p:sp>
      <p:sp>
        <p:nvSpPr>
          <p:cNvPr id="6" name="Text 4"/>
          <p:cNvSpPr txBox="1"/>
          <p:nvPr/>
        </p:nvSpPr>
        <p:spPr>
          <a:xfrm>
            <a:off x="704088" y="2514600"/>
            <a:ext cx="2188464" cy="274320"/>
          </a:xfrm>
          <a:prstGeom prst="rect">
            <a:avLst/>
          </a:prstGeom>
          <a:noFill/>
          <a:ln/>
        </p:spPr>
        <p:txBody>
          <a:bodyPr wrap="square" lIns="0" tIns="0" rIns="0" bIns="0" rtlCol="0" anchor="ctr"/>
          <a:lstStyle/>
          <a:p>
            <a:pPr indent="0" marL="0">
              <a:buNone/>
            </a:pPr>
            <a:r>
              <a:rPr lang="en-US" sz="1300" dirty="0">
                <a:solidFill>
                  <a:srgbClr val="171717"/>
                </a:solidFill>
                <a:latin typeface="Pretendard" pitchFamily="34" charset="0"/>
                <a:ea typeface="Pretendard" pitchFamily="34" charset="-122"/>
                <a:cs typeface="Pretendard" pitchFamily="34" charset="-120"/>
              </a:rPr>
              <a:t>끼임 재해</a:t>
            </a:r>
            <a:endParaRPr lang="en-US" sz="1300" dirty="0"/>
          </a:p>
        </p:txBody>
      </p:sp>
      <p:sp>
        <p:nvSpPr>
          <p:cNvPr id="7" name="Text 5"/>
          <p:cNvSpPr txBox="1"/>
          <p:nvPr/>
        </p:nvSpPr>
        <p:spPr>
          <a:xfrm>
            <a:off x="704088" y="2834640"/>
            <a:ext cx="2188464" cy="548640"/>
          </a:xfrm>
          <a:prstGeom prst="rect">
            <a:avLst/>
          </a:prstGeom>
          <a:noFill/>
          <a:ln/>
        </p:spPr>
        <p:txBody>
          <a:bodyPr wrap="square" lIns="0" tIns="0" rIns="0" bIns="0" rtlCol="0" anchor="t"/>
          <a:lstStyle/>
          <a:p>
            <a:pPr indent="0" marL="0">
              <a:lnSpc>
                <a:spcPct val="120000"/>
              </a:lnSpc>
              <a:buNone/>
            </a:pPr>
            <a:r>
              <a:rPr lang="en-US" sz="1050" dirty="0">
                <a:solidFill>
                  <a:srgbClr val="4D4D4D"/>
                </a:solidFill>
                <a:latin typeface="Pretendard" pitchFamily="34" charset="0"/>
                <a:ea typeface="Pretendard" pitchFamily="34" charset="-122"/>
                <a:cs typeface="Pretendard" pitchFamily="34" charset="-120"/>
              </a:rPr>
              <a:t>산업용 로봇 사고 1위</a:t>
            </a:r>
            <a:endParaRPr lang="en-US" sz="1050" dirty="0"/>
          </a:p>
          <a:p>
            <a:pPr indent="0" marL="0">
              <a:lnSpc>
                <a:spcPct val="120000"/>
              </a:lnSpc>
              <a:buNone/>
            </a:pPr>
            <a:r>
              <a:rPr lang="en-US" sz="1050" dirty="0">
                <a:solidFill>
                  <a:srgbClr val="4D4D4D"/>
                </a:solidFill>
                <a:latin typeface="Pretendard" pitchFamily="34" charset="0"/>
                <a:ea typeface="Pretendard" pitchFamily="34" charset="-122"/>
                <a:cs typeface="Pretendard" pitchFamily="34" charset="-120"/>
              </a:rPr>
              <a:t>부딪힘 34%가 뒤를 잇는다</a:t>
            </a:r>
            <a:endParaRPr lang="en-US" sz="1050" dirty="0"/>
          </a:p>
        </p:txBody>
      </p:sp>
      <p:sp>
        <p:nvSpPr>
          <p:cNvPr id="8" name="Shape 6"/>
          <p:cNvSpPr/>
          <p:nvPr/>
        </p:nvSpPr>
        <p:spPr>
          <a:xfrm>
            <a:off x="704088" y="3611880"/>
            <a:ext cx="2188464" cy="0"/>
          </a:xfrm>
          <a:prstGeom prst="line">
            <a:avLst/>
          </a:prstGeom>
          <a:noFill/>
          <a:ln w="9525">
            <a:solidFill>
              <a:srgbClr val="EBEBEB"/>
            </a:solidFill>
            <a:prstDash val="solid"/>
          </a:ln>
        </p:spPr>
      </p:sp>
      <p:sp>
        <p:nvSpPr>
          <p:cNvPr id="9" name="Text 7"/>
          <p:cNvSpPr txBox="1"/>
          <p:nvPr/>
        </p:nvSpPr>
        <p:spPr>
          <a:xfrm>
            <a:off x="704088" y="3685032"/>
            <a:ext cx="2188464" cy="274320"/>
          </a:xfrm>
          <a:prstGeom prst="rect">
            <a:avLst/>
          </a:prstGeom>
          <a:noFill/>
          <a:ln/>
        </p:spPr>
        <p:txBody>
          <a:bodyPr wrap="square" lIns="0" tIns="0" rIns="0" bIns="0" rtlCol="0" anchor="ctr"/>
          <a:lstStyle/>
          <a:p>
            <a:pPr indent="0" marL="0">
              <a:buNone/>
            </a:pPr>
            <a:r>
              <a:rPr lang="en-US" sz="650" spc="60" kern="0" dirty="0">
                <a:solidFill>
                  <a:srgbClr val="666666"/>
                </a:solidFill>
                <a:latin typeface="Cascadia Mono" pitchFamily="34" charset="0"/>
                <a:ea typeface="Cascadia Mono" pitchFamily="34" charset="-122"/>
                <a:cs typeface="Cascadia Mono" pitchFamily="34" charset="-120"/>
              </a:rPr>
              <a:t>KOSHA · 2011–2020 · N=355</a:t>
            </a:r>
            <a:endParaRPr lang="en-US" sz="650" dirty="0"/>
          </a:p>
        </p:txBody>
      </p:sp>
      <p:sp>
        <p:nvSpPr>
          <p:cNvPr id="10" name="Shape 8"/>
          <p:cNvSpPr/>
          <p:nvPr/>
        </p:nvSpPr>
        <p:spPr>
          <a:xfrm>
            <a:off x="3276600" y="1508760"/>
            <a:ext cx="2590800" cy="2606040"/>
          </a:xfrm>
          <a:prstGeom prst="roundRect">
            <a:avLst>
              <a:gd name="adj" fmla="val 2118"/>
            </a:avLst>
          </a:prstGeom>
          <a:solidFill>
            <a:srgbClr val="FFFFFF"/>
          </a:solidFill>
          <a:ln w="9525">
            <a:solidFill>
              <a:srgbClr val="EBEBEB"/>
            </a:solidFill>
            <a:prstDash val="solid"/>
          </a:ln>
        </p:spPr>
      </p:sp>
      <p:sp>
        <p:nvSpPr>
          <p:cNvPr id="11" name="Text 9"/>
          <p:cNvSpPr txBox="1"/>
          <p:nvPr/>
        </p:nvSpPr>
        <p:spPr>
          <a:xfrm>
            <a:off x="3477768" y="1691640"/>
            <a:ext cx="2188464" cy="777240"/>
          </a:xfrm>
          <a:prstGeom prst="rect">
            <a:avLst/>
          </a:prstGeom>
          <a:noFill/>
          <a:ln/>
        </p:spPr>
        <p:txBody>
          <a:bodyPr wrap="square" lIns="0" tIns="0" rIns="0" bIns="0" rtlCol="0" anchor="ctr"/>
          <a:lstStyle/>
          <a:p>
            <a:pPr indent="0" marL="0">
              <a:buNone/>
            </a:pPr>
            <a:r>
              <a:rPr lang="en-US" sz="4000" spc="-200" kern="0" dirty="0">
                <a:solidFill>
                  <a:srgbClr val="171717"/>
                </a:solidFill>
                <a:latin typeface="Pretendard" pitchFamily="34" charset="0"/>
                <a:ea typeface="Pretendard" pitchFamily="34" charset="-122"/>
                <a:cs typeface="Pretendard" pitchFamily="34" charset="-120"/>
              </a:rPr>
              <a:t>66</a:t>
            </a:r>
            <a:endParaRPr lang="en-US" sz="4000" dirty="0"/>
          </a:p>
        </p:txBody>
      </p:sp>
      <p:sp>
        <p:nvSpPr>
          <p:cNvPr id="12" name="Text 10"/>
          <p:cNvSpPr txBox="1"/>
          <p:nvPr/>
        </p:nvSpPr>
        <p:spPr>
          <a:xfrm>
            <a:off x="3477768" y="2514600"/>
            <a:ext cx="2188464" cy="274320"/>
          </a:xfrm>
          <a:prstGeom prst="rect">
            <a:avLst/>
          </a:prstGeom>
          <a:noFill/>
          <a:ln/>
        </p:spPr>
        <p:txBody>
          <a:bodyPr wrap="square" lIns="0" tIns="0" rIns="0" bIns="0" rtlCol="0" anchor="ctr"/>
          <a:lstStyle/>
          <a:p>
            <a:pPr indent="0" marL="0">
              <a:buNone/>
            </a:pPr>
            <a:r>
              <a:rPr lang="en-US" sz="1300" dirty="0">
                <a:solidFill>
                  <a:srgbClr val="171717"/>
                </a:solidFill>
                <a:latin typeface="Pretendard" pitchFamily="34" charset="0"/>
                <a:ea typeface="Pretendard" pitchFamily="34" charset="-122"/>
                <a:cs typeface="Pretendard" pitchFamily="34" charset="-120"/>
              </a:rPr>
              <a:t>2024년 끼임 사망자</a:t>
            </a:r>
            <a:endParaRPr lang="en-US" sz="1300" dirty="0"/>
          </a:p>
        </p:txBody>
      </p:sp>
      <p:sp>
        <p:nvSpPr>
          <p:cNvPr id="13" name="Text 11"/>
          <p:cNvSpPr txBox="1"/>
          <p:nvPr/>
        </p:nvSpPr>
        <p:spPr>
          <a:xfrm>
            <a:off x="3477768" y="2834640"/>
            <a:ext cx="2188464" cy="548640"/>
          </a:xfrm>
          <a:prstGeom prst="rect">
            <a:avLst/>
          </a:prstGeom>
          <a:noFill/>
          <a:ln/>
        </p:spPr>
        <p:txBody>
          <a:bodyPr wrap="square" lIns="0" tIns="0" rIns="0" bIns="0" rtlCol="0" anchor="t"/>
          <a:lstStyle/>
          <a:p>
            <a:pPr indent="0" marL="0">
              <a:lnSpc>
                <a:spcPct val="120000"/>
              </a:lnSpc>
              <a:buNone/>
            </a:pPr>
            <a:r>
              <a:rPr lang="en-US" sz="1050" dirty="0">
                <a:solidFill>
                  <a:srgbClr val="4D4D4D"/>
                </a:solidFill>
                <a:latin typeface="Pretendard" pitchFamily="34" charset="0"/>
                <a:ea typeface="Pretendard" pitchFamily="34" charset="-122"/>
                <a:cs typeface="Pretendard" pitchFamily="34" charset="-120"/>
              </a:rPr>
              <a:t>전국 산업현장 압착 사망</a:t>
            </a:r>
            <a:endParaRPr lang="en-US" sz="1050" dirty="0"/>
          </a:p>
          <a:p>
            <a:pPr indent="0" marL="0">
              <a:lnSpc>
                <a:spcPct val="120000"/>
              </a:lnSpc>
              <a:buNone/>
            </a:pPr>
            <a:r>
              <a:rPr lang="en-US" sz="1050" dirty="0">
                <a:solidFill>
                  <a:srgbClr val="4D4D4D"/>
                </a:solidFill>
                <a:latin typeface="Pretendard" pitchFamily="34" charset="0"/>
                <a:ea typeface="Pretendard" pitchFamily="34" charset="-122"/>
                <a:cs typeface="Pretendard" pitchFamily="34" charset="-120"/>
              </a:rPr>
              <a:t>전년 대비 +22.2% 급증</a:t>
            </a:r>
            <a:endParaRPr lang="en-US" sz="1050" dirty="0"/>
          </a:p>
        </p:txBody>
      </p:sp>
      <p:sp>
        <p:nvSpPr>
          <p:cNvPr id="14" name="Shape 12"/>
          <p:cNvSpPr/>
          <p:nvPr/>
        </p:nvSpPr>
        <p:spPr>
          <a:xfrm>
            <a:off x="3477768" y="3611880"/>
            <a:ext cx="2188464" cy="0"/>
          </a:xfrm>
          <a:prstGeom prst="line">
            <a:avLst/>
          </a:prstGeom>
          <a:noFill/>
          <a:ln w="9525">
            <a:solidFill>
              <a:srgbClr val="EBEBEB"/>
            </a:solidFill>
            <a:prstDash val="solid"/>
          </a:ln>
        </p:spPr>
      </p:sp>
      <p:sp>
        <p:nvSpPr>
          <p:cNvPr id="15" name="Text 13"/>
          <p:cNvSpPr txBox="1"/>
          <p:nvPr/>
        </p:nvSpPr>
        <p:spPr>
          <a:xfrm>
            <a:off x="3477768" y="3685032"/>
            <a:ext cx="2188464" cy="274320"/>
          </a:xfrm>
          <a:prstGeom prst="rect">
            <a:avLst/>
          </a:prstGeom>
          <a:noFill/>
          <a:ln/>
        </p:spPr>
        <p:txBody>
          <a:bodyPr wrap="square" lIns="0" tIns="0" rIns="0" bIns="0" rtlCol="0" anchor="ctr"/>
          <a:lstStyle/>
          <a:p>
            <a:pPr indent="0" marL="0">
              <a:buNone/>
            </a:pPr>
            <a:r>
              <a:rPr lang="en-US" sz="650" spc="60" kern="0" dirty="0">
                <a:solidFill>
                  <a:srgbClr val="666666"/>
                </a:solidFill>
                <a:latin typeface="Cascadia Mono" pitchFamily="34" charset="0"/>
                <a:ea typeface="Cascadia Mono" pitchFamily="34" charset="-122"/>
                <a:cs typeface="Cascadia Mono" pitchFamily="34" charset="-120"/>
              </a:rPr>
              <a:t>고용노동부 · 2024 재해조사 통계</a:t>
            </a:r>
            <a:endParaRPr lang="en-US" sz="650" dirty="0"/>
          </a:p>
        </p:txBody>
      </p:sp>
      <p:sp>
        <p:nvSpPr>
          <p:cNvPr id="16" name="Shape 14"/>
          <p:cNvSpPr/>
          <p:nvPr/>
        </p:nvSpPr>
        <p:spPr>
          <a:xfrm>
            <a:off x="6050280" y="1508760"/>
            <a:ext cx="2590800" cy="2606040"/>
          </a:xfrm>
          <a:prstGeom prst="roundRect">
            <a:avLst>
              <a:gd name="adj" fmla="val 2118"/>
            </a:avLst>
          </a:prstGeom>
          <a:solidFill>
            <a:srgbClr val="FFFFFF"/>
          </a:solidFill>
          <a:ln w="9525">
            <a:solidFill>
              <a:srgbClr val="EBEBEB"/>
            </a:solidFill>
            <a:prstDash val="solid"/>
          </a:ln>
        </p:spPr>
      </p:sp>
      <p:sp>
        <p:nvSpPr>
          <p:cNvPr id="17" name="Text 15"/>
          <p:cNvSpPr txBox="1"/>
          <p:nvPr/>
        </p:nvSpPr>
        <p:spPr>
          <a:xfrm>
            <a:off x="6251448" y="1691640"/>
            <a:ext cx="2188464" cy="777240"/>
          </a:xfrm>
          <a:prstGeom prst="rect">
            <a:avLst/>
          </a:prstGeom>
          <a:noFill/>
          <a:ln/>
        </p:spPr>
        <p:txBody>
          <a:bodyPr wrap="square" lIns="0" tIns="0" rIns="0" bIns="0" rtlCol="0" anchor="ctr"/>
          <a:lstStyle/>
          <a:p>
            <a:pPr indent="0" marL="0">
              <a:buNone/>
            </a:pPr>
            <a:r>
              <a:rPr lang="en-US" sz="4000" spc="-200" kern="0" dirty="0">
                <a:solidFill>
                  <a:srgbClr val="171717"/>
                </a:solidFill>
                <a:latin typeface="Pretendard" pitchFamily="34" charset="0"/>
                <a:ea typeface="Pretendard" pitchFamily="34" charset="-122"/>
                <a:cs typeface="Pretendard" pitchFamily="34" charset="-120"/>
              </a:rPr>
              <a:t>$2.3M</a:t>
            </a:r>
            <a:endParaRPr lang="en-US" sz="4000" dirty="0"/>
          </a:p>
        </p:txBody>
      </p:sp>
      <p:sp>
        <p:nvSpPr>
          <p:cNvPr id="18" name="Text 16"/>
          <p:cNvSpPr txBox="1"/>
          <p:nvPr/>
        </p:nvSpPr>
        <p:spPr>
          <a:xfrm>
            <a:off x="6251448" y="2514600"/>
            <a:ext cx="2188464" cy="274320"/>
          </a:xfrm>
          <a:prstGeom prst="rect">
            <a:avLst/>
          </a:prstGeom>
          <a:noFill/>
          <a:ln/>
        </p:spPr>
        <p:txBody>
          <a:bodyPr wrap="square" lIns="0" tIns="0" rIns="0" bIns="0" rtlCol="0" anchor="ctr"/>
          <a:lstStyle/>
          <a:p>
            <a:pPr indent="0" marL="0">
              <a:buNone/>
            </a:pPr>
            <a:r>
              <a:rPr lang="en-US" sz="1300" dirty="0">
                <a:solidFill>
                  <a:srgbClr val="171717"/>
                </a:solidFill>
                <a:latin typeface="Pretendard" pitchFamily="34" charset="0"/>
                <a:ea typeface="Pretendard" pitchFamily="34" charset="-122"/>
                <a:cs typeface="Pretendard" pitchFamily="34" charset="-120"/>
              </a:rPr>
              <a:t>시간당 라인 정지 비용</a:t>
            </a:r>
            <a:endParaRPr lang="en-US" sz="1300" dirty="0"/>
          </a:p>
        </p:txBody>
      </p:sp>
      <p:sp>
        <p:nvSpPr>
          <p:cNvPr id="19" name="Text 17"/>
          <p:cNvSpPr txBox="1"/>
          <p:nvPr/>
        </p:nvSpPr>
        <p:spPr>
          <a:xfrm>
            <a:off x="6251448" y="2834640"/>
            <a:ext cx="2188464" cy="548640"/>
          </a:xfrm>
          <a:prstGeom prst="rect">
            <a:avLst/>
          </a:prstGeom>
          <a:noFill/>
          <a:ln/>
        </p:spPr>
        <p:txBody>
          <a:bodyPr wrap="square" lIns="0" tIns="0" rIns="0" bIns="0" rtlCol="0" anchor="t"/>
          <a:lstStyle/>
          <a:p>
            <a:pPr indent="0" marL="0">
              <a:lnSpc>
                <a:spcPct val="120000"/>
              </a:lnSpc>
              <a:buNone/>
            </a:pPr>
            <a:r>
              <a:rPr lang="en-US" sz="1050" dirty="0">
                <a:solidFill>
                  <a:srgbClr val="4D4D4D"/>
                </a:solidFill>
                <a:latin typeface="Pretendard" pitchFamily="34" charset="0"/>
                <a:ea typeface="Pretendard" pitchFamily="34" charset="-122"/>
                <a:cs typeface="Pretendard" pitchFamily="34" charset="-120"/>
              </a:rPr>
              <a:t>자동차·배터리 공장 최대치</a:t>
            </a:r>
            <a:endParaRPr lang="en-US" sz="1050" dirty="0"/>
          </a:p>
          <a:p>
            <a:pPr indent="0" marL="0">
              <a:lnSpc>
                <a:spcPct val="120000"/>
              </a:lnSpc>
              <a:buNone/>
            </a:pPr>
            <a:r>
              <a:rPr lang="en-US" sz="1050" dirty="0">
                <a:solidFill>
                  <a:srgbClr val="4D4D4D"/>
                </a:solidFill>
                <a:latin typeface="Pretendard" pitchFamily="34" charset="0"/>
                <a:ea typeface="Pretendard" pitchFamily="34" charset="-122"/>
                <a:cs typeface="Pretendard" pitchFamily="34" charset="-120"/>
              </a:rPr>
              <a:t>FMCG 평균 $36,000/h</a:t>
            </a:r>
            <a:endParaRPr lang="en-US" sz="1050" dirty="0"/>
          </a:p>
        </p:txBody>
      </p:sp>
      <p:sp>
        <p:nvSpPr>
          <p:cNvPr id="20" name="Shape 18"/>
          <p:cNvSpPr/>
          <p:nvPr/>
        </p:nvSpPr>
        <p:spPr>
          <a:xfrm>
            <a:off x="6251448" y="3611880"/>
            <a:ext cx="2188464" cy="0"/>
          </a:xfrm>
          <a:prstGeom prst="line">
            <a:avLst/>
          </a:prstGeom>
          <a:noFill/>
          <a:ln w="9525">
            <a:solidFill>
              <a:srgbClr val="EBEBEB"/>
            </a:solidFill>
            <a:prstDash val="solid"/>
          </a:ln>
        </p:spPr>
      </p:sp>
      <p:sp>
        <p:nvSpPr>
          <p:cNvPr id="21" name="Text 19"/>
          <p:cNvSpPr txBox="1"/>
          <p:nvPr/>
        </p:nvSpPr>
        <p:spPr>
          <a:xfrm>
            <a:off x="6251448" y="3685032"/>
            <a:ext cx="2188464" cy="274320"/>
          </a:xfrm>
          <a:prstGeom prst="rect">
            <a:avLst/>
          </a:prstGeom>
          <a:noFill/>
          <a:ln/>
        </p:spPr>
        <p:txBody>
          <a:bodyPr wrap="square" lIns="0" tIns="0" rIns="0" bIns="0" rtlCol="0" anchor="ctr"/>
          <a:lstStyle/>
          <a:p>
            <a:pPr indent="0" marL="0">
              <a:buNone/>
            </a:pPr>
            <a:r>
              <a:rPr lang="en-US" sz="650" spc="60" kern="0" dirty="0">
                <a:solidFill>
                  <a:srgbClr val="666666"/>
                </a:solidFill>
                <a:latin typeface="Cascadia Mono" pitchFamily="34" charset="0"/>
                <a:ea typeface="Cascadia Mono" pitchFamily="34" charset="-122"/>
                <a:cs typeface="Cascadia Mono" pitchFamily="34" charset="-120"/>
              </a:rPr>
              <a:t>SIEMENS SENSEYE · DOWNTIME 2024</a:t>
            </a:r>
            <a:endParaRPr lang="en-US" sz="650" dirty="0"/>
          </a:p>
        </p:txBody>
      </p:sp>
      <p:sp>
        <p:nvSpPr>
          <p:cNvPr id="22" name="Text 20"/>
          <p:cNvSpPr txBox="1"/>
          <p:nvPr/>
        </p:nvSpPr>
        <p:spPr>
          <a:xfrm>
            <a:off x="502920" y="4251960"/>
            <a:ext cx="8138160" cy="274320"/>
          </a:xfrm>
          <a:prstGeom prst="rect">
            <a:avLst/>
          </a:prstGeom>
          <a:noFill/>
          <a:ln/>
        </p:spPr>
        <p:txBody>
          <a:bodyPr wrap="square" lIns="0" tIns="0" rIns="0" bIns="0" rtlCol="0" anchor="t"/>
          <a:lstStyle/>
          <a:p>
            <a:pPr indent="0" marL="0">
              <a:lnSpc>
                <a:spcPct val="120000"/>
              </a:lnSpc>
              <a:buNone/>
            </a:pPr>
            <a:r>
              <a:rPr lang="en-US" sz="1100" dirty="0">
                <a:solidFill>
                  <a:srgbClr val="171717"/>
                </a:solidFill>
                <a:latin typeface="Pretendard" pitchFamily="34" charset="0"/>
                <a:ea typeface="Pretendard" pitchFamily="34" charset="-122"/>
                <a:cs typeface="Pretendard" pitchFamily="34" charset="-120"/>
              </a:rPr>
              <a:t>멈춘 AGV는 사람이 걸어올 때까지 통로를 막는다. 사고와 정지 비용은 같은 지점에서 생긴다.</a:t>
            </a:r>
            <a:endParaRPr lang="en-US" sz="1100" dirty="0"/>
          </a:p>
        </p:txBody>
      </p:sp>
      <p:sp>
        <p:nvSpPr>
          <p:cNvPr id="23" name="Text 21"/>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000000"/>
                </a:solidFill>
                <a:latin typeface="Pretendard" pitchFamily="34" charset="0"/>
                <a:ea typeface="Pretendard" pitchFamily="34" charset="-122"/>
                <a:cs typeface="Pretendard" pitchFamily="34" charset="-120"/>
              </a:rPr>
              <a:t>▲</a:t>
            </a:r>
            <a:endParaRPr lang="en-US" sz="900" dirty="0"/>
          </a:p>
        </p:txBody>
      </p:sp>
      <p:sp>
        <p:nvSpPr>
          <p:cNvPr id="24" name="Text 22"/>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666666"/>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25" name="Text 23"/>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666666"/>
                </a:solidFill>
                <a:latin typeface="Cascadia Mono" pitchFamily="34" charset="0"/>
                <a:ea typeface="Cascadia Mono" pitchFamily="34" charset="-122"/>
                <a:cs typeface="Cascadia Mono" pitchFamily="34" charset="-120"/>
              </a:rPr>
              <a:t>02 / 10</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201168"/>
          </a:xfrm>
          <a:prstGeom prst="rect">
            <a:avLst/>
          </a:prstGeom>
          <a:noFill/>
          <a:ln/>
        </p:spPr>
        <p:txBody>
          <a:bodyPr wrap="square" lIns="0" tIns="0" rIns="0" bIns="0" rtlCol="0" anchor="ctr"/>
          <a:lstStyle/>
          <a:p>
            <a:pPr indent="0" marL="0">
              <a:buNone/>
            </a:pPr>
            <a:r>
              <a:rPr lang="en-US" sz="850" spc="120" kern="0" dirty="0">
                <a:solidFill>
                  <a:srgbClr val="171717"/>
                </a:solidFill>
                <a:latin typeface="Cascadia Mono" pitchFamily="34" charset="0"/>
                <a:ea typeface="Cascadia Mono" pitchFamily="34" charset="-122"/>
                <a:cs typeface="Cascadia Mono" pitchFamily="34" charset="-120"/>
              </a:rPr>
              <a:t>02 — LIMITS</a:t>
            </a:r>
            <a:endParaRPr lang="en-US" sz="850" dirty="0"/>
          </a:p>
        </p:txBody>
      </p:sp>
      <p:sp>
        <p:nvSpPr>
          <p:cNvPr id="3" name="Text 1"/>
          <p:cNvSpPr txBox="1"/>
          <p:nvPr/>
        </p:nvSpPr>
        <p:spPr>
          <a:xfrm>
            <a:off x="502920" y="713232"/>
            <a:ext cx="8138160" cy="566928"/>
          </a:xfrm>
          <a:prstGeom prst="rect">
            <a:avLst/>
          </a:prstGeom>
          <a:noFill/>
          <a:ln/>
        </p:spPr>
        <p:txBody>
          <a:bodyPr wrap="square" lIns="0" tIns="0" rIns="0" bIns="0" rtlCol="0" anchor="ctr"/>
          <a:lstStyle/>
          <a:p>
            <a:pPr indent="0" marL="0">
              <a:buNone/>
            </a:pPr>
            <a:r>
              <a:rPr lang="en-US" sz="2800" spc="-100" kern="0" dirty="0">
                <a:solidFill>
                  <a:srgbClr val="171717"/>
                </a:solidFill>
                <a:latin typeface="Pretendard" pitchFamily="34" charset="0"/>
                <a:ea typeface="Pretendard" pitchFamily="34" charset="-122"/>
                <a:cs typeface="Pretendard" pitchFamily="34" charset="-120"/>
              </a:rPr>
              <a:t>보급형 AGV가 풀지 못한 세 가지</a:t>
            </a:r>
            <a:endParaRPr lang="en-US" sz="2800" dirty="0"/>
          </a:p>
        </p:txBody>
      </p:sp>
      <p:sp>
        <p:nvSpPr>
          <p:cNvPr id="4" name="Shape 2"/>
          <p:cNvSpPr/>
          <p:nvPr/>
        </p:nvSpPr>
        <p:spPr>
          <a:xfrm>
            <a:off x="502920" y="1508760"/>
            <a:ext cx="2590800" cy="2788920"/>
          </a:xfrm>
          <a:prstGeom prst="roundRect">
            <a:avLst>
              <a:gd name="adj" fmla="val 2118"/>
            </a:avLst>
          </a:prstGeom>
          <a:solidFill>
            <a:srgbClr val="FFFFFF"/>
          </a:solidFill>
          <a:ln w="9525">
            <a:solidFill>
              <a:srgbClr val="EBEBEB"/>
            </a:solidFill>
            <a:prstDash val="solid"/>
          </a:ln>
        </p:spPr>
      </p:sp>
      <p:sp>
        <p:nvSpPr>
          <p:cNvPr id="5" name="Text 3"/>
          <p:cNvSpPr txBox="1"/>
          <p:nvPr/>
        </p:nvSpPr>
        <p:spPr>
          <a:xfrm>
            <a:off x="704088" y="1709928"/>
            <a:ext cx="914400" cy="228600"/>
          </a:xfrm>
          <a:prstGeom prst="rect">
            <a:avLst/>
          </a:prstGeom>
          <a:noFill/>
          <a:ln/>
        </p:spPr>
        <p:txBody>
          <a:bodyPr wrap="square" lIns="0" tIns="0" rIns="0" bIns="0" rtlCol="0" anchor="ctr"/>
          <a:lstStyle/>
          <a:p>
            <a:pPr indent="0" marL="0">
              <a:buNone/>
            </a:pPr>
            <a:r>
              <a:rPr lang="en-US" sz="900" spc="120" kern="0" dirty="0">
                <a:solidFill>
                  <a:srgbClr val="666666"/>
                </a:solidFill>
                <a:latin typeface="Cascadia Mono" pitchFamily="34" charset="0"/>
                <a:ea typeface="Cascadia Mono" pitchFamily="34" charset="-122"/>
                <a:cs typeface="Cascadia Mono" pitchFamily="34" charset="-120"/>
              </a:rPr>
              <a:t>01</a:t>
            </a:r>
            <a:endParaRPr lang="en-US" sz="900" dirty="0"/>
          </a:p>
        </p:txBody>
      </p:sp>
      <p:sp>
        <p:nvSpPr>
          <p:cNvPr id="6" name="Text 4"/>
          <p:cNvSpPr txBox="1"/>
          <p:nvPr/>
        </p:nvSpPr>
        <p:spPr>
          <a:xfrm>
            <a:off x="704088" y="2011680"/>
            <a:ext cx="2188464" cy="411480"/>
          </a:xfrm>
          <a:prstGeom prst="rect">
            <a:avLst/>
          </a:prstGeom>
          <a:noFill/>
          <a:ln/>
        </p:spPr>
        <p:txBody>
          <a:bodyPr wrap="square" lIns="0" tIns="0" rIns="0" bIns="0" rtlCol="0" anchor="ctr"/>
          <a:lstStyle/>
          <a:p>
            <a:pPr indent="0" marL="0">
              <a:buNone/>
            </a:pPr>
            <a:r>
              <a:rPr lang="en-US" sz="1800" spc="-60" kern="0" dirty="0">
                <a:solidFill>
                  <a:srgbClr val="171717"/>
                </a:solidFill>
                <a:latin typeface="Pretendard" pitchFamily="34" charset="0"/>
                <a:ea typeface="Pretendard" pitchFamily="34" charset="-122"/>
                <a:cs typeface="Pretendard" pitchFamily="34" charset="-120"/>
              </a:rPr>
              <a:t>높이 사각지대</a:t>
            </a:r>
            <a:endParaRPr lang="en-US" sz="1800" dirty="0"/>
          </a:p>
        </p:txBody>
      </p:sp>
      <p:sp>
        <p:nvSpPr>
          <p:cNvPr id="7" name="Text 5"/>
          <p:cNvSpPr txBox="1"/>
          <p:nvPr/>
        </p:nvSpPr>
        <p:spPr>
          <a:xfrm>
            <a:off x="704088" y="2560320"/>
            <a:ext cx="2188464" cy="1234440"/>
          </a:xfrm>
          <a:prstGeom prst="rect">
            <a:avLst/>
          </a:prstGeom>
          <a:noFill/>
          <a:ln/>
        </p:spPr>
        <p:txBody>
          <a:bodyPr wrap="square" lIns="0" tIns="0" rIns="0" bIns="0" rtlCol="0" anchor="t"/>
          <a:lstStyle/>
          <a:p>
            <a:pPr indent="0" marL="0">
              <a:lnSpc>
                <a:spcPct val="120000"/>
              </a:lnSpc>
              <a:buNone/>
            </a:pPr>
            <a:r>
              <a:rPr lang="en-US" sz="1050" dirty="0">
                <a:solidFill>
                  <a:srgbClr val="4D4D4D"/>
                </a:solidFill>
                <a:latin typeface="Pretendard" pitchFamily="34" charset="0"/>
                <a:ea typeface="Pretendard" pitchFamily="34" charset="-122"/>
                <a:cs typeface="Pretendard" pitchFamily="34" charset="-120"/>
              </a:rPr>
              <a:t>2D LiDAR는 한 평면(Burger 바닥 약 0.17m)만 스캔. 선반 돌출물, 포크, 작업자 상체는 놓친다. 3D LiDAR는 중소 현장에 부담이 크다.</a:t>
            </a:r>
            <a:endParaRPr lang="en-US" sz="1050" dirty="0"/>
          </a:p>
        </p:txBody>
      </p:sp>
      <p:sp>
        <p:nvSpPr>
          <p:cNvPr id="8" name="Shape 6"/>
          <p:cNvSpPr/>
          <p:nvPr/>
        </p:nvSpPr>
        <p:spPr>
          <a:xfrm>
            <a:off x="704088" y="3840480"/>
            <a:ext cx="2188464" cy="0"/>
          </a:xfrm>
          <a:prstGeom prst="line">
            <a:avLst/>
          </a:prstGeom>
          <a:noFill/>
          <a:ln w="9525">
            <a:solidFill>
              <a:srgbClr val="EBEBEB"/>
            </a:solidFill>
            <a:prstDash val="solid"/>
          </a:ln>
        </p:spPr>
      </p:sp>
      <p:sp>
        <p:nvSpPr>
          <p:cNvPr id="9" name="Text 7"/>
          <p:cNvSpPr txBox="1"/>
          <p:nvPr/>
        </p:nvSpPr>
        <p:spPr>
          <a:xfrm>
            <a:off x="704088" y="3904488"/>
            <a:ext cx="2188464" cy="274320"/>
          </a:xfrm>
          <a:prstGeom prst="rect">
            <a:avLst/>
          </a:prstGeom>
          <a:noFill/>
          <a:ln/>
        </p:spPr>
        <p:txBody>
          <a:bodyPr wrap="square" lIns="0" tIns="0" rIns="0" bIns="0" rtlCol="0" anchor="ctr"/>
          <a:lstStyle/>
          <a:p>
            <a:pPr indent="0" marL="0">
              <a:buNone/>
            </a:pPr>
            <a:r>
              <a:rPr lang="en-US" sz="650" spc="60" kern="0" dirty="0">
                <a:solidFill>
                  <a:srgbClr val="666666"/>
                </a:solidFill>
                <a:latin typeface="Cascadia Mono" pitchFamily="34" charset="0"/>
                <a:ea typeface="Cascadia Mono" pitchFamily="34" charset="-122"/>
                <a:cs typeface="Cascadia Mono" pitchFamily="34" charset="-120"/>
              </a:rPr>
              <a:t>ISO 3691-4:2020 · 무인 산업차량 안전요건</a:t>
            </a:r>
            <a:endParaRPr lang="en-US" sz="650" dirty="0"/>
          </a:p>
        </p:txBody>
      </p:sp>
      <p:sp>
        <p:nvSpPr>
          <p:cNvPr id="10" name="Shape 8"/>
          <p:cNvSpPr/>
          <p:nvPr/>
        </p:nvSpPr>
        <p:spPr>
          <a:xfrm>
            <a:off x="3276600" y="1508760"/>
            <a:ext cx="2590800" cy="2788920"/>
          </a:xfrm>
          <a:prstGeom prst="roundRect">
            <a:avLst>
              <a:gd name="adj" fmla="val 2118"/>
            </a:avLst>
          </a:prstGeom>
          <a:solidFill>
            <a:srgbClr val="171717"/>
          </a:solidFill>
          <a:ln w="9525">
            <a:solidFill>
              <a:srgbClr val="171717"/>
            </a:solidFill>
            <a:prstDash val="solid"/>
          </a:ln>
        </p:spPr>
      </p:sp>
      <p:sp>
        <p:nvSpPr>
          <p:cNvPr id="11" name="Text 9"/>
          <p:cNvSpPr txBox="1"/>
          <p:nvPr/>
        </p:nvSpPr>
        <p:spPr>
          <a:xfrm>
            <a:off x="3477768" y="1709928"/>
            <a:ext cx="914400" cy="228600"/>
          </a:xfrm>
          <a:prstGeom prst="rect">
            <a:avLst/>
          </a:prstGeom>
          <a:noFill/>
          <a:ln/>
        </p:spPr>
        <p:txBody>
          <a:bodyPr wrap="square" lIns="0" tIns="0" rIns="0" bIns="0" rtlCol="0" anchor="ctr"/>
          <a:lstStyle/>
          <a:p>
            <a:pPr indent="0" marL="0">
              <a:buNone/>
            </a:pPr>
            <a:r>
              <a:rPr lang="en-US" sz="900" spc="120" kern="0" dirty="0">
                <a:solidFill>
                  <a:srgbClr val="A8A8A8"/>
                </a:solidFill>
                <a:latin typeface="Cascadia Mono" pitchFamily="34" charset="0"/>
                <a:ea typeface="Cascadia Mono" pitchFamily="34" charset="-122"/>
                <a:cs typeface="Cascadia Mono" pitchFamily="34" charset="-120"/>
              </a:rPr>
              <a:t>02</a:t>
            </a:r>
            <a:endParaRPr lang="en-US" sz="900" dirty="0"/>
          </a:p>
        </p:txBody>
      </p:sp>
      <p:sp>
        <p:nvSpPr>
          <p:cNvPr id="12" name="Text 10"/>
          <p:cNvSpPr txBox="1"/>
          <p:nvPr/>
        </p:nvSpPr>
        <p:spPr>
          <a:xfrm>
            <a:off x="3477768" y="2011680"/>
            <a:ext cx="2188464" cy="411480"/>
          </a:xfrm>
          <a:prstGeom prst="rect">
            <a:avLst/>
          </a:prstGeom>
          <a:noFill/>
          <a:ln/>
        </p:spPr>
        <p:txBody>
          <a:bodyPr wrap="square" lIns="0" tIns="0" rIns="0" bIns="0" rtlCol="0" anchor="ctr"/>
          <a:lstStyle/>
          <a:p>
            <a:pPr indent="0" marL="0">
              <a:buNone/>
            </a:pPr>
            <a:r>
              <a:rPr lang="en-US" sz="1800" spc="-60" kern="0" dirty="0">
                <a:solidFill>
                  <a:srgbClr val="FFFFFF"/>
                </a:solidFill>
                <a:latin typeface="Pretendard" pitchFamily="34" charset="0"/>
                <a:ea typeface="Pretendard" pitchFamily="34" charset="-122"/>
                <a:cs typeface="Pretendard" pitchFamily="34" charset="-120"/>
              </a:rPr>
              <a:t>자율 후진의 역설</a:t>
            </a:r>
            <a:endParaRPr lang="en-US" sz="1800" dirty="0"/>
          </a:p>
        </p:txBody>
      </p:sp>
      <p:sp>
        <p:nvSpPr>
          <p:cNvPr id="13" name="Text 11"/>
          <p:cNvSpPr txBox="1"/>
          <p:nvPr/>
        </p:nvSpPr>
        <p:spPr>
          <a:xfrm>
            <a:off x="3477768" y="2560320"/>
            <a:ext cx="2188464" cy="1234440"/>
          </a:xfrm>
          <a:prstGeom prst="rect">
            <a:avLst/>
          </a:prstGeom>
          <a:noFill/>
          <a:ln/>
        </p:spPr>
        <p:txBody>
          <a:bodyPr wrap="square" lIns="0" tIns="0" rIns="0" bIns="0" rtlCol="0" anchor="t"/>
          <a:lstStyle/>
          <a:p>
            <a:pPr indent="0" marL="0">
              <a:lnSpc>
                <a:spcPct val="120000"/>
              </a:lnSpc>
              <a:buNone/>
            </a:pPr>
            <a:r>
              <a:rPr lang="en-US" sz="1050" dirty="0">
                <a:solidFill>
                  <a:srgbClr val="C9C9C9"/>
                </a:solidFill>
                <a:latin typeface="Pretendard" pitchFamily="34" charset="0"/>
                <a:ea typeface="Pretendard" pitchFamily="34" charset="-122"/>
                <a:cs typeface="Pretendard" pitchFamily="34" charset="-120"/>
              </a:rPr>
              <a:t>규격은 주행 방향의 사람 감지·보호를 요구한다. 후방 감지 없는 로봇이 스스로 물러날 수 없으니 결국 비상정지로 끝난다.</a:t>
            </a:r>
            <a:endParaRPr lang="en-US" sz="1050" dirty="0"/>
          </a:p>
        </p:txBody>
      </p:sp>
      <p:sp>
        <p:nvSpPr>
          <p:cNvPr id="14" name="Shape 12"/>
          <p:cNvSpPr/>
          <p:nvPr/>
        </p:nvSpPr>
        <p:spPr>
          <a:xfrm>
            <a:off x="3477768" y="3840480"/>
            <a:ext cx="2188464" cy="0"/>
          </a:xfrm>
          <a:prstGeom prst="line">
            <a:avLst/>
          </a:prstGeom>
          <a:noFill/>
          <a:ln w="9525">
            <a:solidFill>
              <a:srgbClr val="4D4D4D"/>
            </a:solidFill>
            <a:prstDash val="solid"/>
          </a:ln>
        </p:spPr>
      </p:sp>
      <p:sp>
        <p:nvSpPr>
          <p:cNvPr id="15" name="Text 13"/>
          <p:cNvSpPr txBox="1"/>
          <p:nvPr/>
        </p:nvSpPr>
        <p:spPr>
          <a:xfrm>
            <a:off x="3477768" y="3904488"/>
            <a:ext cx="2188464" cy="274320"/>
          </a:xfrm>
          <a:prstGeom prst="rect">
            <a:avLst/>
          </a:prstGeom>
          <a:noFill/>
          <a:ln/>
        </p:spPr>
        <p:txBody>
          <a:bodyPr wrap="square" lIns="0" tIns="0" rIns="0" bIns="0" rtlCol="0" anchor="ctr"/>
          <a:lstStyle/>
          <a:p>
            <a:pPr indent="0" marL="0">
              <a:buNone/>
            </a:pPr>
            <a:r>
              <a:rPr lang="en-US" sz="650" spc="60" kern="0" dirty="0">
                <a:solidFill>
                  <a:srgbClr val="A8A8A8"/>
                </a:solidFill>
                <a:latin typeface="Cascadia Mono" pitchFamily="34" charset="0"/>
                <a:ea typeface="Cascadia Mono" pitchFamily="34" charset="-122"/>
                <a:cs typeface="Cascadia Mono" pitchFamily="34" charset="-120"/>
              </a:rPr>
              <a:t>ISO 3691-4 · ANSI/ITSDF B56.5 · 주행 방향 보호</a:t>
            </a:r>
            <a:endParaRPr lang="en-US" sz="650" dirty="0"/>
          </a:p>
        </p:txBody>
      </p:sp>
      <p:sp>
        <p:nvSpPr>
          <p:cNvPr id="16" name="Shape 14"/>
          <p:cNvSpPr/>
          <p:nvPr/>
        </p:nvSpPr>
        <p:spPr>
          <a:xfrm>
            <a:off x="6050280" y="1508760"/>
            <a:ext cx="2590800" cy="2788920"/>
          </a:xfrm>
          <a:prstGeom prst="roundRect">
            <a:avLst>
              <a:gd name="adj" fmla="val 2118"/>
            </a:avLst>
          </a:prstGeom>
          <a:solidFill>
            <a:srgbClr val="FFFFFF"/>
          </a:solidFill>
          <a:ln w="9525">
            <a:solidFill>
              <a:srgbClr val="EBEBEB"/>
            </a:solidFill>
            <a:prstDash val="solid"/>
          </a:ln>
        </p:spPr>
      </p:sp>
      <p:sp>
        <p:nvSpPr>
          <p:cNvPr id="17" name="Text 15"/>
          <p:cNvSpPr txBox="1"/>
          <p:nvPr/>
        </p:nvSpPr>
        <p:spPr>
          <a:xfrm>
            <a:off x="6251448" y="1709928"/>
            <a:ext cx="914400" cy="228600"/>
          </a:xfrm>
          <a:prstGeom prst="rect">
            <a:avLst/>
          </a:prstGeom>
          <a:noFill/>
          <a:ln/>
        </p:spPr>
        <p:txBody>
          <a:bodyPr wrap="square" lIns="0" tIns="0" rIns="0" bIns="0" rtlCol="0" anchor="ctr"/>
          <a:lstStyle/>
          <a:p>
            <a:pPr indent="0" marL="0">
              <a:buNone/>
            </a:pPr>
            <a:r>
              <a:rPr lang="en-US" sz="900" spc="120" kern="0" dirty="0">
                <a:solidFill>
                  <a:srgbClr val="666666"/>
                </a:solidFill>
                <a:latin typeface="Cascadia Mono" pitchFamily="34" charset="0"/>
                <a:ea typeface="Cascadia Mono" pitchFamily="34" charset="-122"/>
                <a:cs typeface="Cascadia Mono" pitchFamily="34" charset="-120"/>
              </a:rPr>
              <a:t>03</a:t>
            </a:r>
            <a:endParaRPr lang="en-US" sz="900" dirty="0"/>
          </a:p>
        </p:txBody>
      </p:sp>
      <p:sp>
        <p:nvSpPr>
          <p:cNvPr id="18" name="Text 16"/>
          <p:cNvSpPr txBox="1"/>
          <p:nvPr/>
        </p:nvSpPr>
        <p:spPr>
          <a:xfrm>
            <a:off x="6251448" y="2011680"/>
            <a:ext cx="2188464" cy="411480"/>
          </a:xfrm>
          <a:prstGeom prst="rect">
            <a:avLst/>
          </a:prstGeom>
          <a:noFill/>
          <a:ln/>
        </p:spPr>
        <p:txBody>
          <a:bodyPr wrap="square" lIns="0" tIns="0" rIns="0" bIns="0" rtlCol="0" anchor="ctr"/>
          <a:lstStyle/>
          <a:p>
            <a:pPr indent="0" marL="0">
              <a:buNone/>
            </a:pPr>
            <a:r>
              <a:rPr lang="en-US" sz="1800" spc="-60" kern="0" dirty="0">
                <a:solidFill>
                  <a:srgbClr val="171717"/>
                </a:solidFill>
                <a:latin typeface="Pretendard" pitchFamily="34" charset="0"/>
                <a:ea typeface="Pretendard" pitchFamily="34" charset="-122"/>
                <a:cs typeface="Pretendard" pitchFamily="34" charset="-120"/>
              </a:rPr>
              <a:t>물리적 출동</a:t>
            </a:r>
            <a:endParaRPr lang="en-US" sz="1800" dirty="0"/>
          </a:p>
        </p:txBody>
      </p:sp>
      <p:sp>
        <p:nvSpPr>
          <p:cNvPr id="19" name="Text 17"/>
          <p:cNvSpPr txBox="1"/>
          <p:nvPr/>
        </p:nvSpPr>
        <p:spPr>
          <a:xfrm>
            <a:off x="6251448" y="2560320"/>
            <a:ext cx="2188464" cy="1234440"/>
          </a:xfrm>
          <a:prstGeom prst="rect">
            <a:avLst/>
          </a:prstGeom>
          <a:noFill/>
          <a:ln/>
        </p:spPr>
        <p:txBody>
          <a:bodyPr wrap="square" lIns="0" tIns="0" rIns="0" bIns="0" rtlCol="0" anchor="t"/>
          <a:lstStyle/>
          <a:p>
            <a:pPr indent="0" marL="0">
              <a:lnSpc>
                <a:spcPct val="120000"/>
              </a:lnSpc>
              <a:buNone/>
            </a:pPr>
            <a:r>
              <a:rPr lang="en-US" sz="1050" dirty="0">
                <a:solidFill>
                  <a:srgbClr val="4D4D4D"/>
                </a:solidFill>
                <a:latin typeface="Pretendard" pitchFamily="34" charset="0"/>
                <a:ea typeface="Pretendard" pitchFamily="34" charset="-122"/>
                <a:cs typeface="Pretendard" pitchFamily="34" charset="-120"/>
              </a:rPr>
              <a:t>정지된 AGV는 관리자가 현장까지 가서 확인·조작해야 풀린다. 그동안 같은 통로와 라인이 멈춘다.</a:t>
            </a:r>
            <a:endParaRPr lang="en-US" sz="1050" dirty="0"/>
          </a:p>
        </p:txBody>
      </p:sp>
      <p:sp>
        <p:nvSpPr>
          <p:cNvPr id="20" name="Shape 18"/>
          <p:cNvSpPr/>
          <p:nvPr/>
        </p:nvSpPr>
        <p:spPr>
          <a:xfrm>
            <a:off x="6251448" y="3840480"/>
            <a:ext cx="2188464" cy="0"/>
          </a:xfrm>
          <a:prstGeom prst="line">
            <a:avLst/>
          </a:prstGeom>
          <a:noFill/>
          <a:ln w="9525">
            <a:solidFill>
              <a:srgbClr val="EBEBEB"/>
            </a:solidFill>
            <a:prstDash val="solid"/>
          </a:ln>
        </p:spPr>
      </p:sp>
      <p:sp>
        <p:nvSpPr>
          <p:cNvPr id="21" name="Text 19"/>
          <p:cNvSpPr txBox="1"/>
          <p:nvPr/>
        </p:nvSpPr>
        <p:spPr>
          <a:xfrm>
            <a:off x="6251448" y="3904488"/>
            <a:ext cx="2188464" cy="274320"/>
          </a:xfrm>
          <a:prstGeom prst="rect">
            <a:avLst/>
          </a:prstGeom>
          <a:noFill/>
          <a:ln/>
        </p:spPr>
        <p:txBody>
          <a:bodyPr wrap="square" lIns="0" tIns="0" rIns="0" bIns="0" rtlCol="0" anchor="ctr"/>
          <a:lstStyle/>
          <a:p>
            <a:pPr indent="0" marL="0">
              <a:buNone/>
            </a:pPr>
            <a:r>
              <a:rPr lang="en-US" sz="650" spc="60" kern="0" dirty="0">
                <a:solidFill>
                  <a:srgbClr val="666666"/>
                </a:solidFill>
                <a:latin typeface="Cascadia Mono" pitchFamily="34" charset="0"/>
                <a:ea typeface="Cascadia Mono" pitchFamily="34" charset="-122"/>
                <a:cs typeface="Cascadia Mono" pitchFamily="34" charset="-120"/>
              </a:rPr>
              <a:t>SIEMENS · TRUE COST OF DOWNTIME 2024</a:t>
            </a:r>
            <a:endParaRPr lang="en-US" sz="650" dirty="0"/>
          </a:p>
        </p:txBody>
      </p:sp>
      <p:sp>
        <p:nvSpPr>
          <p:cNvPr id="22" name="Text 20"/>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000000"/>
                </a:solidFill>
                <a:latin typeface="Pretendard" pitchFamily="34" charset="0"/>
                <a:ea typeface="Pretendard" pitchFamily="34" charset="-122"/>
                <a:cs typeface="Pretendard" pitchFamily="34" charset="-120"/>
              </a:rPr>
              <a:t>▲</a:t>
            </a:r>
            <a:endParaRPr lang="en-US" sz="900" dirty="0"/>
          </a:p>
        </p:txBody>
      </p:sp>
      <p:sp>
        <p:nvSpPr>
          <p:cNvPr id="23" name="Text 21"/>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666666"/>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24" name="Text 22"/>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666666"/>
                </a:solidFill>
                <a:latin typeface="Cascadia Mono" pitchFamily="34" charset="0"/>
                <a:ea typeface="Cascadia Mono" pitchFamily="34" charset="-122"/>
                <a:cs typeface="Cascadia Mono" pitchFamily="34" charset="-120"/>
              </a:rPr>
              <a:t>03 / 10</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201168"/>
          </a:xfrm>
          <a:prstGeom prst="rect">
            <a:avLst/>
          </a:prstGeom>
          <a:noFill/>
          <a:ln/>
        </p:spPr>
        <p:txBody>
          <a:bodyPr wrap="square" lIns="0" tIns="0" rIns="0" bIns="0" rtlCol="0" anchor="ctr"/>
          <a:lstStyle/>
          <a:p>
            <a:pPr indent="0" marL="0">
              <a:buNone/>
            </a:pPr>
            <a:r>
              <a:rPr lang="en-US" sz="850" spc="120" kern="0" dirty="0">
                <a:solidFill>
                  <a:srgbClr val="171717"/>
                </a:solidFill>
                <a:latin typeface="Cascadia Mono" pitchFamily="34" charset="0"/>
                <a:ea typeface="Cascadia Mono" pitchFamily="34" charset="-122"/>
                <a:cs typeface="Cascadia Mono" pitchFamily="34" charset="-120"/>
              </a:rPr>
              <a:t>03 — SOLUTION</a:t>
            </a:r>
            <a:endParaRPr lang="en-US" sz="850" dirty="0"/>
          </a:p>
        </p:txBody>
      </p:sp>
      <p:sp>
        <p:nvSpPr>
          <p:cNvPr id="3" name="Text 1"/>
          <p:cNvSpPr txBox="1"/>
          <p:nvPr/>
        </p:nvSpPr>
        <p:spPr>
          <a:xfrm>
            <a:off x="502920" y="713232"/>
            <a:ext cx="8138160" cy="566928"/>
          </a:xfrm>
          <a:prstGeom prst="rect">
            <a:avLst/>
          </a:prstGeom>
          <a:noFill/>
          <a:ln/>
        </p:spPr>
        <p:txBody>
          <a:bodyPr wrap="square" lIns="0" tIns="0" rIns="0" bIns="0" rtlCol="0" anchor="ctr"/>
          <a:lstStyle/>
          <a:p>
            <a:pPr indent="0" marL="0">
              <a:buNone/>
            </a:pPr>
            <a:r>
              <a:rPr lang="en-US" sz="2800" spc="-100" kern="0" dirty="0">
                <a:solidFill>
                  <a:srgbClr val="171717"/>
                </a:solidFill>
                <a:latin typeface="Pretendard" pitchFamily="34" charset="0"/>
                <a:ea typeface="Pretendard" pitchFamily="34" charset="-122"/>
                <a:cs typeface="Pretendard" pitchFamily="34" charset="-120"/>
              </a:rPr>
              <a:t>정지 우선, 그리고 VR 원격 개입</a:t>
            </a:r>
            <a:endParaRPr lang="en-US" sz="2800" dirty="0"/>
          </a:p>
        </p:txBody>
      </p:sp>
      <p:sp>
        <p:nvSpPr>
          <p:cNvPr id="4" name="Shape 2"/>
          <p:cNvSpPr/>
          <p:nvPr/>
        </p:nvSpPr>
        <p:spPr>
          <a:xfrm>
            <a:off x="502920" y="1463040"/>
            <a:ext cx="960120" cy="237744"/>
          </a:xfrm>
          <a:prstGeom prst="roundRect">
            <a:avLst>
              <a:gd name="adj" fmla="val 50000"/>
            </a:avLst>
          </a:prstGeom>
          <a:solidFill>
            <a:srgbClr val="FFFFFF"/>
          </a:solidFill>
          <a:ln w="9525">
            <a:solidFill>
              <a:srgbClr val="EBEBEB"/>
            </a:solidFill>
            <a:prstDash val="solid"/>
          </a:ln>
        </p:spPr>
      </p:sp>
      <p:sp>
        <p:nvSpPr>
          <p:cNvPr id="5" name="Text 3"/>
          <p:cNvSpPr txBox="1"/>
          <p:nvPr/>
        </p:nvSpPr>
        <p:spPr>
          <a:xfrm>
            <a:off x="502920" y="1463040"/>
            <a:ext cx="960120" cy="237744"/>
          </a:xfrm>
          <a:prstGeom prst="rect">
            <a:avLst/>
          </a:prstGeom>
          <a:noFill/>
          <a:ln/>
        </p:spPr>
        <p:txBody>
          <a:bodyPr wrap="square" lIns="0" tIns="0" rIns="0" bIns="0" rtlCol="0" anchor="ctr"/>
          <a:lstStyle/>
          <a:p>
            <a:pPr algn="ctr" indent="0" marL="0">
              <a:buNone/>
            </a:pPr>
            <a:r>
              <a:rPr lang="en-US" sz="750" spc="100" kern="0" dirty="0">
                <a:solidFill>
                  <a:srgbClr val="171717"/>
                </a:solidFill>
                <a:latin typeface="Cascadia Mono" pitchFamily="34" charset="0"/>
                <a:ea typeface="Cascadia Mono" pitchFamily="34" charset="-122"/>
                <a:cs typeface="Cascadia Mono" pitchFamily="34" charset="-120"/>
              </a:rPr>
              <a:t>STOP</a:t>
            </a:r>
            <a:endParaRPr lang="en-US" sz="750" dirty="0"/>
          </a:p>
        </p:txBody>
      </p:sp>
      <p:sp>
        <p:nvSpPr>
          <p:cNvPr id="6" name="Text 4"/>
          <p:cNvSpPr txBox="1"/>
          <p:nvPr/>
        </p:nvSpPr>
        <p:spPr>
          <a:xfrm>
            <a:off x="1645920" y="1426464"/>
            <a:ext cx="3017520" cy="274320"/>
          </a:xfrm>
          <a:prstGeom prst="rect">
            <a:avLst/>
          </a:prstGeom>
          <a:noFill/>
          <a:ln/>
        </p:spPr>
        <p:txBody>
          <a:bodyPr wrap="square" lIns="0" tIns="0" rIns="0" bIns="0" rtlCol="0" anchor="ctr"/>
          <a:lstStyle/>
          <a:p>
            <a:pPr indent="0" marL="0">
              <a:buNone/>
            </a:pPr>
            <a:r>
              <a:rPr lang="en-US" sz="1400" dirty="0">
                <a:solidFill>
                  <a:srgbClr val="171717"/>
                </a:solidFill>
                <a:latin typeface="Pretendard" pitchFamily="34" charset="0"/>
                <a:ea typeface="Pretendard" pitchFamily="34" charset="-122"/>
                <a:cs typeface="Pretendard" pitchFamily="34" charset="-120"/>
              </a:rPr>
              <a:t>위험하면 즉시 멈춘다</a:t>
            </a:r>
            <a:endParaRPr lang="en-US" sz="1400" dirty="0"/>
          </a:p>
        </p:txBody>
      </p:sp>
      <p:sp>
        <p:nvSpPr>
          <p:cNvPr id="7" name="Text 5"/>
          <p:cNvSpPr txBox="1"/>
          <p:nvPr/>
        </p:nvSpPr>
        <p:spPr>
          <a:xfrm>
            <a:off x="1645920" y="1737360"/>
            <a:ext cx="3017520" cy="457200"/>
          </a:xfrm>
          <a:prstGeom prst="rect">
            <a:avLst/>
          </a:prstGeom>
          <a:noFill/>
          <a:ln/>
        </p:spPr>
        <p:txBody>
          <a:bodyPr wrap="square" lIns="0" tIns="0" rIns="0" bIns="0" rtlCol="0" anchor="t"/>
          <a:lstStyle/>
          <a:p>
            <a:pPr indent="0" marL="0">
              <a:lnSpc>
                <a:spcPct val="120000"/>
              </a:lnSpc>
              <a:buNone/>
            </a:pPr>
            <a:r>
              <a:rPr lang="en-US" sz="1000" dirty="0">
                <a:solidFill>
                  <a:srgbClr val="4D4D4D"/>
                </a:solidFill>
                <a:latin typeface="Pretendard" pitchFamily="34" charset="0"/>
                <a:ea typeface="Pretendard" pitchFamily="34" charset="-122"/>
                <a:cs typeface="Pretendard" pitchFamily="34" charset="-120"/>
              </a:rPr>
              <a:t>전방 0.35m · AGV 간 1.0m → 속도 즉시 0. 자동 후진 없음.</a:t>
            </a:r>
            <a:endParaRPr lang="en-US" sz="1000" dirty="0"/>
          </a:p>
        </p:txBody>
      </p:sp>
      <p:sp>
        <p:nvSpPr>
          <p:cNvPr id="8" name="Shape 6"/>
          <p:cNvSpPr/>
          <p:nvPr/>
        </p:nvSpPr>
        <p:spPr>
          <a:xfrm>
            <a:off x="502920" y="2331720"/>
            <a:ext cx="960120" cy="237744"/>
          </a:xfrm>
          <a:prstGeom prst="roundRect">
            <a:avLst>
              <a:gd name="adj" fmla="val 50000"/>
            </a:avLst>
          </a:prstGeom>
          <a:solidFill>
            <a:srgbClr val="FFFFFF"/>
          </a:solidFill>
          <a:ln w="9525">
            <a:solidFill>
              <a:srgbClr val="EBEBEB"/>
            </a:solidFill>
            <a:prstDash val="solid"/>
          </a:ln>
        </p:spPr>
      </p:sp>
      <p:sp>
        <p:nvSpPr>
          <p:cNvPr id="9" name="Text 7"/>
          <p:cNvSpPr txBox="1"/>
          <p:nvPr/>
        </p:nvSpPr>
        <p:spPr>
          <a:xfrm>
            <a:off x="502920" y="2331720"/>
            <a:ext cx="960120" cy="237744"/>
          </a:xfrm>
          <a:prstGeom prst="rect">
            <a:avLst/>
          </a:prstGeom>
          <a:noFill/>
          <a:ln/>
        </p:spPr>
        <p:txBody>
          <a:bodyPr wrap="square" lIns="0" tIns="0" rIns="0" bIns="0" rtlCol="0" anchor="ctr"/>
          <a:lstStyle/>
          <a:p>
            <a:pPr algn="ctr" indent="0" marL="0">
              <a:buNone/>
            </a:pPr>
            <a:r>
              <a:rPr lang="en-US" sz="750" spc="100" kern="0" dirty="0">
                <a:solidFill>
                  <a:srgbClr val="171717"/>
                </a:solidFill>
                <a:latin typeface="Cascadia Mono" pitchFamily="34" charset="0"/>
                <a:ea typeface="Cascadia Mono" pitchFamily="34" charset="-122"/>
                <a:cs typeface="Cascadia Mono" pitchFamily="34" charset="-120"/>
              </a:rPr>
              <a:t>NOTIFY</a:t>
            </a:r>
            <a:endParaRPr lang="en-US" sz="750" dirty="0"/>
          </a:p>
        </p:txBody>
      </p:sp>
      <p:sp>
        <p:nvSpPr>
          <p:cNvPr id="10" name="Text 8"/>
          <p:cNvSpPr txBox="1"/>
          <p:nvPr/>
        </p:nvSpPr>
        <p:spPr>
          <a:xfrm>
            <a:off x="1645920" y="2295144"/>
            <a:ext cx="3017520" cy="274320"/>
          </a:xfrm>
          <a:prstGeom prst="rect">
            <a:avLst/>
          </a:prstGeom>
          <a:noFill/>
          <a:ln/>
        </p:spPr>
        <p:txBody>
          <a:bodyPr wrap="square" lIns="0" tIns="0" rIns="0" bIns="0" rtlCol="0" anchor="ctr"/>
          <a:lstStyle/>
          <a:p>
            <a:pPr indent="0" marL="0">
              <a:buNone/>
            </a:pPr>
            <a:r>
              <a:rPr lang="en-US" sz="1400" dirty="0">
                <a:solidFill>
                  <a:srgbClr val="171717"/>
                </a:solidFill>
                <a:latin typeface="Pretendard" pitchFamily="34" charset="0"/>
                <a:ea typeface="Pretendard" pitchFamily="34" charset="-122"/>
                <a:cs typeface="Pretendard" pitchFamily="34" charset="-120"/>
              </a:rPr>
              <a:t>원인과 탈출 경로를 그린다</a:t>
            </a:r>
            <a:endParaRPr lang="en-US" sz="1400" dirty="0"/>
          </a:p>
        </p:txBody>
      </p:sp>
      <p:sp>
        <p:nvSpPr>
          <p:cNvPr id="11" name="Text 9"/>
          <p:cNvSpPr txBox="1"/>
          <p:nvPr/>
        </p:nvSpPr>
        <p:spPr>
          <a:xfrm>
            <a:off x="1645920" y="2606040"/>
            <a:ext cx="3017520" cy="457200"/>
          </a:xfrm>
          <a:prstGeom prst="rect">
            <a:avLst/>
          </a:prstGeom>
          <a:noFill/>
          <a:ln/>
        </p:spPr>
        <p:txBody>
          <a:bodyPr wrap="square" lIns="0" tIns="0" rIns="0" bIns="0" rtlCol="0" anchor="t"/>
          <a:lstStyle/>
          <a:p>
            <a:pPr indent="0" marL="0">
              <a:lnSpc>
                <a:spcPct val="120000"/>
              </a:lnSpc>
              <a:buNone/>
            </a:pPr>
            <a:r>
              <a:rPr lang="en-US" sz="1000" dirty="0">
                <a:solidFill>
                  <a:srgbClr val="4D4D4D"/>
                </a:solidFill>
                <a:latin typeface="Pretendard" pitchFamily="34" charset="0"/>
                <a:ea typeface="Pretendard" pitchFamily="34" charset="-122"/>
                <a:cs typeface="Pretendard" pitchFamily="34" charset="-120"/>
              </a:rPr>
              <a:t>정지 원인 + LiDAR 360° 탈출 경로를 영상 바닥에 투영.</a:t>
            </a:r>
            <a:endParaRPr lang="en-US" sz="1000" dirty="0"/>
          </a:p>
        </p:txBody>
      </p:sp>
      <p:sp>
        <p:nvSpPr>
          <p:cNvPr id="12" name="Shape 10"/>
          <p:cNvSpPr/>
          <p:nvPr/>
        </p:nvSpPr>
        <p:spPr>
          <a:xfrm>
            <a:off x="502920" y="3200400"/>
            <a:ext cx="960120" cy="237744"/>
          </a:xfrm>
          <a:prstGeom prst="roundRect">
            <a:avLst>
              <a:gd name="adj" fmla="val 50000"/>
            </a:avLst>
          </a:prstGeom>
          <a:solidFill>
            <a:srgbClr val="171717"/>
          </a:solidFill>
          <a:ln w="9525">
            <a:solidFill>
              <a:srgbClr val="171717"/>
            </a:solidFill>
            <a:prstDash val="solid"/>
          </a:ln>
        </p:spPr>
      </p:sp>
      <p:sp>
        <p:nvSpPr>
          <p:cNvPr id="13" name="Text 11"/>
          <p:cNvSpPr txBox="1"/>
          <p:nvPr/>
        </p:nvSpPr>
        <p:spPr>
          <a:xfrm>
            <a:off x="502920" y="3200400"/>
            <a:ext cx="960120" cy="237744"/>
          </a:xfrm>
          <a:prstGeom prst="rect">
            <a:avLst/>
          </a:prstGeom>
          <a:noFill/>
          <a:ln/>
        </p:spPr>
        <p:txBody>
          <a:bodyPr wrap="square" lIns="0" tIns="0" rIns="0" bIns="0" rtlCol="0" anchor="ctr"/>
          <a:lstStyle/>
          <a:p>
            <a:pPr algn="ctr" indent="0" marL="0">
              <a:buNone/>
            </a:pPr>
            <a:r>
              <a:rPr lang="en-US" sz="750" spc="100" kern="0" dirty="0">
                <a:solidFill>
                  <a:srgbClr val="FFFFFF"/>
                </a:solidFill>
                <a:latin typeface="Cascadia Mono" pitchFamily="34" charset="0"/>
                <a:ea typeface="Cascadia Mono" pitchFamily="34" charset="-122"/>
                <a:cs typeface="Cascadia Mono" pitchFamily="34" charset="-120"/>
              </a:rPr>
              <a:t>TAKE OVER</a:t>
            </a:r>
            <a:endParaRPr lang="en-US" sz="750" dirty="0"/>
          </a:p>
        </p:txBody>
      </p:sp>
      <p:sp>
        <p:nvSpPr>
          <p:cNvPr id="14" name="Text 12"/>
          <p:cNvSpPr txBox="1"/>
          <p:nvPr/>
        </p:nvSpPr>
        <p:spPr>
          <a:xfrm>
            <a:off x="1645920" y="3163824"/>
            <a:ext cx="3017520" cy="274320"/>
          </a:xfrm>
          <a:prstGeom prst="rect">
            <a:avLst/>
          </a:prstGeom>
          <a:noFill/>
          <a:ln/>
        </p:spPr>
        <p:txBody>
          <a:bodyPr wrap="square" lIns="0" tIns="0" rIns="0" bIns="0" rtlCol="0" anchor="ctr"/>
          <a:lstStyle/>
          <a:p>
            <a:pPr indent="0" marL="0">
              <a:buNone/>
            </a:pPr>
            <a:r>
              <a:rPr lang="en-US" sz="1400" dirty="0">
                <a:solidFill>
                  <a:srgbClr val="171717"/>
                </a:solidFill>
                <a:latin typeface="Pretendard" pitchFamily="34" charset="0"/>
                <a:ea typeface="Pretendard" pitchFamily="34" charset="-122"/>
                <a:cs typeface="Pretendard" pitchFamily="34" charset="-120"/>
              </a:rPr>
              <a:t>사람이 VR로 즉각 빼낸다</a:t>
            </a:r>
            <a:endParaRPr lang="en-US" sz="1400" dirty="0"/>
          </a:p>
        </p:txBody>
      </p:sp>
      <p:sp>
        <p:nvSpPr>
          <p:cNvPr id="15" name="Text 13"/>
          <p:cNvSpPr txBox="1"/>
          <p:nvPr/>
        </p:nvSpPr>
        <p:spPr>
          <a:xfrm>
            <a:off x="1645920" y="3474720"/>
            <a:ext cx="3017520" cy="457200"/>
          </a:xfrm>
          <a:prstGeom prst="rect">
            <a:avLst/>
          </a:prstGeom>
          <a:noFill/>
          <a:ln/>
        </p:spPr>
        <p:txBody>
          <a:bodyPr wrap="square" lIns="0" tIns="0" rIns="0" bIns="0" rtlCol="0" anchor="t"/>
          <a:lstStyle/>
          <a:p>
            <a:pPr indent="0" marL="0">
              <a:lnSpc>
                <a:spcPct val="120000"/>
              </a:lnSpc>
              <a:buNone/>
            </a:pPr>
            <a:r>
              <a:rPr lang="en-US" sz="1000" dirty="0">
                <a:solidFill>
                  <a:srgbClr val="4D4D4D"/>
                </a:solidFill>
                <a:latin typeface="Pretendard" pitchFamily="34" charset="0"/>
                <a:ea typeface="Pretendard" pitchFamily="34" charset="-122"/>
                <a:cs typeface="Pretendard" pitchFamily="34" charset="-120"/>
              </a:rPr>
              <a:t>관제 맵 클릭 → VR 콕핏 텔레포트 → 그립 데드맨 조종.</a:t>
            </a:r>
            <a:endParaRPr lang="en-US" sz="1000" dirty="0"/>
          </a:p>
        </p:txBody>
      </p:sp>
      <p:sp>
        <p:nvSpPr>
          <p:cNvPr id="16" name="Shape 14"/>
          <p:cNvSpPr/>
          <p:nvPr/>
        </p:nvSpPr>
        <p:spPr>
          <a:xfrm>
            <a:off x="4800600" y="1417320"/>
            <a:ext cx="3840480" cy="1280160"/>
          </a:xfrm>
          <a:prstGeom prst="roundRect">
            <a:avLst>
              <a:gd name="adj" fmla="val 4286"/>
            </a:avLst>
          </a:prstGeom>
          <a:solidFill>
            <a:srgbClr val="FFFFFF"/>
          </a:solidFill>
          <a:ln w="9525">
            <a:solidFill>
              <a:srgbClr val="EBEBEB"/>
            </a:solidFill>
            <a:prstDash val="solid"/>
          </a:ln>
        </p:spPr>
      </p:sp>
      <p:sp>
        <p:nvSpPr>
          <p:cNvPr id="17" name="Text 15"/>
          <p:cNvSpPr txBox="1"/>
          <p:nvPr/>
        </p:nvSpPr>
        <p:spPr>
          <a:xfrm>
            <a:off x="4983480" y="1536192"/>
            <a:ext cx="3474720" cy="201168"/>
          </a:xfrm>
          <a:prstGeom prst="rect">
            <a:avLst/>
          </a:prstGeom>
          <a:noFill/>
          <a:ln/>
        </p:spPr>
        <p:txBody>
          <a:bodyPr wrap="square" lIns="0" tIns="0" rIns="0" bIns="0" rtlCol="0" anchor="ctr"/>
          <a:lstStyle/>
          <a:p>
            <a:pPr indent="0" marL="0">
              <a:buNone/>
            </a:pPr>
            <a:r>
              <a:rPr lang="en-US" sz="750" spc="100" kern="0" dirty="0">
                <a:solidFill>
                  <a:srgbClr val="666666"/>
                </a:solidFill>
                <a:latin typeface="Cascadia Mono" pitchFamily="34" charset="0"/>
                <a:ea typeface="Cascadia Mono" pitchFamily="34" charset="-122"/>
                <a:cs typeface="Cascadia Mono" pitchFamily="34" charset="-120"/>
              </a:rPr>
              <a:t>CONVENTIONAL AGV · 기존 대응 방식</a:t>
            </a:r>
            <a:endParaRPr lang="en-US" sz="750" dirty="0"/>
          </a:p>
        </p:txBody>
      </p:sp>
      <p:sp>
        <p:nvSpPr>
          <p:cNvPr id="18" name="Text 16"/>
          <p:cNvSpPr txBox="1"/>
          <p:nvPr/>
        </p:nvSpPr>
        <p:spPr>
          <a:xfrm>
            <a:off x="4983480" y="1783080"/>
            <a:ext cx="3474720" cy="777240"/>
          </a:xfrm>
          <a:prstGeom prst="rect">
            <a:avLst/>
          </a:prstGeom>
          <a:noFill/>
          <a:ln/>
        </p:spPr>
        <p:txBody>
          <a:bodyPr wrap="square" lIns="0" tIns="0" rIns="0" bIns="0" rtlCol="0" anchor="t"/>
          <a:lstStyle/>
          <a:p>
            <a:pPr indent="0" marL="0">
              <a:lnSpc>
                <a:spcPct val="120000"/>
              </a:lnSpc>
              <a:buNone/>
            </a:pPr>
            <a:r>
              <a:rPr lang="en-US" sz="950" dirty="0">
                <a:solidFill>
                  <a:srgbClr val="4D4D4D"/>
                </a:solidFill>
                <a:latin typeface="Pretendard" pitchFamily="34" charset="0"/>
                <a:ea typeface="Pretendard" pitchFamily="34" charset="-122"/>
                <a:cs typeface="Pretendard" pitchFamily="34" charset="-120"/>
              </a:rPr>
              <a:t>• 위험 감지: 단순 E-STOP 급정지 (통로 마비)</a:t>
            </a:r>
            <a:endParaRPr lang="en-US" sz="950" dirty="0"/>
          </a:p>
          <a:p>
            <a:pPr indent="0" marL="0">
              <a:lnSpc>
                <a:spcPct val="120000"/>
              </a:lnSpc>
              <a:buNone/>
            </a:pPr>
            <a:r>
              <a:rPr lang="en-US" sz="950" dirty="0">
                <a:solidFill>
                  <a:srgbClr val="4D4D4D"/>
                </a:solidFill>
                <a:latin typeface="Pretendard" pitchFamily="34" charset="0"/>
                <a:ea typeface="Pretendard" pitchFamily="34" charset="-122"/>
                <a:cs typeface="Pretendard" pitchFamily="34" charset="-120"/>
              </a:rPr>
              <a:t>• 복구 방식: 관리자 현장 출동 (도착까지 통로 정체)</a:t>
            </a:r>
            <a:endParaRPr lang="en-US" sz="950" dirty="0"/>
          </a:p>
          <a:p>
            <a:pPr indent="0" marL="0">
              <a:lnSpc>
                <a:spcPct val="120000"/>
              </a:lnSpc>
              <a:buNone/>
            </a:pPr>
            <a:r>
              <a:rPr lang="en-US" sz="950" dirty="0">
                <a:solidFill>
                  <a:srgbClr val="4D4D4D"/>
                </a:solidFill>
                <a:latin typeface="Pretendard" pitchFamily="34" charset="0"/>
                <a:ea typeface="Pretendard" pitchFamily="34" charset="-122"/>
                <a:cs typeface="Pretendard" pitchFamily="34" charset="-120"/>
              </a:rPr>
              <a:t>• 2차 위험: 사각지대 맹목적 후진 시 보행자 2차 협착 발생</a:t>
            </a:r>
            <a:endParaRPr lang="en-US" sz="950" dirty="0"/>
          </a:p>
        </p:txBody>
      </p:sp>
      <p:sp>
        <p:nvSpPr>
          <p:cNvPr id="19" name="Shape 17"/>
          <p:cNvSpPr/>
          <p:nvPr/>
        </p:nvSpPr>
        <p:spPr>
          <a:xfrm>
            <a:off x="4800600" y="2816352"/>
            <a:ext cx="3840480" cy="1389888"/>
          </a:xfrm>
          <a:prstGeom prst="roundRect">
            <a:avLst>
              <a:gd name="adj" fmla="val 3947"/>
            </a:avLst>
          </a:prstGeom>
          <a:solidFill>
            <a:srgbClr val="FFFFFF"/>
          </a:solidFill>
          <a:ln w="15240">
            <a:solidFill>
              <a:srgbClr val="297A3A"/>
            </a:solidFill>
            <a:prstDash val="solid"/>
          </a:ln>
        </p:spPr>
      </p:sp>
      <p:sp>
        <p:nvSpPr>
          <p:cNvPr id="20" name="Text 18"/>
          <p:cNvSpPr txBox="1"/>
          <p:nvPr/>
        </p:nvSpPr>
        <p:spPr>
          <a:xfrm>
            <a:off x="4983480" y="2944368"/>
            <a:ext cx="3474720" cy="201168"/>
          </a:xfrm>
          <a:prstGeom prst="rect">
            <a:avLst/>
          </a:prstGeom>
          <a:noFill/>
          <a:ln/>
        </p:spPr>
        <p:txBody>
          <a:bodyPr wrap="square" lIns="0" tIns="0" rIns="0" bIns="0" rtlCol="0" anchor="ctr"/>
          <a:lstStyle/>
          <a:p>
            <a:pPr indent="0" marL="0">
              <a:buNone/>
            </a:pPr>
            <a:r>
              <a:rPr lang="en-US" sz="750" spc="100" kern="0" dirty="0">
                <a:solidFill>
                  <a:srgbClr val="297A3A"/>
                </a:solidFill>
                <a:latin typeface="Cascadia Mono" pitchFamily="34" charset="0"/>
                <a:ea typeface="Cascadia Mono" pitchFamily="34" charset="-122"/>
                <a:cs typeface="Cascadia Mono" pitchFamily="34" charset="-120"/>
              </a:rPr>
              <a:t>PHYSICAL AI SOLUTION · 본 제안 솔루션</a:t>
            </a:r>
            <a:endParaRPr lang="en-US" sz="750" dirty="0"/>
          </a:p>
        </p:txBody>
      </p:sp>
      <p:sp>
        <p:nvSpPr>
          <p:cNvPr id="21" name="Text 19"/>
          <p:cNvSpPr txBox="1"/>
          <p:nvPr/>
        </p:nvSpPr>
        <p:spPr>
          <a:xfrm>
            <a:off x="4983480" y="3182112"/>
            <a:ext cx="3474720" cy="914400"/>
          </a:xfrm>
          <a:prstGeom prst="rect">
            <a:avLst/>
          </a:prstGeom>
          <a:noFill/>
          <a:ln/>
        </p:spPr>
        <p:txBody>
          <a:bodyPr wrap="square" lIns="0" tIns="0" rIns="0" bIns="0" rtlCol="0" anchor="t"/>
          <a:lstStyle/>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 안전 게이트: 전방 0.35m · AGV 간 1.0m 전진 지령 차단 (릴레이)</a:t>
            </a:r>
            <a:endParaRPr lang="en-US" sz="950" dirty="0"/>
          </a:p>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 시각적 안내: LiDAR 탈출 방향·선회 경로를 FPV 영상 바닥에 투영</a:t>
            </a:r>
            <a:endParaRPr lang="en-US" sz="950" dirty="0"/>
          </a:p>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 원격 개입: 관제 클릭 → 그 로봇 콕핏 즉시 전환 (그 로봇만 MANUAL)</a:t>
            </a:r>
            <a:endParaRPr lang="en-US" sz="950" dirty="0"/>
          </a:p>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 복귀: 후진·회전 수동 탈출 → Y/R로 AUTO 재개 (자동 재개 없음)</a:t>
            </a:r>
            <a:endParaRPr lang="en-US" sz="950" dirty="0"/>
          </a:p>
        </p:txBody>
      </p:sp>
      <p:sp>
        <p:nvSpPr>
          <p:cNvPr id="22" name="Text 20"/>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000000"/>
                </a:solidFill>
                <a:latin typeface="Pretendard" pitchFamily="34" charset="0"/>
                <a:ea typeface="Pretendard" pitchFamily="34" charset="-122"/>
                <a:cs typeface="Pretendard" pitchFamily="34" charset="-120"/>
              </a:rPr>
              <a:t>▲</a:t>
            </a:r>
            <a:endParaRPr lang="en-US" sz="900" dirty="0"/>
          </a:p>
        </p:txBody>
      </p:sp>
      <p:sp>
        <p:nvSpPr>
          <p:cNvPr id="23" name="Text 21"/>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666666"/>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24" name="Text 22"/>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666666"/>
                </a:solidFill>
                <a:latin typeface="Cascadia Mono" pitchFamily="34" charset="0"/>
                <a:ea typeface="Cascadia Mono" pitchFamily="34" charset="-122"/>
                <a:cs typeface="Cascadia Mono" pitchFamily="34" charset="-120"/>
              </a:rPr>
              <a:t>04 / 10</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201168"/>
          </a:xfrm>
          <a:prstGeom prst="rect">
            <a:avLst/>
          </a:prstGeom>
          <a:noFill/>
          <a:ln/>
        </p:spPr>
        <p:txBody>
          <a:bodyPr wrap="square" lIns="0" tIns="0" rIns="0" bIns="0" rtlCol="0" anchor="ctr"/>
          <a:lstStyle/>
          <a:p>
            <a:pPr indent="0" marL="0">
              <a:buNone/>
            </a:pPr>
            <a:r>
              <a:rPr lang="en-US" sz="850" spc="120" kern="0" dirty="0">
                <a:solidFill>
                  <a:srgbClr val="171717"/>
                </a:solidFill>
                <a:latin typeface="Cascadia Mono" pitchFamily="34" charset="0"/>
                <a:ea typeface="Cascadia Mono" pitchFamily="34" charset="-122"/>
                <a:cs typeface="Cascadia Mono" pitchFamily="34" charset="-120"/>
              </a:rPr>
              <a:t>04 — ARCHITECTURE</a:t>
            </a:r>
            <a:endParaRPr lang="en-US" sz="850" dirty="0"/>
          </a:p>
        </p:txBody>
      </p:sp>
      <p:sp>
        <p:nvSpPr>
          <p:cNvPr id="3" name="Text 1"/>
          <p:cNvSpPr txBox="1"/>
          <p:nvPr/>
        </p:nvSpPr>
        <p:spPr>
          <a:xfrm>
            <a:off x="502920" y="713232"/>
            <a:ext cx="8138160" cy="566928"/>
          </a:xfrm>
          <a:prstGeom prst="rect">
            <a:avLst/>
          </a:prstGeom>
          <a:noFill/>
          <a:ln/>
        </p:spPr>
        <p:txBody>
          <a:bodyPr wrap="square" lIns="0" tIns="0" rIns="0" bIns="0" rtlCol="0" anchor="ctr"/>
          <a:lstStyle/>
          <a:p>
            <a:pPr indent="0" marL="0">
              <a:buNone/>
            </a:pPr>
            <a:r>
              <a:rPr lang="en-US" sz="2800" spc="-100" kern="0" dirty="0">
                <a:solidFill>
                  <a:srgbClr val="171717"/>
                </a:solidFill>
                <a:latin typeface="Pretendard" pitchFamily="34" charset="0"/>
                <a:ea typeface="Pretendard" pitchFamily="34" charset="-122"/>
                <a:cs typeface="Pretendard" pitchFamily="34" charset="-120"/>
              </a:rPr>
              <a:t>로봇 두 대, 릴레이 하나, 화면 둘</a:t>
            </a:r>
            <a:endParaRPr lang="en-US" sz="2800" dirty="0"/>
          </a:p>
        </p:txBody>
      </p:sp>
      <p:sp>
        <p:nvSpPr>
          <p:cNvPr id="4" name="Shape 2"/>
          <p:cNvSpPr/>
          <p:nvPr/>
        </p:nvSpPr>
        <p:spPr>
          <a:xfrm>
            <a:off x="502920" y="1417320"/>
            <a:ext cx="5522976" cy="2737926"/>
          </a:xfrm>
          <a:prstGeom prst="roundRect">
            <a:avLst>
              <a:gd name="adj" fmla="val 2004"/>
            </a:avLst>
          </a:prstGeom>
          <a:solidFill>
            <a:srgbClr val="FFFFFF"/>
          </a:solidFill>
          <a:ln w="9525">
            <a:solidFill>
              <a:srgbClr val="EBEBEB"/>
            </a:solidFill>
            <a:prstDash val="solid"/>
          </a:ln>
        </p:spPr>
      </p:sp>
      <p:pic>
        <p:nvPicPr>
          <p:cNvPr id="5" name="Image 0" descr="시스템 아키텍처">    </p:cNvPr>
          <p:cNvPicPr>
            <a:picLocks noChangeAspect="1"/>
          </p:cNvPicPr>
          <p:nvPr/>
        </p:nvPicPr>
        <p:blipFill>
          <a:blip r:embed="rId1"/>
          <a:stretch>
            <a:fillRect/>
          </a:stretch>
        </p:blipFill>
        <p:spPr>
          <a:xfrm>
            <a:off x="612648" y="1527048"/>
            <a:ext cx="5303520" cy="2518470"/>
          </a:xfrm>
          <a:prstGeom prst="rect">
            <a:avLst/>
          </a:prstGeom>
        </p:spPr>
      </p:pic>
      <p:sp>
        <p:nvSpPr>
          <p:cNvPr id="6" name="Shape 3"/>
          <p:cNvSpPr/>
          <p:nvPr/>
        </p:nvSpPr>
        <p:spPr>
          <a:xfrm>
            <a:off x="6263640" y="1417320"/>
            <a:ext cx="2377440" cy="841248"/>
          </a:xfrm>
          <a:prstGeom prst="roundRect">
            <a:avLst>
              <a:gd name="adj" fmla="val 6522"/>
            </a:avLst>
          </a:prstGeom>
          <a:solidFill>
            <a:srgbClr val="FFFFFF"/>
          </a:solidFill>
          <a:ln w="9525">
            <a:solidFill>
              <a:srgbClr val="EBEBEB"/>
            </a:solidFill>
            <a:prstDash val="solid"/>
          </a:ln>
        </p:spPr>
      </p:sp>
      <p:sp>
        <p:nvSpPr>
          <p:cNvPr id="7" name="Text 4"/>
          <p:cNvSpPr txBox="1"/>
          <p:nvPr/>
        </p:nvSpPr>
        <p:spPr>
          <a:xfrm>
            <a:off x="6400800" y="1527048"/>
            <a:ext cx="2103120" cy="182880"/>
          </a:xfrm>
          <a:prstGeom prst="rect">
            <a:avLst/>
          </a:prstGeom>
          <a:noFill/>
          <a:ln/>
        </p:spPr>
        <p:txBody>
          <a:bodyPr wrap="square" lIns="0" tIns="0" rIns="0" bIns="0" rtlCol="0" anchor="ctr"/>
          <a:lstStyle/>
          <a:p>
            <a:pPr indent="0" marL="0">
              <a:buNone/>
            </a:pPr>
            <a:r>
              <a:rPr lang="en-US" sz="750" spc="100" kern="0" dirty="0">
                <a:solidFill>
                  <a:srgbClr val="297A3A"/>
                </a:solidFill>
                <a:latin typeface="Cascadia Mono" pitchFamily="34" charset="0"/>
                <a:ea typeface="Cascadia Mono" pitchFamily="34" charset="-122"/>
                <a:cs typeface="Cascadia Mono" pitchFamily="34" charset="-120"/>
              </a:rPr>
              <a:t>TIER 1 · PHYSICAL FIELD</a:t>
            </a:r>
            <a:endParaRPr lang="en-US" sz="750" dirty="0"/>
          </a:p>
        </p:txBody>
      </p:sp>
      <p:sp>
        <p:nvSpPr>
          <p:cNvPr id="8" name="Text 5"/>
          <p:cNvSpPr txBox="1"/>
          <p:nvPr/>
        </p:nvSpPr>
        <p:spPr>
          <a:xfrm>
            <a:off x="6400800" y="1737360"/>
            <a:ext cx="2148840" cy="457200"/>
          </a:xfrm>
          <a:prstGeom prst="rect">
            <a:avLst/>
          </a:prstGeom>
          <a:noFill/>
          <a:ln/>
        </p:spPr>
        <p:txBody>
          <a:bodyPr wrap="square" lIns="0" tIns="0" rIns="0" bIns="0" rtlCol="0" anchor="t"/>
          <a:lstStyle/>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TurtleBot3 × 2 (ROS 1 · ROS 2)</a:t>
            </a:r>
            <a:endParaRPr lang="en-US" sz="950" dirty="0"/>
          </a:p>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LDS-02 LiDAR · Pi Camera 15.7 fps</a:t>
            </a:r>
            <a:endParaRPr lang="en-US" sz="950" dirty="0"/>
          </a:p>
        </p:txBody>
      </p:sp>
      <p:sp>
        <p:nvSpPr>
          <p:cNvPr id="9" name="Shape 6"/>
          <p:cNvSpPr/>
          <p:nvPr/>
        </p:nvSpPr>
        <p:spPr>
          <a:xfrm>
            <a:off x="6263640" y="2350008"/>
            <a:ext cx="2377440" cy="841248"/>
          </a:xfrm>
          <a:prstGeom prst="roundRect">
            <a:avLst>
              <a:gd name="adj" fmla="val 6522"/>
            </a:avLst>
          </a:prstGeom>
          <a:solidFill>
            <a:srgbClr val="FFFFFF"/>
          </a:solidFill>
          <a:ln w="9525">
            <a:solidFill>
              <a:srgbClr val="EBEBEB"/>
            </a:solidFill>
            <a:prstDash val="solid"/>
          </a:ln>
        </p:spPr>
      </p:sp>
      <p:sp>
        <p:nvSpPr>
          <p:cNvPr id="10" name="Text 7"/>
          <p:cNvSpPr txBox="1"/>
          <p:nvPr/>
        </p:nvSpPr>
        <p:spPr>
          <a:xfrm>
            <a:off x="6400800" y="2459736"/>
            <a:ext cx="2103120" cy="182880"/>
          </a:xfrm>
          <a:prstGeom prst="rect">
            <a:avLst/>
          </a:prstGeom>
          <a:noFill/>
          <a:ln/>
        </p:spPr>
        <p:txBody>
          <a:bodyPr wrap="square" lIns="0" tIns="0" rIns="0" bIns="0" rtlCol="0" anchor="ctr"/>
          <a:lstStyle/>
          <a:p>
            <a:pPr indent="0" marL="0">
              <a:buNone/>
            </a:pPr>
            <a:r>
              <a:rPr lang="en-US" sz="750" spc="100" kern="0" dirty="0">
                <a:solidFill>
                  <a:srgbClr val="297A3A"/>
                </a:solidFill>
                <a:latin typeface="Cascadia Mono" pitchFamily="34" charset="0"/>
                <a:ea typeface="Cascadia Mono" pitchFamily="34" charset="-122"/>
                <a:cs typeface="Cascadia Mono" pitchFamily="34" charset="-120"/>
              </a:rPr>
              <a:t>TIER 2 · AI RELAY AGENT</a:t>
            </a:r>
            <a:endParaRPr lang="en-US" sz="750" dirty="0"/>
          </a:p>
        </p:txBody>
      </p:sp>
      <p:sp>
        <p:nvSpPr>
          <p:cNvPr id="11" name="Text 8"/>
          <p:cNvSpPr txBox="1"/>
          <p:nvPr/>
        </p:nvSpPr>
        <p:spPr>
          <a:xfrm>
            <a:off x="6400800" y="2670048"/>
            <a:ext cx="2148840" cy="457200"/>
          </a:xfrm>
          <a:prstGeom prst="rect">
            <a:avLst/>
          </a:prstGeom>
          <a:noFill/>
          <a:ln/>
        </p:spPr>
        <p:txBody>
          <a:bodyPr wrap="square" lIns="0" tIns="0" rIns="0" bIns="0" rtlCol="0" anchor="t"/>
          <a:lstStyle/>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Python asyncio · 20 Hz rosbridge</a:t>
            </a:r>
            <a:endParaRPr lang="en-US" sz="950" dirty="0"/>
          </a:p>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LiDAR 기하 추론 · 안전 게이트</a:t>
            </a:r>
            <a:endParaRPr lang="en-US" sz="950" dirty="0"/>
          </a:p>
        </p:txBody>
      </p:sp>
      <p:sp>
        <p:nvSpPr>
          <p:cNvPr id="12" name="Shape 9"/>
          <p:cNvSpPr/>
          <p:nvPr/>
        </p:nvSpPr>
        <p:spPr>
          <a:xfrm>
            <a:off x="6263640" y="3282696"/>
            <a:ext cx="2377440" cy="841248"/>
          </a:xfrm>
          <a:prstGeom prst="roundRect">
            <a:avLst>
              <a:gd name="adj" fmla="val 6522"/>
            </a:avLst>
          </a:prstGeom>
          <a:solidFill>
            <a:srgbClr val="FFFFFF"/>
          </a:solidFill>
          <a:ln w="9525">
            <a:solidFill>
              <a:srgbClr val="EBEBEB"/>
            </a:solidFill>
            <a:prstDash val="solid"/>
          </a:ln>
        </p:spPr>
      </p:sp>
      <p:sp>
        <p:nvSpPr>
          <p:cNvPr id="13" name="Text 10"/>
          <p:cNvSpPr txBox="1"/>
          <p:nvPr/>
        </p:nvSpPr>
        <p:spPr>
          <a:xfrm>
            <a:off x="6400800" y="3392424"/>
            <a:ext cx="2103120" cy="182880"/>
          </a:xfrm>
          <a:prstGeom prst="rect">
            <a:avLst/>
          </a:prstGeom>
          <a:noFill/>
          <a:ln/>
        </p:spPr>
        <p:txBody>
          <a:bodyPr wrap="square" lIns="0" tIns="0" rIns="0" bIns="0" rtlCol="0" anchor="ctr"/>
          <a:lstStyle/>
          <a:p>
            <a:pPr indent="0" marL="0">
              <a:buNone/>
            </a:pPr>
            <a:r>
              <a:rPr lang="en-US" sz="750" spc="100" kern="0" dirty="0">
                <a:solidFill>
                  <a:srgbClr val="297A3A"/>
                </a:solidFill>
                <a:latin typeface="Cascadia Mono" pitchFamily="34" charset="0"/>
                <a:ea typeface="Cascadia Mono" pitchFamily="34" charset="-122"/>
                <a:cs typeface="Cascadia Mono" pitchFamily="34" charset="-120"/>
              </a:rPr>
              <a:t>TIER 3 · DIGITAL TWIN &amp; VR</a:t>
            </a:r>
            <a:endParaRPr lang="en-US" sz="750" dirty="0"/>
          </a:p>
        </p:txBody>
      </p:sp>
      <p:sp>
        <p:nvSpPr>
          <p:cNvPr id="14" name="Text 11"/>
          <p:cNvSpPr txBox="1"/>
          <p:nvPr/>
        </p:nvSpPr>
        <p:spPr>
          <a:xfrm>
            <a:off x="6400800" y="3602736"/>
            <a:ext cx="2148840" cy="457200"/>
          </a:xfrm>
          <a:prstGeom prst="rect">
            <a:avLst/>
          </a:prstGeom>
          <a:noFill/>
          <a:ln/>
        </p:spPr>
        <p:txBody>
          <a:bodyPr wrap="square" lIns="0" tIns="0" rIns="0" bIns="0" rtlCol="0" anchor="t"/>
          <a:lstStyle/>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Unity 6 + OpenXR (PC·HMD 분리)</a:t>
            </a:r>
            <a:endParaRPr lang="en-US" sz="950" dirty="0"/>
          </a:p>
          <a:p>
            <a:pPr indent="0" marL="0">
              <a:lnSpc>
                <a:spcPct val="120000"/>
              </a:lnSpc>
              <a:buNone/>
            </a:pPr>
            <a:r>
              <a:rPr lang="en-US" sz="950" dirty="0">
                <a:solidFill>
                  <a:srgbClr val="171717"/>
                </a:solidFill>
                <a:latin typeface="Pretendard" pitchFamily="34" charset="0"/>
                <a:ea typeface="Pretendard" pitchFamily="34" charset="-122"/>
                <a:cs typeface="Pretendard" pitchFamily="34" charset="-120"/>
              </a:rPr>
              <a:t>PC 관제 맵 · Quest 2 콕핏</a:t>
            </a:r>
            <a:endParaRPr lang="en-US" sz="950" dirty="0"/>
          </a:p>
        </p:txBody>
      </p:sp>
      <p:sp>
        <p:nvSpPr>
          <p:cNvPr id="15" name="Text 12"/>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000000"/>
                </a:solidFill>
                <a:latin typeface="Pretendard" pitchFamily="34" charset="0"/>
                <a:ea typeface="Pretendard" pitchFamily="34" charset="-122"/>
                <a:cs typeface="Pretendard" pitchFamily="34" charset="-120"/>
              </a:rPr>
              <a:t>▲</a:t>
            </a:r>
            <a:endParaRPr lang="en-US" sz="900" dirty="0"/>
          </a:p>
        </p:txBody>
      </p:sp>
      <p:sp>
        <p:nvSpPr>
          <p:cNvPr id="16" name="Text 13"/>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666666"/>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17" name="Text 14"/>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666666"/>
                </a:solidFill>
                <a:latin typeface="Cascadia Mono" pitchFamily="34" charset="0"/>
                <a:ea typeface="Cascadia Mono" pitchFamily="34" charset="-122"/>
                <a:cs typeface="Cascadia Mono" pitchFamily="34" charset="-120"/>
              </a:rPr>
              <a:t>05 / 10</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201168"/>
          </a:xfrm>
          <a:prstGeom prst="rect">
            <a:avLst/>
          </a:prstGeom>
          <a:noFill/>
          <a:ln/>
        </p:spPr>
        <p:txBody>
          <a:bodyPr wrap="square" lIns="0" tIns="0" rIns="0" bIns="0" rtlCol="0" anchor="ctr"/>
          <a:lstStyle/>
          <a:p>
            <a:pPr indent="0" marL="0">
              <a:buNone/>
            </a:pPr>
            <a:r>
              <a:rPr lang="en-US" sz="850" spc="120" kern="0" dirty="0">
                <a:solidFill>
                  <a:srgbClr val="171717"/>
                </a:solidFill>
                <a:latin typeface="Cascadia Mono" pitchFamily="34" charset="0"/>
                <a:ea typeface="Cascadia Mono" pitchFamily="34" charset="-122"/>
                <a:cs typeface="Cascadia Mono" pitchFamily="34" charset="-120"/>
              </a:rPr>
              <a:t>05 — AI AGENT</a:t>
            </a:r>
            <a:endParaRPr lang="en-US" sz="850" dirty="0"/>
          </a:p>
        </p:txBody>
      </p:sp>
      <p:sp>
        <p:nvSpPr>
          <p:cNvPr id="3" name="Text 1"/>
          <p:cNvSpPr txBox="1"/>
          <p:nvPr/>
        </p:nvSpPr>
        <p:spPr>
          <a:xfrm>
            <a:off x="502920" y="713232"/>
            <a:ext cx="8138160" cy="566928"/>
          </a:xfrm>
          <a:prstGeom prst="rect">
            <a:avLst/>
          </a:prstGeom>
          <a:noFill/>
          <a:ln/>
        </p:spPr>
        <p:txBody>
          <a:bodyPr wrap="square" lIns="0" tIns="0" rIns="0" bIns="0" rtlCol="0" anchor="ctr"/>
          <a:lstStyle/>
          <a:p>
            <a:pPr indent="0" marL="0">
              <a:buNone/>
            </a:pPr>
            <a:r>
              <a:rPr lang="en-US" sz="2800" spc="-100" kern="0" dirty="0">
                <a:solidFill>
                  <a:srgbClr val="171717"/>
                </a:solidFill>
                <a:latin typeface="Pretendard" pitchFamily="34" charset="0"/>
                <a:ea typeface="Pretendard" pitchFamily="34" charset="-122"/>
                <a:cs typeface="Pretendard" pitchFamily="34" charset="-120"/>
              </a:rPr>
              <a:t>AI Agent 6요소</a:t>
            </a:r>
            <a:endParaRPr lang="en-US" sz="2800" dirty="0"/>
          </a:p>
        </p:txBody>
      </p:sp>
      <p:sp>
        <p:nvSpPr>
          <p:cNvPr id="4" name="Shape 2"/>
          <p:cNvSpPr/>
          <p:nvPr/>
        </p:nvSpPr>
        <p:spPr>
          <a:xfrm>
            <a:off x="502920" y="1463040"/>
            <a:ext cx="2590800" cy="1234440"/>
          </a:xfrm>
          <a:prstGeom prst="roundRect">
            <a:avLst>
              <a:gd name="adj" fmla="val 4444"/>
            </a:avLst>
          </a:prstGeom>
          <a:solidFill>
            <a:srgbClr val="171717"/>
          </a:solidFill>
          <a:ln w="9525">
            <a:solidFill>
              <a:srgbClr val="171717"/>
            </a:solidFill>
            <a:prstDash val="solid"/>
          </a:ln>
        </p:spPr>
      </p:sp>
      <p:sp>
        <p:nvSpPr>
          <p:cNvPr id="5" name="Text 3"/>
          <p:cNvSpPr txBox="1"/>
          <p:nvPr/>
        </p:nvSpPr>
        <p:spPr>
          <a:xfrm>
            <a:off x="685800" y="1627632"/>
            <a:ext cx="2225040" cy="182880"/>
          </a:xfrm>
          <a:prstGeom prst="rect">
            <a:avLst/>
          </a:prstGeom>
          <a:noFill/>
          <a:ln/>
        </p:spPr>
        <p:txBody>
          <a:bodyPr wrap="square" lIns="0" tIns="0" rIns="0" bIns="0" rtlCol="0" anchor="ctr"/>
          <a:lstStyle/>
          <a:p>
            <a:pPr indent="0" marL="0">
              <a:buNone/>
            </a:pPr>
            <a:r>
              <a:rPr lang="en-US" sz="800" spc="120" kern="0" dirty="0">
                <a:solidFill>
                  <a:srgbClr val="A8A8A8"/>
                </a:solidFill>
                <a:latin typeface="Cascadia Mono" pitchFamily="34" charset="0"/>
                <a:ea typeface="Cascadia Mono" pitchFamily="34" charset="-122"/>
                <a:cs typeface="Cascadia Mono" pitchFamily="34" charset="-120"/>
              </a:rPr>
              <a:t>GOAL</a:t>
            </a:r>
            <a:endParaRPr lang="en-US" sz="800" dirty="0"/>
          </a:p>
        </p:txBody>
      </p:sp>
      <p:sp>
        <p:nvSpPr>
          <p:cNvPr id="6" name="Text 4"/>
          <p:cNvSpPr txBox="1"/>
          <p:nvPr/>
        </p:nvSpPr>
        <p:spPr>
          <a:xfrm>
            <a:off x="685800" y="1901952"/>
            <a:ext cx="2225040" cy="685800"/>
          </a:xfrm>
          <a:prstGeom prst="rect">
            <a:avLst/>
          </a:prstGeom>
          <a:noFill/>
          <a:ln/>
        </p:spPr>
        <p:txBody>
          <a:bodyPr wrap="square" lIns="0" tIns="0" rIns="0" bIns="0" rtlCol="0" anchor="t"/>
          <a:lstStyle/>
          <a:p>
            <a:pPr indent="0" marL="0">
              <a:lnSpc>
                <a:spcPct val="120000"/>
              </a:lnSpc>
              <a:buNone/>
            </a:pPr>
            <a:r>
              <a:rPr lang="en-US" sz="1100" dirty="0">
                <a:solidFill>
                  <a:srgbClr val="FFFFFF"/>
                </a:solidFill>
                <a:latin typeface="Pretendard" pitchFamily="34" charset="0"/>
                <a:ea typeface="Pretendard" pitchFamily="34" charset="-122"/>
                <a:cs typeface="Pretendard" pitchFamily="34" charset="-120"/>
              </a:rPr>
              <a:t>AGV 2대 협착·충돌 0건, 봉착 시 무사고 탈출</a:t>
            </a:r>
            <a:endParaRPr lang="en-US" sz="1100" dirty="0"/>
          </a:p>
        </p:txBody>
      </p:sp>
      <p:sp>
        <p:nvSpPr>
          <p:cNvPr id="7" name="Shape 5"/>
          <p:cNvSpPr/>
          <p:nvPr/>
        </p:nvSpPr>
        <p:spPr>
          <a:xfrm>
            <a:off x="3276600" y="1463040"/>
            <a:ext cx="2590800" cy="1234440"/>
          </a:xfrm>
          <a:prstGeom prst="roundRect">
            <a:avLst>
              <a:gd name="adj" fmla="val 4444"/>
            </a:avLst>
          </a:prstGeom>
          <a:solidFill>
            <a:srgbClr val="FFFFFF"/>
          </a:solidFill>
          <a:ln w="9525">
            <a:solidFill>
              <a:srgbClr val="EBEBEB"/>
            </a:solidFill>
            <a:prstDash val="solid"/>
          </a:ln>
        </p:spPr>
      </p:sp>
      <p:sp>
        <p:nvSpPr>
          <p:cNvPr id="8" name="Text 6"/>
          <p:cNvSpPr txBox="1"/>
          <p:nvPr/>
        </p:nvSpPr>
        <p:spPr>
          <a:xfrm>
            <a:off x="3459480" y="1627632"/>
            <a:ext cx="2225040" cy="182880"/>
          </a:xfrm>
          <a:prstGeom prst="rect">
            <a:avLst/>
          </a:prstGeom>
          <a:noFill/>
          <a:ln/>
        </p:spPr>
        <p:txBody>
          <a:bodyPr wrap="square" lIns="0" tIns="0" rIns="0" bIns="0" rtlCol="0" anchor="ctr"/>
          <a:lstStyle/>
          <a:p>
            <a:pPr indent="0" marL="0">
              <a:buNone/>
            </a:pPr>
            <a:r>
              <a:rPr lang="en-US" sz="800" spc="120" kern="0" dirty="0">
                <a:solidFill>
                  <a:srgbClr val="297A3A"/>
                </a:solidFill>
                <a:latin typeface="Cascadia Mono" pitchFamily="34" charset="0"/>
                <a:ea typeface="Cascadia Mono" pitchFamily="34" charset="-122"/>
                <a:cs typeface="Cascadia Mono" pitchFamily="34" charset="-120"/>
              </a:rPr>
              <a:t>PLANNING</a:t>
            </a:r>
            <a:endParaRPr lang="en-US" sz="800" dirty="0"/>
          </a:p>
        </p:txBody>
      </p:sp>
      <p:sp>
        <p:nvSpPr>
          <p:cNvPr id="9" name="Text 7"/>
          <p:cNvSpPr txBox="1"/>
          <p:nvPr/>
        </p:nvSpPr>
        <p:spPr>
          <a:xfrm>
            <a:off x="3459480" y="1901952"/>
            <a:ext cx="2225040" cy="685800"/>
          </a:xfrm>
          <a:prstGeom prst="rect">
            <a:avLst/>
          </a:prstGeom>
          <a:noFill/>
          <a:ln/>
        </p:spPr>
        <p:txBody>
          <a:bodyPr wrap="square" lIns="0" tIns="0" rIns="0" bIns="0" rtlCol="0" anchor="t"/>
          <a:lstStyle/>
          <a:p>
            <a:pPr indent="0" marL="0">
              <a:lnSpc>
                <a:spcPct val="120000"/>
              </a:lnSpc>
              <a:buNone/>
            </a:pPr>
            <a:r>
              <a:rPr lang="en-US" sz="1100" dirty="0">
                <a:solidFill>
                  <a:srgbClr val="171717"/>
                </a:solidFill>
                <a:latin typeface="Pretendard" pitchFamily="34" charset="0"/>
                <a:ea typeface="Pretendard" pitchFamily="34" charset="-122"/>
                <a:cs typeface="Pretendard" pitchFamily="34" charset="-120"/>
              </a:rPr>
              <a:t>순찰 → 위험 감지 → 인터록 정지 → 탈출 경로 → 수동 개입 → 재개</a:t>
            </a:r>
            <a:endParaRPr lang="en-US" sz="1100" dirty="0"/>
          </a:p>
        </p:txBody>
      </p:sp>
      <p:sp>
        <p:nvSpPr>
          <p:cNvPr id="10" name="Shape 8"/>
          <p:cNvSpPr/>
          <p:nvPr/>
        </p:nvSpPr>
        <p:spPr>
          <a:xfrm>
            <a:off x="6050280" y="1463040"/>
            <a:ext cx="2590800" cy="1234440"/>
          </a:xfrm>
          <a:prstGeom prst="roundRect">
            <a:avLst>
              <a:gd name="adj" fmla="val 4444"/>
            </a:avLst>
          </a:prstGeom>
          <a:solidFill>
            <a:srgbClr val="FFFFFF"/>
          </a:solidFill>
          <a:ln w="9525">
            <a:solidFill>
              <a:srgbClr val="EBEBEB"/>
            </a:solidFill>
            <a:prstDash val="solid"/>
          </a:ln>
        </p:spPr>
      </p:sp>
      <p:sp>
        <p:nvSpPr>
          <p:cNvPr id="11" name="Text 9"/>
          <p:cNvSpPr txBox="1"/>
          <p:nvPr/>
        </p:nvSpPr>
        <p:spPr>
          <a:xfrm>
            <a:off x="6233160" y="1627632"/>
            <a:ext cx="2225040" cy="182880"/>
          </a:xfrm>
          <a:prstGeom prst="rect">
            <a:avLst/>
          </a:prstGeom>
          <a:noFill/>
          <a:ln/>
        </p:spPr>
        <p:txBody>
          <a:bodyPr wrap="square" lIns="0" tIns="0" rIns="0" bIns="0" rtlCol="0" anchor="ctr"/>
          <a:lstStyle/>
          <a:p>
            <a:pPr indent="0" marL="0">
              <a:buNone/>
            </a:pPr>
            <a:r>
              <a:rPr lang="en-US" sz="800" spc="120" kern="0" dirty="0">
                <a:solidFill>
                  <a:srgbClr val="297A3A"/>
                </a:solidFill>
                <a:latin typeface="Cascadia Mono" pitchFamily="34" charset="0"/>
                <a:ea typeface="Cascadia Mono" pitchFamily="34" charset="-122"/>
                <a:cs typeface="Cascadia Mono" pitchFamily="34" charset="-120"/>
              </a:rPr>
              <a:t>REASONING</a:t>
            </a:r>
            <a:endParaRPr lang="en-US" sz="800" dirty="0"/>
          </a:p>
        </p:txBody>
      </p:sp>
      <p:sp>
        <p:nvSpPr>
          <p:cNvPr id="12" name="Text 10"/>
          <p:cNvSpPr txBox="1"/>
          <p:nvPr/>
        </p:nvSpPr>
        <p:spPr>
          <a:xfrm>
            <a:off x="6233160" y="1901952"/>
            <a:ext cx="2225040" cy="685800"/>
          </a:xfrm>
          <a:prstGeom prst="rect">
            <a:avLst/>
          </a:prstGeom>
          <a:noFill/>
          <a:ln/>
        </p:spPr>
        <p:txBody>
          <a:bodyPr wrap="square" lIns="0" tIns="0" rIns="0" bIns="0" rtlCol="0" anchor="t"/>
          <a:lstStyle/>
          <a:p>
            <a:pPr indent="0" marL="0">
              <a:lnSpc>
                <a:spcPct val="120000"/>
              </a:lnSpc>
              <a:buNone/>
            </a:pPr>
            <a:r>
              <a:rPr lang="en-US" sz="1100" dirty="0">
                <a:solidFill>
                  <a:srgbClr val="171717"/>
                </a:solidFill>
                <a:latin typeface="Pretendard" pitchFamily="34" charset="0"/>
                <a:ea typeface="Pretendard" pitchFamily="34" charset="-122"/>
                <a:cs typeface="Pretendard" pitchFamily="34" charset="-120"/>
              </a:rPr>
              <a:t>360° LiDAR 섹터 거리 · 로봇 폭 회랑 · 곡률 원호 · AGV 간 거리</a:t>
            </a:r>
            <a:endParaRPr lang="en-US" sz="1100" dirty="0"/>
          </a:p>
        </p:txBody>
      </p:sp>
      <p:sp>
        <p:nvSpPr>
          <p:cNvPr id="13" name="Shape 11"/>
          <p:cNvSpPr/>
          <p:nvPr/>
        </p:nvSpPr>
        <p:spPr>
          <a:xfrm>
            <a:off x="502920" y="2880360"/>
            <a:ext cx="2590800" cy="1234440"/>
          </a:xfrm>
          <a:prstGeom prst="roundRect">
            <a:avLst>
              <a:gd name="adj" fmla="val 4444"/>
            </a:avLst>
          </a:prstGeom>
          <a:solidFill>
            <a:srgbClr val="FFFFFF"/>
          </a:solidFill>
          <a:ln w="9525">
            <a:solidFill>
              <a:srgbClr val="EBEBEB"/>
            </a:solidFill>
            <a:prstDash val="solid"/>
          </a:ln>
        </p:spPr>
      </p:sp>
      <p:sp>
        <p:nvSpPr>
          <p:cNvPr id="14" name="Text 12"/>
          <p:cNvSpPr txBox="1"/>
          <p:nvPr/>
        </p:nvSpPr>
        <p:spPr>
          <a:xfrm>
            <a:off x="685800" y="3044952"/>
            <a:ext cx="2225040" cy="182880"/>
          </a:xfrm>
          <a:prstGeom prst="rect">
            <a:avLst/>
          </a:prstGeom>
          <a:noFill/>
          <a:ln/>
        </p:spPr>
        <p:txBody>
          <a:bodyPr wrap="square" lIns="0" tIns="0" rIns="0" bIns="0" rtlCol="0" anchor="ctr"/>
          <a:lstStyle/>
          <a:p>
            <a:pPr indent="0" marL="0">
              <a:buNone/>
            </a:pPr>
            <a:r>
              <a:rPr lang="en-US" sz="800" spc="120" kern="0" dirty="0">
                <a:solidFill>
                  <a:srgbClr val="297A3A"/>
                </a:solidFill>
                <a:latin typeface="Cascadia Mono" pitchFamily="34" charset="0"/>
                <a:ea typeface="Cascadia Mono" pitchFamily="34" charset="-122"/>
                <a:cs typeface="Cascadia Mono" pitchFamily="34" charset="-120"/>
              </a:rPr>
              <a:t>TOOL USE</a:t>
            </a:r>
            <a:endParaRPr lang="en-US" sz="800" dirty="0"/>
          </a:p>
        </p:txBody>
      </p:sp>
      <p:sp>
        <p:nvSpPr>
          <p:cNvPr id="15" name="Text 13"/>
          <p:cNvSpPr txBox="1"/>
          <p:nvPr/>
        </p:nvSpPr>
        <p:spPr>
          <a:xfrm>
            <a:off x="685800" y="3319272"/>
            <a:ext cx="2225040" cy="685800"/>
          </a:xfrm>
          <a:prstGeom prst="rect">
            <a:avLst/>
          </a:prstGeom>
          <a:noFill/>
          <a:ln/>
        </p:spPr>
        <p:txBody>
          <a:bodyPr wrap="square" lIns="0" tIns="0" rIns="0" bIns="0" rtlCol="0" anchor="t"/>
          <a:lstStyle/>
          <a:p>
            <a:pPr indent="0" marL="0">
              <a:lnSpc>
                <a:spcPct val="120000"/>
              </a:lnSpc>
              <a:buNone/>
            </a:pPr>
            <a:r>
              <a:rPr lang="en-US" sz="1100" dirty="0">
                <a:solidFill>
                  <a:srgbClr val="171717"/>
                </a:solidFill>
                <a:latin typeface="Pretendard" pitchFamily="34" charset="0"/>
                <a:ea typeface="Pretendard" pitchFamily="34" charset="-122"/>
                <a:cs typeface="Pretendard" pitchFamily="34" charset="-120"/>
              </a:rPr>
              <a:t>ROS /cmd_vel · /odom · /scan, ustreamer, WebSocket, Unity</a:t>
            </a:r>
            <a:endParaRPr lang="en-US" sz="1100" dirty="0"/>
          </a:p>
        </p:txBody>
      </p:sp>
      <p:sp>
        <p:nvSpPr>
          <p:cNvPr id="16" name="Shape 14"/>
          <p:cNvSpPr/>
          <p:nvPr/>
        </p:nvSpPr>
        <p:spPr>
          <a:xfrm>
            <a:off x="3276600" y="2880360"/>
            <a:ext cx="2590800" cy="1234440"/>
          </a:xfrm>
          <a:prstGeom prst="roundRect">
            <a:avLst>
              <a:gd name="adj" fmla="val 4444"/>
            </a:avLst>
          </a:prstGeom>
          <a:solidFill>
            <a:srgbClr val="FFFFFF"/>
          </a:solidFill>
          <a:ln w="9525">
            <a:solidFill>
              <a:srgbClr val="EBEBEB"/>
            </a:solidFill>
            <a:prstDash val="solid"/>
          </a:ln>
        </p:spPr>
      </p:sp>
      <p:sp>
        <p:nvSpPr>
          <p:cNvPr id="17" name="Text 15"/>
          <p:cNvSpPr txBox="1"/>
          <p:nvPr/>
        </p:nvSpPr>
        <p:spPr>
          <a:xfrm>
            <a:off x="3459480" y="3044952"/>
            <a:ext cx="2225040" cy="182880"/>
          </a:xfrm>
          <a:prstGeom prst="rect">
            <a:avLst/>
          </a:prstGeom>
          <a:noFill/>
          <a:ln/>
        </p:spPr>
        <p:txBody>
          <a:bodyPr wrap="square" lIns="0" tIns="0" rIns="0" bIns="0" rtlCol="0" anchor="ctr"/>
          <a:lstStyle/>
          <a:p>
            <a:pPr indent="0" marL="0">
              <a:buNone/>
            </a:pPr>
            <a:r>
              <a:rPr lang="en-US" sz="800" spc="120" kern="0" dirty="0">
                <a:solidFill>
                  <a:srgbClr val="297A3A"/>
                </a:solidFill>
                <a:latin typeface="Cascadia Mono" pitchFamily="34" charset="0"/>
                <a:ea typeface="Cascadia Mono" pitchFamily="34" charset="-122"/>
                <a:cs typeface="Cascadia Mono" pitchFamily="34" charset="-120"/>
              </a:rPr>
              <a:t>MEMORY</a:t>
            </a:r>
            <a:endParaRPr lang="en-US" sz="800" dirty="0"/>
          </a:p>
        </p:txBody>
      </p:sp>
      <p:sp>
        <p:nvSpPr>
          <p:cNvPr id="18" name="Text 16"/>
          <p:cNvSpPr txBox="1"/>
          <p:nvPr/>
        </p:nvSpPr>
        <p:spPr>
          <a:xfrm>
            <a:off x="3459480" y="3319272"/>
            <a:ext cx="2225040" cy="685800"/>
          </a:xfrm>
          <a:prstGeom prst="rect">
            <a:avLst/>
          </a:prstGeom>
          <a:noFill/>
          <a:ln/>
        </p:spPr>
        <p:txBody>
          <a:bodyPr wrap="square" lIns="0" tIns="0" rIns="0" bIns="0" rtlCol="0" anchor="t"/>
          <a:lstStyle/>
          <a:p>
            <a:pPr indent="0" marL="0">
              <a:lnSpc>
                <a:spcPct val="120000"/>
              </a:lnSpc>
              <a:buNone/>
            </a:pPr>
            <a:r>
              <a:rPr lang="en-US" sz="1100" dirty="0">
                <a:solidFill>
                  <a:srgbClr val="171717"/>
                </a:solidFill>
                <a:latin typeface="Pretendard" pitchFamily="34" charset="0"/>
                <a:ea typeface="Pretendard" pitchFamily="34" charset="-122"/>
                <a:cs typeface="Pretendard" pitchFamily="34" charset="-120"/>
              </a:rPr>
              <a:t>로봇별 AUTO/MANUAL, 정지 원인, 배회·위치 원점, 운행 이력</a:t>
            </a:r>
            <a:endParaRPr lang="en-US" sz="1100" dirty="0"/>
          </a:p>
        </p:txBody>
      </p:sp>
      <p:sp>
        <p:nvSpPr>
          <p:cNvPr id="19" name="Shape 17"/>
          <p:cNvSpPr/>
          <p:nvPr/>
        </p:nvSpPr>
        <p:spPr>
          <a:xfrm>
            <a:off x="6050280" y="2880360"/>
            <a:ext cx="2590800" cy="1234440"/>
          </a:xfrm>
          <a:prstGeom prst="roundRect">
            <a:avLst>
              <a:gd name="adj" fmla="val 4444"/>
            </a:avLst>
          </a:prstGeom>
          <a:solidFill>
            <a:srgbClr val="FFFFFF"/>
          </a:solidFill>
          <a:ln w="9525">
            <a:solidFill>
              <a:srgbClr val="EBEBEB"/>
            </a:solidFill>
            <a:prstDash val="solid"/>
          </a:ln>
        </p:spPr>
      </p:sp>
      <p:sp>
        <p:nvSpPr>
          <p:cNvPr id="20" name="Text 18"/>
          <p:cNvSpPr txBox="1"/>
          <p:nvPr/>
        </p:nvSpPr>
        <p:spPr>
          <a:xfrm>
            <a:off x="6233160" y="3044952"/>
            <a:ext cx="2225040" cy="182880"/>
          </a:xfrm>
          <a:prstGeom prst="rect">
            <a:avLst/>
          </a:prstGeom>
          <a:noFill/>
          <a:ln/>
        </p:spPr>
        <p:txBody>
          <a:bodyPr wrap="square" lIns="0" tIns="0" rIns="0" bIns="0" rtlCol="0" anchor="ctr"/>
          <a:lstStyle/>
          <a:p>
            <a:pPr indent="0" marL="0">
              <a:buNone/>
            </a:pPr>
            <a:r>
              <a:rPr lang="en-US" sz="800" spc="120" kern="0" dirty="0">
                <a:solidFill>
                  <a:srgbClr val="297A3A"/>
                </a:solidFill>
                <a:latin typeface="Cascadia Mono" pitchFamily="34" charset="0"/>
                <a:ea typeface="Cascadia Mono" pitchFamily="34" charset="-122"/>
                <a:cs typeface="Cascadia Mono" pitchFamily="34" charset="-120"/>
              </a:rPr>
              <a:t>FEEDBACK</a:t>
            </a:r>
            <a:endParaRPr lang="en-US" sz="800" dirty="0"/>
          </a:p>
        </p:txBody>
      </p:sp>
      <p:sp>
        <p:nvSpPr>
          <p:cNvPr id="21" name="Text 19"/>
          <p:cNvSpPr txBox="1"/>
          <p:nvPr/>
        </p:nvSpPr>
        <p:spPr>
          <a:xfrm>
            <a:off x="6233160" y="3319272"/>
            <a:ext cx="2225040" cy="685800"/>
          </a:xfrm>
          <a:prstGeom prst="rect">
            <a:avLst/>
          </a:prstGeom>
          <a:noFill/>
          <a:ln/>
        </p:spPr>
        <p:txBody>
          <a:bodyPr wrap="square" lIns="0" tIns="0" rIns="0" bIns="0" rtlCol="0" anchor="t"/>
          <a:lstStyle/>
          <a:p>
            <a:pPr indent="0" marL="0">
              <a:lnSpc>
                <a:spcPct val="120000"/>
              </a:lnSpc>
              <a:buNone/>
            </a:pPr>
            <a:r>
              <a:rPr lang="en-US" sz="1100" dirty="0">
                <a:solidFill>
                  <a:srgbClr val="171717"/>
                </a:solidFill>
                <a:latin typeface="Pretendard" pitchFamily="34" charset="0"/>
                <a:ea typeface="Pretendard" pitchFamily="34" charset="-122"/>
                <a:cs typeface="Pretendard" pitchFamily="34" charset="-120"/>
              </a:rPr>
              <a:t>영상 경로 띠 · 선회 화살표 · 적색 경고 · 손 방향 진동</a:t>
            </a:r>
            <a:endParaRPr lang="en-US" sz="1100" dirty="0"/>
          </a:p>
        </p:txBody>
      </p:sp>
      <p:sp>
        <p:nvSpPr>
          <p:cNvPr id="22" name="Text 20"/>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000000"/>
                </a:solidFill>
                <a:latin typeface="Pretendard" pitchFamily="34" charset="0"/>
                <a:ea typeface="Pretendard" pitchFamily="34" charset="-122"/>
                <a:cs typeface="Pretendard" pitchFamily="34" charset="-120"/>
              </a:rPr>
              <a:t>▲</a:t>
            </a:r>
            <a:endParaRPr lang="en-US" sz="900" dirty="0"/>
          </a:p>
        </p:txBody>
      </p:sp>
      <p:sp>
        <p:nvSpPr>
          <p:cNvPr id="23" name="Text 21"/>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666666"/>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24" name="Text 22"/>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666666"/>
                </a:solidFill>
                <a:latin typeface="Cascadia Mono" pitchFamily="34" charset="0"/>
                <a:ea typeface="Cascadia Mono" pitchFamily="34" charset="-122"/>
                <a:cs typeface="Cascadia Mono" pitchFamily="34" charset="-120"/>
              </a:rPr>
              <a:t>06 / 10</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201168"/>
          </a:xfrm>
          <a:prstGeom prst="rect">
            <a:avLst/>
          </a:prstGeom>
          <a:noFill/>
          <a:ln/>
        </p:spPr>
        <p:txBody>
          <a:bodyPr wrap="square" lIns="0" tIns="0" rIns="0" bIns="0" rtlCol="0" anchor="ctr"/>
          <a:lstStyle/>
          <a:p>
            <a:pPr indent="0" marL="0">
              <a:buNone/>
            </a:pPr>
            <a:r>
              <a:rPr lang="en-US" sz="850" spc="120" kern="0" dirty="0">
                <a:solidFill>
                  <a:srgbClr val="171717"/>
                </a:solidFill>
                <a:latin typeface="Cascadia Mono" pitchFamily="34" charset="0"/>
                <a:ea typeface="Cascadia Mono" pitchFamily="34" charset="-122"/>
                <a:cs typeface="Cascadia Mono" pitchFamily="34" charset="-120"/>
              </a:rPr>
              <a:t>06 — ALGORITHM</a:t>
            </a:r>
            <a:endParaRPr lang="en-US" sz="850" dirty="0"/>
          </a:p>
        </p:txBody>
      </p:sp>
      <p:sp>
        <p:nvSpPr>
          <p:cNvPr id="3" name="Text 1"/>
          <p:cNvSpPr txBox="1"/>
          <p:nvPr/>
        </p:nvSpPr>
        <p:spPr>
          <a:xfrm>
            <a:off x="502920" y="713232"/>
            <a:ext cx="8138160" cy="566928"/>
          </a:xfrm>
          <a:prstGeom prst="rect">
            <a:avLst/>
          </a:prstGeom>
          <a:noFill/>
          <a:ln/>
        </p:spPr>
        <p:txBody>
          <a:bodyPr wrap="square" lIns="0" tIns="0" rIns="0" bIns="0" rtlCol="0" anchor="ctr"/>
          <a:lstStyle/>
          <a:p>
            <a:pPr indent="0" marL="0">
              <a:buNone/>
            </a:pPr>
            <a:r>
              <a:rPr lang="en-US" sz="2800" spc="-100" kern="0" dirty="0">
                <a:solidFill>
                  <a:srgbClr val="171717"/>
                </a:solidFill>
                <a:latin typeface="Pretendard" pitchFamily="34" charset="0"/>
                <a:ea typeface="Pretendard" pitchFamily="34" charset="-122"/>
                <a:cs typeface="Pretendard" pitchFamily="34" charset="-120"/>
              </a:rPr>
              <a:t>판단은 기하로, 결정은 사람에게</a:t>
            </a:r>
            <a:endParaRPr lang="en-US" sz="2800" dirty="0"/>
          </a:p>
        </p:txBody>
      </p:sp>
      <p:sp>
        <p:nvSpPr>
          <p:cNvPr id="4" name="Text 2"/>
          <p:cNvSpPr txBox="1"/>
          <p:nvPr/>
        </p:nvSpPr>
        <p:spPr>
          <a:xfrm>
            <a:off x="502920" y="1481328"/>
            <a:ext cx="3383280" cy="201168"/>
          </a:xfrm>
          <a:prstGeom prst="rect">
            <a:avLst/>
          </a:prstGeom>
          <a:noFill/>
          <a:ln/>
        </p:spPr>
        <p:txBody>
          <a:bodyPr wrap="square" lIns="0" tIns="0" rIns="0" bIns="0" rtlCol="0" anchor="ctr"/>
          <a:lstStyle/>
          <a:p>
            <a:pPr indent="0" marL="0">
              <a:buNone/>
            </a:pPr>
            <a:r>
              <a:rPr lang="en-US" sz="850" spc="120" kern="0" dirty="0">
                <a:solidFill>
                  <a:srgbClr val="297A3A"/>
                </a:solidFill>
                <a:latin typeface="Cascadia Mono" pitchFamily="34" charset="0"/>
                <a:ea typeface="Cascadia Mono" pitchFamily="34" charset="-122"/>
                <a:cs typeface="Cascadia Mono" pitchFamily="34" charset="-120"/>
              </a:rPr>
              <a:t>01 · CONDITION (조건)</a:t>
            </a:r>
            <a:endParaRPr lang="en-US" sz="850" dirty="0"/>
          </a:p>
        </p:txBody>
      </p:sp>
      <p:sp>
        <p:nvSpPr>
          <p:cNvPr id="5" name="Text 3"/>
          <p:cNvSpPr txBox="1"/>
          <p:nvPr/>
        </p:nvSpPr>
        <p:spPr>
          <a:xfrm>
            <a:off x="502920" y="1709928"/>
            <a:ext cx="3383280" cy="566928"/>
          </a:xfrm>
          <a:prstGeom prst="rect">
            <a:avLst/>
          </a:prstGeom>
          <a:noFill/>
          <a:ln/>
        </p:spPr>
        <p:txBody>
          <a:bodyPr wrap="square" lIns="0" tIns="0" rIns="0" bIns="0" rtlCol="0" anchor="t"/>
          <a:lstStyle/>
          <a:p>
            <a:pPr indent="0" marL="0">
              <a:lnSpc>
                <a:spcPct val="120000"/>
              </a:lnSpc>
              <a:buNone/>
            </a:pPr>
            <a:r>
              <a:rPr lang="en-US" sz="1000" dirty="0">
                <a:solidFill>
                  <a:srgbClr val="171717"/>
                </a:solidFill>
                <a:latin typeface="Pretendard" pitchFamily="34" charset="0"/>
                <a:ea typeface="Pretendard" pitchFamily="34" charset="-122"/>
                <a:cs typeface="Pretendard" pitchFamily="34" charset="-120"/>
              </a:rPr>
              <a:t>전방 장애물 d &lt; 0.35m 또는 AGV 간 거리 &lt; 1.0m</a:t>
            </a:r>
            <a:endParaRPr lang="en-US" sz="1000" dirty="0"/>
          </a:p>
          <a:p>
            <a:pPr indent="0" marL="0">
              <a:lnSpc>
                <a:spcPct val="120000"/>
              </a:lnSpc>
              <a:buNone/>
            </a:pPr>
            <a:r>
              <a:rPr lang="en-US" sz="1000" dirty="0">
                <a:solidFill>
                  <a:srgbClr val="171717"/>
                </a:solidFill>
                <a:latin typeface="Pretendard" pitchFamily="34" charset="0"/>
                <a:ea typeface="Pretendard" pitchFamily="34" charset="-122"/>
                <a:cs typeface="Pretendard" pitchFamily="34" charset="-120"/>
              </a:rPr>
              <a:t>→ 전진 명령 즉시 차단 (vx = 0), 정지·알림 상태 진입</a:t>
            </a:r>
            <a:endParaRPr lang="en-US" sz="1000" dirty="0"/>
          </a:p>
        </p:txBody>
      </p:sp>
      <p:sp>
        <p:nvSpPr>
          <p:cNvPr id="6" name="Shape 4"/>
          <p:cNvSpPr/>
          <p:nvPr/>
        </p:nvSpPr>
        <p:spPr>
          <a:xfrm>
            <a:off x="502920" y="2286000"/>
            <a:ext cx="3383280" cy="0"/>
          </a:xfrm>
          <a:prstGeom prst="line">
            <a:avLst/>
          </a:prstGeom>
          <a:noFill/>
          <a:ln w="9525">
            <a:solidFill>
              <a:srgbClr val="EBEBEB"/>
            </a:solidFill>
            <a:prstDash val="solid"/>
          </a:ln>
        </p:spPr>
      </p:sp>
      <p:sp>
        <p:nvSpPr>
          <p:cNvPr id="7" name="Text 5"/>
          <p:cNvSpPr txBox="1"/>
          <p:nvPr/>
        </p:nvSpPr>
        <p:spPr>
          <a:xfrm>
            <a:off x="502920" y="2350008"/>
            <a:ext cx="3383280" cy="201168"/>
          </a:xfrm>
          <a:prstGeom prst="rect">
            <a:avLst/>
          </a:prstGeom>
          <a:noFill/>
          <a:ln/>
        </p:spPr>
        <p:txBody>
          <a:bodyPr wrap="square" lIns="0" tIns="0" rIns="0" bIns="0" rtlCol="0" anchor="ctr"/>
          <a:lstStyle/>
          <a:p>
            <a:pPr indent="0" marL="0">
              <a:buNone/>
            </a:pPr>
            <a:r>
              <a:rPr lang="en-US" sz="850" spc="120" kern="0" dirty="0">
                <a:solidFill>
                  <a:srgbClr val="297A3A"/>
                </a:solidFill>
                <a:latin typeface="Cascadia Mono" pitchFamily="34" charset="0"/>
                <a:ea typeface="Cascadia Mono" pitchFamily="34" charset="-122"/>
                <a:cs typeface="Cascadia Mono" pitchFamily="34" charset="-120"/>
              </a:rPr>
              <a:t>02 · METHOD (방법)</a:t>
            </a:r>
            <a:endParaRPr lang="en-US" sz="850" dirty="0"/>
          </a:p>
        </p:txBody>
      </p:sp>
      <p:sp>
        <p:nvSpPr>
          <p:cNvPr id="8" name="Text 6"/>
          <p:cNvSpPr txBox="1"/>
          <p:nvPr/>
        </p:nvSpPr>
        <p:spPr>
          <a:xfrm>
            <a:off x="502920" y="2578608"/>
            <a:ext cx="3383280" cy="566928"/>
          </a:xfrm>
          <a:prstGeom prst="rect">
            <a:avLst/>
          </a:prstGeom>
          <a:noFill/>
          <a:ln/>
        </p:spPr>
        <p:txBody>
          <a:bodyPr wrap="square" lIns="0" tIns="0" rIns="0" bIns="0" rtlCol="0" anchor="t"/>
          <a:lstStyle/>
          <a:p>
            <a:pPr indent="0" marL="0">
              <a:lnSpc>
                <a:spcPct val="120000"/>
              </a:lnSpc>
              <a:buNone/>
            </a:pPr>
            <a:r>
              <a:rPr lang="en-US" sz="1000" dirty="0">
                <a:solidFill>
                  <a:srgbClr val="171717"/>
                </a:solidFill>
                <a:latin typeface="Pretendard" pitchFamily="34" charset="0"/>
                <a:ea typeface="Pretendard" pitchFamily="34" charset="-122"/>
                <a:cs typeface="Pretendard" pitchFamily="34" charset="-120"/>
              </a:rPr>
              <a:t>360° LiDAR 72방향 회랑 폭(w=0.24m) 여유 d(h) 탐색</a:t>
            </a:r>
            <a:endParaRPr lang="en-US" sz="1000" dirty="0"/>
          </a:p>
          <a:p>
            <a:pPr indent="0" marL="0">
              <a:lnSpc>
                <a:spcPct val="120000"/>
              </a:lnSpc>
              <a:buNone/>
            </a:pPr>
            <a:r>
              <a:rPr lang="en-US" sz="1000" dirty="0">
                <a:solidFill>
                  <a:srgbClr val="171717"/>
                </a:solidFill>
                <a:latin typeface="Pretendard" pitchFamily="34" charset="0"/>
                <a:ea typeface="Pretendard" pitchFamily="34" charset="-122"/>
                <a:cs typeface="Pretendard" pitchFamily="34" charset="-120"/>
              </a:rPr>
              <a:t>목적 함수: argmax [d(h) - 0.25|h|] (최대 여유 &amp; 최소 회전)</a:t>
            </a:r>
            <a:endParaRPr lang="en-US" sz="1000" dirty="0"/>
          </a:p>
        </p:txBody>
      </p:sp>
      <p:sp>
        <p:nvSpPr>
          <p:cNvPr id="9" name="Shape 7"/>
          <p:cNvSpPr/>
          <p:nvPr/>
        </p:nvSpPr>
        <p:spPr>
          <a:xfrm>
            <a:off x="502920" y="3154680"/>
            <a:ext cx="3383280" cy="0"/>
          </a:xfrm>
          <a:prstGeom prst="line">
            <a:avLst/>
          </a:prstGeom>
          <a:noFill/>
          <a:ln w="9525">
            <a:solidFill>
              <a:srgbClr val="EBEBEB"/>
            </a:solidFill>
            <a:prstDash val="solid"/>
          </a:ln>
        </p:spPr>
      </p:sp>
      <p:sp>
        <p:nvSpPr>
          <p:cNvPr id="10" name="Text 8"/>
          <p:cNvSpPr txBox="1"/>
          <p:nvPr/>
        </p:nvSpPr>
        <p:spPr>
          <a:xfrm>
            <a:off x="502920" y="3218688"/>
            <a:ext cx="3383280" cy="201168"/>
          </a:xfrm>
          <a:prstGeom prst="rect">
            <a:avLst/>
          </a:prstGeom>
          <a:noFill/>
          <a:ln/>
        </p:spPr>
        <p:txBody>
          <a:bodyPr wrap="square" lIns="0" tIns="0" rIns="0" bIns="0" rtlCol="0" anchor="ctr"/>
          <a:lstStyle/>
          <a:p>
            <a:pPr indent="0" marL="0">
              <a:buNone/>
            </a:pPr>
            <a:r>
              <a:rPr lang="en-US" sz="850" spc="120" kern="0" dirty="0">
                <a:solidFill>
                  <a:srgbClr val="297A3A"/>
                </a:solidFill>
                <a:latin typeface="Cascadia Mono" pitchFamily="34" charset="0"/>
                <a:ea typeface="Cascadia Mono" pitchFamily="34" charset="-122"/>
                <a:cs typeface="Cascadia Mono" pitchFamily="34" charset="-120"/>
              </a:rPr>
              <a:t>03 · RESULT (결과)</a:t>
            </a:r>
            <a:endParaRPr lang="en-US" sz="850" dirty="0"/>
          </a:p>
        </p:txBody>
      </p:sp>
      <p:sp>
        <p:nvSpPr>
          <p:cNvPr id="11" name="Text 9"/>
          <p:cNvSpPr txBox="1"/>
          <p:nvPr/>
        </p:nvSpPr>
        <p:spPr>
          <a:xfrm>
            <a:off x="502920" y="3447288"/>
            <a:ext cx="3383280" cy="566928"/>
          </a:xfrm>
          <a:prstGeom prst="rect">
            <a:avLst/>
          </a:prstGeom>
          <a:noFill/>
          <a:ln/>
        </p:spPr>
        <p:txBody>
          <a:bodyPr wrap="square" lIns="0" tIns="0" rIns="0" bIns="0" rtlCol="0" anchor="t"/>
          <a:lstStyle/>
          <a:p>
            <a:pPr indent="0" marL="0">
              <a:lnSpc>
                <a:spcPct val="120000"/>
              </a:lnSpc>
              <a:buNone/>
            </a:pPr>
            <a:r>
              <a:rPr lang="en-US" sz="1000" dirty="0">
                <a:solidFill>
                  <a:srgbClr val="171717"/>
                </a:solidFill>
                <a:latin typeface="Pretendard" pitchFamily="34" charset="0"/>
                <a:ea typeface="Pretendard" pitchFamily="34" charset="-122"/>
                <a:cs typeface="Pretendard" pitchFamily="34" charset="-120"/>
              </a:rPr>
              <a:t>최적 방위각 → FPV 바닥 가이드라인·선회 화살표 투영</a:t>
            </a:r>
            <a:endParaRPr lang="en-US" sz="1000" dirty="0"/>
          </a:p>
          <a:p>
            <a:pPr indent="0" marL="0">
              <a:lnSpc>
                <a:spcPct val="120000"/>
              </a:lnSpc>
              <a:buNone/>
            </a:pPr>
            <a:r>
              <a:rPr lang="en-US" sz="1000" dirty="0">
                <a:solidFill>
                  <a:srgbClr val="171717"/>
                </a:solidFill>
                <a:latin typeface="Pretendard" pitchFamily="34" charset="0"/>
                <a:ea typeface="Pretendard" pitchFamily="34" charset="-122"/>
                <a:cs typeface="Pretendard" pitchFamily="34" charset="-120"/>
              </a:rPr>
              <a:t>전진 차단 유지, 후진(후방 0.20m 가드)·회전은 사람이 조작</a:t>
            </a:r>
            <a:endParaRPr lang="en-US" sz="1000" dirty="0"/>
          </a:p>
        </p:txBody>
      </p:sp>
      <p:sp>
        <p:nvSpPr>
          <p:cNvPr id="12" name="Shape 10"/>
          <p:cNvSpPr/>
          <p:nvPr/>
        </p:nvSpPr>
        <p:spPr>
          <a:xfrm>
            <a:off x="4160520" y="1417320"/>
            <a:ext cx="4791456" cy="2230166"/>
          </a:xfrm>
          <a:prstGeom prst="roundRect">
            <a:avLst>
              <a:gd name="adj" fmla="val 2460"/>
            </a:avLst>
          </a:prstGeom>
          <a:solidFill>
            <a:srgbClr val="FFFFFF"/>
          </a:solidFill>
          <a:ln w="9525">
            <a:solidFill>
              <a:srgbClr val="EBEBEB"/>
            </a:solidFill>
            <a:prstDash val="solid"/>
          </a:ln>
        </p:spPr>
      </p:sp>
      <p:pic>
        <p:nvPicPr>
          <p:cNvPr id="13" name="Image 0" descr="탈출 경로 계산 예">    </p:cNvPr>
          <p:cNvPicPr>
            <a:picLocks noChangeAspect="1"/>
          </p:cNvPicPr>
          <p:nvPr/>
        </p:nvPicPr>
        <p:blipFill>
          <a:blip r:embed="rId1"/>
          <a:stretch>
            <a:fillRect/>
          </a:stretch>
        </p:blipFill>
        <p:spPr>
          <a:xfrm>
            <a:off x="4270248" y="1527048"/>
            <a:ext cx="4572000" cy="2010710"/>
          </a:xfrm>
          <a:prstGeom prst="rect">
            <a:avLst/>
          </a:prstGeom>
        </p:spPr>
      </p:pic>
      <p:sp>
        <p:nvSpPr>
          <p:cNvPr id="14" name="Text 11"/>
          <p:cNvSpPr txBox="1"/>
          <p:nvPr/>
        </p:nvSpPr>
        <p:spPr>
          <a:xfrm>
            <a:off x="4160520" y="3720638"/>
            <a:ext cx="4791456" cy="182880"/>
          </a:xfrm>
          <a:prstGeom prst="rect">
            <a:avLst/>
          </a:prstGeom>
          <a:noFill/>
          <a:ln/>
        </p:spPr>
        <p:txBody>
          <a:bodyPr wrap="square" lIns="0" tIns="0" rIns="0" bIns="0" rtlCol="0" anchor="ctr"/>
          <a:lstStyle/>
          <a:p>
            <a:pPr indent="0" marL="0">
              <a:buNone/>
            </a:pPr>
            <a:r>
              <a:rPr lang="en-US" sz="650" spc="60" kern="0" dirty="0">
                <a:solidFill>
                  <a:srgbClr val="666666"/>
                </a:solidFill>
                <a:latin typeface="Cascadia Mono" pitchFamily="34" charset="0"/>
                <a:ea typeface="Cascadia Mono" pitchFamily="34" charset="-122"/>
                <a:cs typeface="Cascadia Mono" pitchFamily="34" charset="-120"/>
              </a:rPr>
              <a:t>PLAN_ESCAPE · 전방 상자 + 우측 벽 → 좌 40° 선택</a:t>
            </a:r>
            <a:endParaRPr lang="en-US" sz="650" dirty="0"/>
          </a:p>
        </p:txBody>
      </p:sp>
      <p:sp>
        <p:nvSpPr>
          <p:cNvPr id="15" name="Text 12"/>
          <p:cNvSpPr txBox="1"/>
          <p:nvPr/>
        </p:nvSpPr>
        <p:spPr>
          <a:xfrm>
            <a:off x="4160520" y="3931920"/>
            <a:ext cx="4791456" cy="457200"/>
          </a:xfrm>
          <a:prstGeom prst="rect">
            <a:avLst/>
          </a:prstGeom>
          <a:noFill/>
          <a:ln/>
        </p:spPr>
        <p:txBody>
          <a:bodyPr wrap="square" lIns="0" tIns="0" rIns="0" bIns="0" rtlCol="0" anchor="t"/>
          <a:lstStyle/>
          <a:p>
            <a:pPr indent="0" marL="0">
              <a:lnSpc>
                <a:spcPct val="120000"/>
              </a:lnSpc>
              <a:buNone/>
            </a:pPr>
            <a:r>
              <a:rPr lang="en-US" sz="950" dirty="0">
                <a:solidFill>
                  <a:srgbClr val="4D4D4D"/>
                </a:solidFill>
                <a:latin typeface="Pretendard" pitchFamily="34" charset="0"/>
                <a:ea typeface="Pretendard" pitchFamily="34" charset="-122"/>
                <a:cs typeface="Pretendard" pitchFamily="34" charset="-120"/>
              </a:rPr>
              <a:t>VFH · Follow-the-Gap 계열 국소 반응형. 경로는 카메라 영상 바닥에 핀홀 모델(렌즈 0.16m, 62.2°)로 투영. 자동 후진 없음.</a:t>
            </a:r>
            <a:endParaRPr lang="en-US" sz="950" dirty="0"/>
          </a:p>
        </p:txBody>
      </p:sp>
      <p:sp>
        <p:nvSpPr>
          <p:cNvPr id="16" name="Text 13"/>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000000"/>
                </a:solidFill>
                <a:latin typeface="Pretendard" pitchFamily="34" charset="0"/>
                <a:ea typeface="Pretendard" pitchFamily="34" charset="-122"/>
                <a:cs typeface="Pretendard" pitchFamily="34" charset="-120"/>
              </a:rPr>
              <a:t>▲</a:t>
            </a:r>
            <a:endParaRPr lang="en-US" sz="900" dirty="0"/>
          </a:p>
        </p:txBody>
      </p:sp>
      <p:sp>
        <p:nvSpPr>
          <p:cNvPr id="17" name="Text 14"/>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666666"/>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18" name="Text 15"/>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666666"/>
                </a:solidFill>
                <a:latin typeface="Cascadia Mono" pitchFamily="34" charset="0"/>
                <a:ea typeface="Cascadia Mono" pitchFamily="34" charset="-122"/>
                <a:cs typeface="Cascadia Mono" pitchFamily="34" charset="-120"/>
              </a:rPr>
              <a:t>07 / 10</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201168"/>
          </a:xfrm>
          <a:prstGeom prst="rect">
            <a:avLst/>
          </a:prstGeom>
          <a:noFill/>
          <a:ln/>
        </p:spPr>
        <p:txBody>
          <a:bodyPr wrap="square" lIns="0" tIns="0" rIns="0" bIns="0" rtlCol="0" anchor="ctr"/>
          <a:lstStyle/>
          <a:p>
            <a:pPr indent="0" marL="0">
              <a:buNone/>
            </a:pPr>
            <a:r>
              <a:rPr lang="en-US" sz="850" spc="120" kern="0" dirty="0">
                <a:solidFill>
                  <a:srgbClr val="171717"/>
                </a:solidFill>
                <a:latin typeface="Cascadia Mono" pitchFamily="34" charset="0"/>
                <a:ea typeface="Cascadia Mono" pitchFamily="34" charset="-122"/>
                <a:cs typeface="Cascadia Mono" pitchFamily="34" charset="-120"/>
              </a:rPr>
              <a:t>07 — VERIFICATION</a:t>
            </a:r>
            <a:endParaRPr lang="en-US" sz="850" dirty="0"/>
          </a:p>
        </p:txBody>
      </p:sp>
      <p:sp>
        <p:nvSpPr>
          <p:cNvPr id="3" name="Text 1"/>
          <p:cNvSpPr txBox="1"/>
          <p:nvPr/>
        </p:nvSpPr>
        <p:spPr>
          <a:xfrm>
            <a:off x="502920" y="713232"/>
            <a:ext cx="8138160" cy="566928"/>
          </a:xfrm>
          <a:prstGeom prst="rect">
            <a:avLst/>
          </a:prstGeom>
          <a:noFill/>
          <a:ln/>
        </p:spPr>
        <p:txBody>
          <a:bodyPr wrap="square" lIns="0" tIns="0" rIns="0" bIns="0" rtlCol="0" anchor="ctr"/>
          <a:lstStyle/>
          <a:p>
            <a:pPr indent="0" marL="0">
              <a:buNone/>
            </a:pPr>
            <a:r>
              <a:rPr lang="en-US" sz="2800" spc="-100" kern="0" dirty="0">
                <a:solidFill>
                  <a:srgbClr val="171717"/>
                </a:solidFill>
                <a:latin typeface="Pretendard" pitchFamily="34" charset="0"/>
                <a:ea typeface="Pretendard" pitchFamily="34" charset="-122"/>
                <a:cs typeface="Pretendard" pitchFamily="34" charset="-120"/>
              </a:rPr>
              <a:t>5대 현장 시나리오 검증 · 73/73</a:t>
            </a:r>
            <a:endParaRPr lang="en-US" sz="2800" dirty="0"/>
          </a:p>
        </p:txBody>
      </p:sp>
      <p:sp>
        <p:nvSpPr>
          <p:cNvPr id="4" name="Shape 2"/>
          <p:cNvSpPr/>
          <p:nvPr/>
        </p:nvSpPr>
        <p:spPr>
          <a:xfrm>
            <a:off x="502920" y="1417320"/>
            <a:ext cx="4754880" cy="2880360"/>
          </a:xfrm>
          <a:prstGeom prst="roundRect">
            <a:avLst>
              <a:gd name="adj" fmla="val 1905"/>
            </a:avLst>
          </a:prstGeom>
          <a:solidFill>
            <a:srgbClr val="FFFFFF"/>
          </a:solidFill>
          <a:ln w="9525">
            <a:solidFill>
              <a:srgbClr val="EBEBEB"/>
            </a:solidFill>
            <a:prstDash val="solid"/>
          </a:ln>
        </p:spPr>
      </p:sp>
      <p:sp>
        <p:nvSpPr>
          <p:cNvPr id="5" name="Text 3"/>
          <p:cNvSpPr txBox="1"/>
          <p:nvPr/>
        </p:nvSpPr>
        <p:spPr>
          <a:xfrm>
            <a:off x="685800" y="1536192"/>
            <a:ext cx="1005840" cy="182880"/>
          </a:xfrm>
          <a:prstGeom prst="rect">
            <a:avLst/>
          </a:prstGeom>
          <a:noFill/>
          <a:ln/>
        </p:spPr>
        <p:txBody>
          <a:bodyPr wrap="square" lIns="0" tIns="0" rIns="0" bIns="0" rtlCol="0" anchor="ctr"/>
          <a:lstStyle/>
          <a:p>
            <a:pPr indent="0" marL="0">
              <a:buNone/>
            </a:pPr>
            <a:r>
              <a:rPr lang="en-US" sz="750" spc="80" kern="0" dirty="0">
                <a:solidFill>
                  <a:srgbClr val="297A3A"/>
                </a:solidFill>
                <a:latin typeface="Cascadia Mono" pitchFamily="34" charset="0"/>
                <a:ea typeface="Cascadia Mono" pitchFamily="34" charset="-122"/>
                <a:cs typeface="Cascadia Mono" pitchFamily="34" charset="-120"/>
              </a:rPr>
              <a:t>SCENARIO 01</a:t>
            </a:r>
            <a:endParaRPr lang="en-US" sz="750" dirty="0"/>
          </a:p>
        </p:txBody>
      </p:sp>
      <p:sp>
        <p:nvSpPr>
          <p:cNvPr id="6" name="Text 4"/>
          <p:cNvSpPr txBox="1"/>
          <p:nvPr/>
        </p:nvSpPr>
        <p:spPr>
          <a:xfrm>
            <a:off x="1737360" y="1536192"/>
            <a:ext cx="1463040" cy="182880"/>
          </a:xfrm>
          <a:prstGeom prst="rect">
            <a:avLst/>
          </a:prstGeom>
          <a:noFill/>
          <a:ln/>
        </p:spPr>
        <p:txBody>
          <a:bodyPr wrap="square" lIns="0" tIns="0" rIns="0" bIns="0" rtlCol="0" anchor="ctr"/>
          <a:lstStyle/>
          <a:p>
            <a:pPr indent="0" marL="0">
              <a:buNone/>
            </a:pPr>
            <a:r>
              <a:rPr lang="en-US" sz="1000" b="1" dirty="0">
                <a:solidFill>
                  <a:srgbClr val="171717"/>
                </a:solidFill>
                <a:latin typeface="Pretendard" pitchFamily="34" charset="0"/>
                <a:ea typeface="Pretendard" pitchFamily="34" charset="-122"/>
                <a:cs typeface="Pretendard" pitchFamily="34" charset="-120"/>
              </a:rPr>
              <a:t>정면 돌발 장애물 봉착</a:t>
            </a:r>
            <a:endParaRPr lang="en-US" sz="1000" dirty="0"/>
          </a:p>
        </p:txBody>
      </p:sp>
      <p:sp>
        <p:nvSpPr>
          <p:cNvPr id="7" name="Text 5"/>
          <p:cNvSpPr txBox="1"/>
          <p:nvPr/>
        </p:nvSpPr>
        <p:spPr>
          <a:xfrm>
            <a:off x="685800" y="1737360"/>
            <a:ext cx="4389120" cy="228600"/>
          </a:xfrm>
          <a:prstGeom prst="rect">
            <a:avLst/>
          </a:prstGeom>
          <a:noFill/>
          <a:ln/>
        </p:spPr>
        <p:txBody>
          <a:bodyPr wrap="square" lIns="0" tIns="0" rIns="0" bIns="0" rtlCol="0" anchor="ctr"/>
          <a:lstStyle/>
          <a:p>
            <a:pPr indent="0" marL="0">
              <a:buNone/>
            </a:pPr>
            <a:r>
              <a:rPr lang="en-US" sz="850" dirty="0">
                <a:solidFill>
                  <a:srgbClr val="4D4D4D"/>
                </a:solidFill>
                <a:latin typeface="Pretendard" pitchFamily="34" charset="0"/>
                <a:ea typeface="Pretendard" pitchFamily="34" charset="-122"/>
                <a:cs typeface="Pretendard" pitchFamily="34" charset="-120"/>
              </a:rPr>
              <a:t>전방 0.3m 급정지, 전진 차단 / 후진·선회 수동 허용</a:t>
            </a:r>
            <a:endParaRPr lang="en-US" sz="850" dirty="0"/>
          </a:p>
        </p:txBody>
      </p:sp>
      <p:sp>
        <p:nvSpPr>
          <p:cNvPr id="8" name="Shape 6"/>
          <p:cNvSpPr/>
          <p:nvPr/>
        </p:nvSpPr>
        <p:spPr>
          <a:xfrm>
            <a:off x="685800" y="2011680"/>
            <a:ext cx="4389120" cy="0"/>
          </a:xfrm>
          <a:prstGeom prst="line">
            <a:avLst/>
          </a:prstGeom>
          <a:noFill/>
          <a:ln w="6350">
            <a:solidFill>
              <a:srgbClr val="EBEBEB"/>
            </a:solidFill>
            <a:prstDash val="solid"/>
          </a:ln>
        </p:spPr>
      </p:sp>
      <p:sp>
        <p:nvSpPr>
          <p:cNvPr id="9" name="Text 7"/>
          <p:cNvSpPr txBox="1"/>
          <p:nvPr/>
        </p:nvSpPr>
        <p:spPr>
          <a:xfrm>
            <a:off x="685800" y="2066544"/>
            <a:ext cx="1005840" cy="182880"/>
          </a:xfrm>
          <a:prstGeom prst="rect">
            <a:avLst/>
          </a:prstGeom>
          <a:noFill/>
          <a:ln/>
        </p:spPr>
        <p:txBody>
          <a:bodyPr wrap="square" lIns="0" tIns="0" rIns="0" bIns="0" rtlCol="0" anchor="ctr"/>
          <a:lstStyle/>
          <a:p>
            <a:pPr indent="0" marL="0">
              <a:buNone/>
            </a:pPr>
            <a:r>
              <a:rPr lang="en-US" sz="750" spc="80" kern="0" dirty="0">
                <a:solidFill>
                  <a:srgbClr val="297A3A"/>
                </a:solidFill>
                <a:latin typeface="Cascadia Mono" pitchFamily="34" charset="0"/>
                <a:ea typeface="Cascadia Mono" pitchFamily="34" charset="-122"/>
                <a:cs typeface="Cascadia Mono" pitchFamily="34" charset="-120"/>
              </a:rPr>
              <a:t>SCENARIO 02</a:t>
            </a:r>
            <a:endParaRPr lang="en-US" sz="750" dirty="0"/>
          </a:p>
        </p:txBody>
      </p:sp>
      <p:sp>
        <p:nvSpPr>
          <p:cNvPr id="10" name="Text 8"/>
          <p:cNvSpPr txBox="1"/>
          <p:nvPr/>
        </p:nvSpPr>
        <p:spPr>
          <a:xfrm>
            <a:off x="1737360" y="2066544"/>
            <a:ext cx="1463040" cy="182880"/>
          </a:xfrm>
          <a:prstGeom prst="rect">
            <a:avLst/>
          </a:prstGeom>
          <a:noFill/>
          <a:ln/>
        </p:spPr>
        <p:txBody>
          <a:bodyPr wrap="square" lIns="0" tIns="0" rIns="0" bIns="0" rtlCol="0" anchor="ctr"/>
          <a:lstStyle/>
          <a:p>
            <a:pPr indent="0" marL="0">
              <a:buNone/>
            </a:pPr>
            <a:r>
              <a:rPr lang="en-US" sz="1000" b="1" dirty="0">
                <a:solidFill>
                  <a:srgbClr val="171717"/>
                </a:solidFill>
                <a:latin typeface="Pretendard" pitchFamily="34" charset="0"/>
                <a:ea typeface="Pretendard" pitchFamily="34" charset="-122"/>
                <a:cs typeface="Pretendard" pitchFamily="34" charset="-120"/>
              </a:rPr>
              <a:t>AGV 대향 마주침 교착</a:t>
            </a:r>
            <a:endParaRPr lang="en-US" sz="1000" dirty="0"/>
          </a:p>
        </p:txBody>
      </p:sp>
      <p:sp>
        <p:nvSpPr>
          <p:cNvPr id="11" name="Text 9"/>
          <p:cNvSpPr txBox="1"/>
          <p:nvPr/>
        </p:nvSpPr>
        <p:spPr>
          <a:xfrm>
            <a:off x="685800" y="2267712"/>
            <a:ext cx="4389120" cy="228600"/>
          </a:xfrm>
          <a:prstGeom prst="rect">
            <a:avLst/>
          </a:prstGeom>
          <a:noFill/>
          <a:ln/>
        </p:spPr>
        <p:txBody>
          <a:bodyPr wrap="square" lIns="0" tIns="0" rIns="0" bIns="0" rtlCol="0" anchor="ctr"/>
          <a:lstStyle/>
          <a:p>
            <a:pPr indent="0" marL="0">
              <a:buNone/>
            </a:pPr>
            <a:r>
              <a:rPr lang="en-US" sz="850" dirty="0">
                <a:solidFill>
                  <a:srgbClr val="4D4D4D"/>
                </a:solidFill>
                <a:latin typeface="Pretendard" pitchFamily="34" charset="0"/>
                <a:ea typeface="Pretendard" pitchFamily="34" charset="-122"/>
                <a:cs typeface="Pretendard" pitchFamily="34" charset="-120"/>
              </a:rPr>
              <a:t>2대 대향 접근 (거리 &lt; 1.0m) → 양방향 STUCK 정지</a:t>
            </a:r>
            <a:endParaRPr lang="en-US" sz="850" dirty="0"/>
          </a:p>
        </p:txBody>
      </p:sp>
      <p:sp>
        <p:nvSpPr>
          <p:cNvPr id="12" name="Shape 10"/>
          <p:cNvSpPr/>
          <p:nvPr/>
        </p:nvSpPr>
        <p:spPr>
          <a:xfrm>
            <a:off x="685800" y="2542032"/>
            <a:ext cx="4389120" cy="0"/>
          </a:xfrm>
          <a:prstGeom prst="line">
            <a:avLst/>
          </a:prstGeom>
          <a:noFill/>
          <a:ln w="6350">
            <a:solidFill>
              <a:srgbClr val="EBEBEB"/>
            </a:solidFill>
            <a:prstDash val="solid"/>
          </a:ln>
        </p:spPr>
      </p:sp>
      <p:sp>
        <p:nvSpPr>
          <p:cNvPr id="13" name="Text 11"/>
          <p:cNvSpPr txBox="1"/>
          <p:nvPr/>
        </p:nvSpPr>
        <p:spPr>
          <a:xfrm>
            <a:off x="685800" y="2596896"/>
            <a:ext cx="1005840" cy="182880"/>
          </a:xfrm>
          <a:prstGeom prst="rect">
            <a:avLst/>
          </a:prstGeom>
          <a:noFill/>
          <a:ln/>
        </p:spPr>
        <p:txBody>
          <a:bodyPr wrap="square" lIns="0" tIns="0" rIns="0" bIns="0" rtlCol="0" anchor="ctr"/>
          <a:lstStyle/>
          <a:p>
            <a:pPr indent="0" marL="0">
              <a:buNone/>
            </a:pPr>
            <a:r>
              <a:rPr lang="en-US" sz="750" spc="80" kern="0" dirty="0">
                <a:solidFill>
                  <a:srgbClr val="297A3A"/>
                </a:solidFill>
                <a:latin typeface="Cascadia Mono" pitchFamily="34" charset="0"/>
                <a:ea typeface="Cascadia Mono" pitchFamily="34" charset="-122"/>
                <a:cs typeface="Cascadia Mono" pitchFamily="34" charset="-120"/>
              </a:rPr>
              <a:t>SCENARIO 03</a:t>
            </a:r>
            <a:endParaRPr lang="en-US" sz="750" dirty="0"/>
          </a:p>
        </p:txBody>
      </p:sp>
      <p:sp>
        <p:nvSpPr>
          <p:cNvPr id="14" name="Text 12"/>
          <p:cNvSpPr txBox="1"/>
          <p:nvPr/>
        </p:nvSpPr>
        <p:spPr>
          <a:xfrm>
            <a:off x="1737360" y="2596896"/>
            <a:ext cx="1463040" cy="182880"/>
          </a:xfrm>
          <a:prstGeom prst="rect">
            <a:avLst/>
          </a:prstGeom>
          <a:noFill/>
          <a:ln/>
        </p:spPr>
        <p:txBody>
          <a:bodyPr wrap="square" lIns="0" tIns="0" rIns="0" bIns="0" rtlCol="0" anchor="ctr"/>
          <a:lstStyle/>
          <a:p>
            <a:pPr indent="0" marL="0">
              <a:buNone/>
            </a:pPr>
            <a:r>
              <a:rPr lang="en-US" sz="1000" b="1" dirty="0">
                <a:solidFill>
                  <a:srgbClr val="171717"/>
                </a:solidFill>
                <a:latin typeface="Pretendard" pitchFamily="34" charset="0"/>
                <a:ea typeface="Pretendard" pitchFamily="34" charset="-122"/>
                <a:cs typeface="Pretendard" pitchFamily="34" charset="-120"/>
              </a:rPr>
              <a:t>사방 협착 및 막다른 길</a:t>
            </a:r>
            <a:endParaRPr lang="en-US" sz="1000" dirty="0"/>
          </a:p>
        </p:txBody>
      </p:sp>
      <p:sp>
        <p:nvSpPr>
          <p:cNvPr id="15" name="Text 13"/>
          <p:cNvSpPr txBox="1"/>
          <p:nvPr/>
        </p:nvSpPr>
        <p:spPr>
          <a:xfrm>
            <a:off x="685800" y="2798064"/>
            <a:ext cx="4389120" cy="228600"/>
          </a:xfrm>
          <a:prstGeom prst="rect">
            <a:avLst/>
          </a:prstGeom>
          <a:noFill/>
          <a:ln/>
        </p:spPr>
        <p:txBody>
          <a:bodyPr wrap="square" lIns="0" tIns="0" rIns="0" bIns="0" rtlCol="0" anchor="ctr"/>
          <a:lstStyle/>
          <a:p>
            <a:pPr indent="0" marL="0">
              <a:buNone/>
            </a:pPr>
            <a:r>
              <a:rPr lang="en-US" sz="850" dirty="0">
                <a:solidFill>
                  <a:srgbClr val="4D4D4D"/>
                </a:solidFill>
                <a:latin typeface="Pretendard" pitchFamily="34" charset="0"/>
                <a:ea typeface="Pretendard" pitchFamily="34" charset="-122"/>
                <a:cs typeface="Pretendard" pitchFamily="34" charset="-120"/>
              </a:rPr>
              <a:t>사방 통과 여유 0.5m 미만 → STUCK(dead end), 자동 재개 없음</a:t>
            </a:r>
            <a:endParaRPr lang="en-US" sz="850" dirty="0"/>
          </a:p>
        </p:txBody>
      </p:sp>
      <p:sp>
        <p:nvSpPr>
          <p:cNvPr id="16" name="Shape 14"/>
          <p:cNvSpPr/>
          <p:nvPr/>
        </p:nvSpPr>
        <p:spPr>
          <a:xfrm>
            <a:off x="685800" y="3072384"/>
            <a:ext cx="4389120" cy="0"/>
          </a:xfrm>
          <a:prstGeom prst="line">
            <a:avLst/>
          </a:prstGeom>
          <a:noFill/>
          <a:ln w="6350">
            <a:solidFill>
              <a:srgbClr val="EBEBEB"/>
            </a:solidFill>
            <a:prstDash val="solid"/>
          </a:ln>
        </p:spPr>
      </p:sp>
      <p:sp>
        <p:nvSpPr>
          <p:cNvPr id="17" name="Text 15"/>
          <p:cNvSpPr txBox="1"/>
          <p:nvPr/>
        </p:nvSpPr>
        <p:spPr>
          <a:xfrm>
            <a:off x="685800" y="3127248"/>
            <a:ext cx="1005840" cy="182880"/>
          </a:xfrm>
          <a:prstGeom prst="rect">
            <a:avLst/>
          </a:prstGeom>
          <a:noFill/>
          <a:ln/>
        </p:spPr>
        <p:txBody>
          <a:bodyPr wrap="square" lIns="0" tIns="0" rIns="0" bIns="0" rtlCol="0" anchor="ctr"/>
          <a:lstStyle/>
          <a:p>
            <a:pPr indent="0" marL="0">
              <a:buNone/>
            </a:pPr>
            <a:r>
              <a:rPr lang="en-US" sz="750" spc="80" kern="0" dirty="0">
                <a:solidFill>
                  <a:srgbClr val="297A3A"/>
                </a:solidFill>
                <a:latin typeface="Cascadia Mono" pitchFamily="34" charset="0"/>
                <a:ea typeface="Cascadia Mono" pitchFamily="34" charset="-122"/>
                <a:cs typeface="Cascadia Mono" pitchFamily="34" charset="-120"/>
              </a:rPr>
              <a:t>SCENARIO 04</a:t>
            </a:r>
            <a:endParaRPr lang="en-US" sz="750" dirty="0"/>
          </a:p>
        </p:txBody>
      </p:sp>
      <p:sp>
        <p:nvSpPr>
          <p:cNvPr id="18" name="Text 16"/>
          <p:cNvSpPr txBox="1"/>
          <p:nvPr/>
        </p:nvSpPr>
        <p:spPr>
          <a:xfrm>
            <a:off x="1737360" y="3127248"/>
            <a:ext cx="1463040" cy="182880"/>
          </a:xfrm>
          <a:prstGeom prst="rect">
            <a:avLst/>
          </a:prstGeom>
          <a:noFill/>
          <a:ln/>
        </p:spPr>
        <p:txBody>
          <a:bodyPr wrap="square" lIns="0" tIns="0" rIns="0" bIns="0" rtlCol="0" anchor="ctr"/>
          <a:lstStyle/>
          <a:p>
            <a:pPr indent="0" marL="0">
              <a:buNone/>
            </a:pPr>
            <a:r>
              <a:rPr lang="en-US" sz="1000" b="1" dirty="0">
                <a:solidFill>
                  <a:srgbClr val="171717"/>
                </a:solidFill>
                <a:latin typeface="Pretendard" pitchFamily="34" charset="0"/>
                <a:ea typeface="Pretendard" pitchFamily="34" charset="-122"/>
                <a:cs typeface="Pretendard" pitchFamily="34" charset="-120"/>
              </a:rPr>
              <a:t>VR 원격 텔레포트 개입</a:t>
            </a:r>
            <a:endParaRPr lang="en-US" sz="1000" dirty="0"/>
          </a:p>
        </p:txBody>
      </p:sp>
      <p:sp>
        <p:nvSpPr>
          <p:cNvPr id="19" name="Text 17"/>
          <p:cNvSpPr txBox="1"/>
          <p:nvPr/>
        </p:nvSpPr>
        <p:spPr>
          <a:xfrm>
            <a:off x="685800" y="3328416"/>
            <a:ext cx="4389120" cy="228600"/>
          </a:xfrm>
          <a:prstGeom prst="rect">
            <a:avLst/>
          </a:prstGeom>
          <a:noFill/>
          <a:ln/>
        </p:spPr>
        <p:txBody>
          <a:bodyPr wrap="square" lIns="0" tIns="0" rIns="0" bIns="0" rtlCol="0" anchor="ctr"/>
          <a:lstStyle/>
          <a:p>
            <a:pPr indent="0" marL="0">
              <a:buNone/>
            </a:pPr>
            <a:r>
              <a:rPr lang="en-US" sz="850" dirty="0">
                <a:solidFill>
                  <a:srgbClr val="4D4D4D"/>
                </a:solidFill>
                <a:latin typeface="Pretendard" pitchFamily="34" charset="0"/>
                <a:ea typeface="Pretendard" pitchFamily="34" charset="-122"/>
                <a:cs typeface="Pretendard" pitchFamily="34" charset="-120"/>
              </a:rPr>
              <a:t>관제 맵 클릭 → 콕핏 즉시 전환(그 로봇만 MANUAL) → 양손 탈출</a:t>
            </a:r>
            <a:endParaRPr lang="en-US" sz="850" dirty="0"/>
          </a:p>
        </p:txBody>
      </p:sp>
      <p:sp>
        <p:nvSpPr>
          <p:cNvPr id="20" name="Shape 18"/>
          <p:cNvSpPr/>
          <p:nvPr/>
        </p:nvSpPr>
        <p:spPr>
          <a:xfrm>
            <a:off x="685800" y="3602736"/>
            <a:ext cx="4389120" cy="0"/>
          </a:xfrm>
          <a:prstGeom prst="line">
            <a:avLst/>
          </a:prstGeom>
          <a:noFill/>
          <a:ln w="6350">
            <a:solidFill>
              <a:srgbClr val="EBEBEB"/>
            </a:solidFill>
            <a:prstDash val="solid"/>
          </a:ln>
        </p:spPr>
      </p:sp>
      <p:sp>
        <p:nvSpPr>
          <p:cNvPr id="21" name="Text 19"/>
          <p:cNvSpPr txBox="1"/>
          <p:nvPr/>
        </p:nvSpPr>
        <p:spPr>
          <a:xfrm>
            <a:off x="685800" y="3657600"/>
            <a:ext cx="1005840" cy="182880"/>
          </a:xfrm>
          <a:prstGeom prst="rect">
            <a:avLst/>
          </a:prstGeom>
          <a:noFill/>
          <a:ln/>
        </p:spPr>
        <p:txBody>
          <a:bodyPr wrap="square" lIns="0" tIns="0" rIns="0" bIns="0" rtlCol="0" anchor="ctr"/>
          <a:lstStyle/>
          <a:p>
            <a:pPr indent="0" marL="0">
              <a:buNone/>
            </a:pPr>
            <a:r>
              <a:rPr lang="en-US" sz="750" spc="80" kern="0" dirty="0">
                <a:solidFill>
                  <a:srgbClr val="297A3A"/>
                </a:solidFill>
                <a:latin typeface="Cascadia Mono" pitchFamily="34" charset="0"/>
                <a:ea typeface="Cascadia Mono" pitchFamily="34" charset="-122"/>
                <a:cs typeface="Cascadia Mono" pitchFamily="34" charset="-120"/>
              </a:rPr>
              <a:t>SCENARIO 05</a:t>
            </a:r>
            <a:endParaRPr lang="en-US" sz="750" dirty="0"/>
          </a:p>
        </p:txBody>
      </p:sp>
      <p:sp>
        <p:nvSpPr>
          <p:cNvPr id="22" name="Text 20"/>
          <p:cNvSpPr txBox="1"/>
          <p:nvPr/>
        </p:nvSpPr>
        <p:spPr>
          <a:xfrm>
            <a:off x="1737360" y="3657600"/>
            <a:ext cx="1463040" cy="182880"/>
          </a:xfrm>
          <a:prstGeom prst="rect">
            <a:avLst/>
          </a:prstGeom>
          <a:noFill/>
          <a:ln/>
        </p:spPr>
        <p:txBody>
          <a:bodyPr wrap="square" lIns="0" tIns="0" rIns="0" bIns="0" rtlCol="0" anchor="ctr"/>
          <a:lstStyle/>
          <a:p>
            <a:pPr indent="0" marL="0">
              <a:buNone/>
            </a:pPr>
            <a:r>
              <a:rPr lang="en-US" sz="1000" b="1" dirty="0">
                <a:solidFill>
                  <a:srgbClr val="171717"/>
                </a:solidFill>
                <a:latin typeface="Pretendard" pitchFamily="34" charset="0"/>
                <a:ea typeface="Pretendard" pitchFamily="34" charset="-122"/>
                <a:cs typeface="Pretendard" pitchFamily="34" charset="-120"/>
              </a:rPr>
              <a:t>센서 결측치 방어 대응</a:t>
            </a:r>
            <a:endParaRPr lang="en-US" sz="1000" dirty="0"/>
          </a:p>
        </p:txBody>
      </p:sp>
      <p:sp>
        <p:nvSpPr>
          <p:cNvPr id="23" name="Text 21"/>
          <p:cNvSpPr txBox="1"/>
          <p:nvPr/>
        </p:nvSpPr>
        <p:spPr>
          <a:xfrm>
            <a:off x="685800" y="3858768"/>
            <a:ext cx="4389120" cy="228600"/>
          </a:xfrm>
          <a:prstGeom prst="rect">
            <a:avLst/>
          </a:prstGeom>
          <a:noFill/>
          <a:ln/>
        </p:spPr>
        <p:txBody>
          <a:bodyPr wrap="square" lIns="0" tIns="0" rIns="0" bIns="0" rtlCol="0" anchor="ctr"/>
          <a:lstStyle/>
          <a:p>
            <a:pPr indent="0" marL="0">
              <a:buNone/>
            </a:pPr>
            <a:r>
              <a:rPr lang="en-US" sz="850" dirty="0">
                <a:solidFill>
                  <a:srgbClr val="4D4D4D"/>
                </a:solidFill>
                <a:latin typeface="Pretendard" pitchFamily="34" charset="0"/>
                <a:ea typeface="Pretendard" pitchFamily="34" charset="-122"/>
                <a:cs typeface="Pretendard" pitchFamily="34" charset="-120"/>
              </a:rPr>
              <a:t>LD08 무효값 0.0 제외, 명령·odom 0.5s / scan 1.0s 끊김 시 정지</a:t>
            </a:r>
            <a:endParaRPr lang="en-US" sz="850" dirty="0"/>
          </a:p>
        </p:txBody>
      </p:sp>
      <p:sp>
        <p:nvSpPr>
          <p:cNvPr id="24" name="Shape 22"/>
          <p:cNvSpPr/>
          <p:nvPr/>
        </p:nvSpPr>
        <p:spPr>
          <a:xfrm>
            <a:off x="5532120" y="1417320"/>
            <a:ext cx="1417320" cy="1325880"/>
          </a:xfrm>
          <a:prstGeom prst="roundRect">
            <a:avLst>
              <a:gd name="adj" fmla="val 4138"/>
            </a:avLst>
          </a:prstGeom>
          <a:solidFill>
            <a:srgbClr val="FFFFFF"/>
          </a:solidFill>
          <a:ln w="9525">
            <a:solidFill>
              <a:srgbClr val="EBEBEB"/>
            </a:solidFill>
            <a:prstDash val="solid"/>
          </a:ln>
        </p:spPr>
      </p:sp>
      <p:sp>
        <p:nvSpPr>
          <p:cNvPr id="25" name="Text 23"/>
          <p:cNvSpPr txBox="1"/>
          <p:nvPr/>
        </p:nvSpPr>
        <p:spPr>
          <a:xfrm>
            <a:off x="5669280" y="1618488"/>
            <a:ext cx="1143000" cy="548640"/>
          </a:xfrm>
          <a:prstGeom prst="rect">
            <a:avLst/>
          </a:prstGeom>
          <a:noFill/>
          <a:ln/>
        </p:spPr>
        <p:txBody>
          <a:bodyPr wrap="square" lIns="0" tIns="0" rIns="0" bIns="0" rtlCol="0" anchor="ctr"/>
          <a:lstStyle/>
          <a:p>
            <a:pPr indent="0" marL="0">
              <a:buNone/>
            </a:pPr>
            <a:r>
              <a:rPr lang="en-US" sz="2600" spc="-150" kern="0" dirty="0">
                <a:solidFill>
                  <a:srgbClr val="171717"/>
                </a:solidFill>
                <a:latin typeface="Pretendard" pitchFamily="34" charset="0"/>
                <a:ea typeface="Pretendard" pitchFamily="34" charset="-122"/>
                <a:cs typeface="Pretendard" pitchFamily="34" charset="-120"/>
              </a:rPr>
              <a:t>73/73</a:t>
            </a:r>
            <a:endParaRPr lang="en-US" sz="2600" dirty="0"/>
          </a:p>
        </p:txBody>
      </p:sp>
      <p:sp>
        <p:nvSpPr>
          <p:cNvPr id="26" name="Text 24"/>
          <p:cNvSpPr txBox="1"/>
          <p:nvPr/>
        </p:nvSpPr>
        <p:spPr>
          <a:xfrm>
            <a:off x="5669280" y="2286000"/>
            <a:ext cx="1143000" cy="320040"/>
          </a:xfrm>
          <a:prstGeom prst="rect">
            <a:avLst/>
          </a:prstGeom>
          <a:noFill/>
          <a:ln/>
        </p:spPr>
        <p:txBody>
          <a:bodyPr wrap="square" lIns="0" tIns="0" rIns="0" bIns="0" rtlCol="0" anchor="ctr"/>
          <a:lstStyle/>
          <a:p>
            <a:pPr indent="0" marL="0">
              <a:buNone/>
            </a:pPr>
            <a:r>
              <a:rPr lang="en-US" sz="700" spc="80" kern="0" dirty="0">
                <a:solidFill>
                  <a:srgbClr val="666666"/>
                </a:solidFill>
                <a:latin typeface="Cascadia Mono" pitchFamily="34" charset="0"/>
                <a:ea typeface="Cascadia Mono" pitchFamily="34" charset="-122"/>
                <a:cs typeface="Cascadia Mono" pitchFamily="34" charset="-120"/>
              </a:rPr>
              <a:t>가상 브리지 자동 시험</a:t>
            </a:r>
            <a:endParaRPr lang="en-US" sz="700" dirty="0"/>
          </a:p>
        </p:txBody>
      </p:sp>
      <p:sp>
        <p:nvSpPr>
          <p:cNvPr id="27" name="Shape 25"/>
          <p:cNvSpPr/>
          <p:nvPr/>
        </p:nvSpPr>
        <p:spPr>
          <a:xfrm>
            <a:off x="7086600" y="1417320"/>
            <a:ext cx="1417320" cy="1325880"/>
          </a:xfrm>
          <a:prstGeom prst="roundRect">
            <a:avLst>
              <a:gd name="adj" fmla="val 4138"/>
            </a:avLst>
          </a:prstGeom>
          <a:solidFill>
            <a:srgbClr val="FFFFFF"/>
          </a:solidFill>
          <a:ln w="9525">
            <a:solidFill>
              <a:srgbClr val="EBEBEB"/>
            </a:solidFill>
            <a:prstDash val="solid"/>
          </a:ln>
        </p:spPr>
      </p:sp>
      <p:sp>
        <p:nvSpPr>
          <p:cNvPr id="28" name="Text 26"/>
          <p:cNvSpPr txBox="1"/>
          <p:nvPr/>
        </p:nvSpPr>
        <p:spPr>
          <a:xfrm>
            <a:off x="7223760" y="1618488"/>
            <a:ext cx="1143000" cy="548640"/>
          </a:xfrm>
          <a:prstGeom prst="rect">
            <a:avLst/>
          </a:prstGeom>
          <a:noFill/>
          <a:ln/>
        </p:spPr>
        <p:txBody>
          <a:bodyPr wrap="square" lIns="0" tIns="0" rIns="0" bIns="0" rtlCol="0" anchor="ctr"/>
          <a:lstStyle/>
          <a:p>
            <a:pPr indent="0" marL="0">
              <a:buNone/>
            </a:pPr>
            <a:r>
              <a:rPr lang="en-US" sz="2600" spc="-150" kern="0" dirty="0">
                <a:solidFill>
                  <a:srgbClr val="171717"/>
                </a:solidFill>
                <a:latin typeface="Pretendard" pitchFamily="34" charset="0"/>
                <a:ea typeface="Pretendard" pitchFamily="34" charset="-122"/>
                <a:cs typeface="Pretendard" pitchFamily="34" charset="-120"/>
              </a:rPr>
              <a:t>2대</a:t>
            </a:r>
            <a:endParaRPr lang="en-US" sz="2600" dirty="0"/>
          </a:p>
        </p:txBody>
      </p:sp>
      <p:sp>
        <p:nvSpPr>
          <p:cNvPr id="29" name="Text 27"/>
          <p:cNvSpPr txBox="1"/>
          <p:nvPr/>
        </p:nvSpPr>
        <p:spPr>
          <a:xfrm>
            <a:off x="7223760" y="2286000"/>
            <a:ext cx="1143000" cy="320040"/>
          </a:xfrm>
          <a:prstGeom prst="rect">
            <a:avLst/>
          </a:prstGeom>
          <a:noFill/>
          <a:ln/>
        </p:spPr>
        <p:txBody>
          <a:bodyPr wrap="square" lIns="0" tIns="0" rIns="0" bIns="0" rtlCol="0" anchor="ctr"/>
          <a:lstStyle/>
          <a:p>
            <a:pPr indent="0" marL="0">
              <a:buNone/>
            </a:pPr>
            <a:r>
              <a:rPr lang="en-US" sz="700" spc="80" kern="0" dirty="0">
                <a:solidFill>
                  <a:srgbClr val="666666"/>
                </a:solidFill>
                <a:latin typeface="Cascadia Mono" pitchFamily="34" charset="0"/>
                <a:ea typeface="Cascadia Mono" pitchFamily="34" charset="-122"/>
                <a:cs typeface="Cascadia Mono" pitchFamily="34" charset="-120"/>
              </a:rPr>
              <a:t>실물 TURTLEBOT3</a:t>
            </a:r>
            <a:endParaRPr lang="en-US" sz="700" dirty="0"/>
          </a:p>
        </p:txBody>
      </p:sp>
      <p:sp>
        <p:nvSpPr>
          <p:cNvPr id="30" name="Shape 28"/>
          <p:cNvSpPr/>
          <p:nvPr/>
        </p:nvSpPr>
        <p:spPr>
          <a:xfrm>
            <a:off x="5532120" y="2880360"/>
            <a:ext cx="1417320" cy="1325880"/>
          </a:xfrm>
          <a:prstGeom prst="roundRect">
            <a:avLst>
              <a:gd name="adj" fmla="val 4138"/>
            </a:avLst>
          </a:prstGeom>
          <a:solidFill>
            <a:srgbClr val="FFFFFF"/>
          </a:solidFill>
          <a:ln w="9525">
            <a:solidFill>
              <a:srgbClr val="EBEBEB"/>
            </a:solidFill>
            <a:prstDash val="solid"/>
          </a:ln>
        </p:spPr>
      </p:sp>
      <p:sp>
        <p:nvSpPr>
          <p:cNvPr id="31" name="Text 29"/>
          <p:cNvSpPr txBox="1"/>
          <p:nvPr/>
        </p:nvSpPr>
        <p:spPr>
          <a:xfrm>
            <a:off x="5669280" y="3081528"/>
            <a:ext cx="1143000" cy="548640"/>
          </a:xfrm>
          <a:prstGeom prst="rect">
            <a:avLst/>
          </a:prstGeom>
          <a:noFill/>
          <a:ln/>
        </p:spPr>
        <p:txBody>
          <a:bodyPr wrap="square" lIns="0" tIns="0" rIns="0" bIns="0" rtlCol="0" anchor="ctr"/>
          <a:lstStyle/>
          <a:p>
            <a:pPr indent="0" marL="0">
              <a:buNone/>
            </a:pPr>
            <a:r>
              <a:rPr lang="en-US" sz="2600" spc="-150" kern="0" dirty="0">
                <a:solidFill>
                  <a:srgbClr val="171717"/>
                </a:solidFill>
                <a:latin typeface="Pretendard" pitchFamily="34" charset="0"/>
                <a:ea typeface="Pretendard" pitchFamily="34" charset="-122"/>
                <a:cs typeface="Pretendard" pitchFamily="34" charset="-120"/>
              </a:rPr>
              <a:t>20 Hz</a:t>
            </a:r>
            <a:endParaRPr lang="en-US" sz="2600" dirty="0"/>
          </a:p>
        </p:txBody>
      </p:sp>
      <p:sp>
        <p:nvSpPr>
          <p:cNvPr id="32" name="Text 30"/>
          <p:cNvSpPr txBox="1"/>
          <p:nvPr/>
        </p:nvSpPr>
        <p:spPr>
          <a:xfrm>
            <a:off x="5669280" y="3749040"/>
            <a:ext cx="1143000" cy="320040"/>
          </a:xfrm>
          <a:prstGeom prst="rect">
            <a:avLst/>
          </a:prstGeom>
          <a:noFill/>
          <a:ln/>
        </p:spPr>
        <p:txBody>
          <a:bodyPr wrap="square" lIns="0" tIns="0" rIns="0" bIns="0" rtlCol="0" anchor="ctr"/>
          <a:lstStyle/>
          <a:p>
            <a:pPr indent="0" marL="0">
              <a:buNone/>
            </a:pPr>
            <a:r>
              <a:rPr lang="en-US" sz="700" spc="80" kern="0" dirty="0">
                <a:solidFill>
                  <a:srgbClr val="666666"/>
                </a:solidFill>
                <a:latin typeface="Cascadia Mono" pitchFamily="34" charset="0"/>
                <a:ea typeface="Cascadia Mono" pitchFamily="34" charset="-122"/>
                <a:cs typeface="Cascadia Mono" pitchFamily="34" charset="-120"/>
              </a:rPr>
              <a:t>제어 릴레이 주기</a:t>
            </a:r>
            <a:endParaRPr lang="en-US" sz="700" dirty="0"/>
          </a:p>
        </p:txBody>
      </p:sp>
      <p:sp>
        <p:nvSpPr>
          <p:cNvPr id="33" name="Shape 31"/>
          <p:cNvSpPr/>
          <p:nvPr/>
        </p:nvSpPr>
        <p:spPr>
          <a:xfrm>
            <a:off x="7086600" y="2880360"/>
            <a:ext cx="1417320" cy="1325880"/>
          </a:xfrm>
          <a:prstGeom prst="roundRect">
            <a:avLst>
              <a:gd name="adj" fmla="val 4138"/>
            </a:avLst>
          </a:prstGeom>
          <a:solidFill>
            <a:srgbClr val="FFFFFF"/>
          </a:solidFill>
          <a:ln w="9525">
            <a:solidFill>
              <a:srgbClr val="EBEBEB"/>
            </a:solidFill>
            <a:prstDash val="solid"/>
          </a:ln>
        </p:spPr>
      </p:sp>
      <p:sp>
        <p:nvSpPr>
          <p:cNvPr id="34" name="Text 32"/>
          <p:cNvSpPr txBox="1"/>
          <p:nvPr/>
        </p:nvSpPr>
        <p:spPr>
          <a:xfrm>
            <a:off x="7223760" y="3081528"/>
            <a:ext cx="1143000" cy="548640"/>
          </a:xfrm>
          <a:prstGeom prst="rect">
            <a:avLst/>
          </a:prstGeom>
          <a:noFill/>
          <a:ln/>
        </p:spPr>
        <p:txBody>
          <a:bodyPr wrap="square" lIns="0" tIns="0" rIns="0" bIns="0" rtlCol="0" anchor="ctr"/>
          <a:lstStyle/>
          <a:p>
            <a:pPr indent="0" marL="0">
              <a:buNone/>
            </a:pPr>
            <a:r>
              <a:rPr lang="en-US" sz="2600" spc="-150" kern="0" dirty="0">
                <a:solidFill>
                  <a:srgbClr val="171717"/>
                </a:solidFill>
                <a:latin typeface="Pretendard" pitchFamily="34" charset="0"/>
                <a:ea typeface="Pretendard" pitchFamily="34" charset="-122"/>
                <a:cs typeface="Pretendard" pitchFamily="34" charset="-120"/>
              </a:rPr>
              <a:t>15.7 fps</a:t>
            </a:r>
            <a:endParaRPr lang="en-US" sz="2600" dirty="0"/>
          </a:p>
        </p:txBody>
      </p:sp>
      <p:sp>
        <p:nvSpPr>
          <p:cNvPr id="35" name="Text 33"/>
          <p:cNvSpPr txBox="1"/>
          <p:nvPr/>
        </p:nvSpPr>
        <p:spPr>
          <a:xfrm>
            <a:off x="7223760" y="3749040"/>
            <a:ext cx="1143000" cy="320040"/>
          </a:xfrm>
          <a:prstGeom prst="rect">
            <a:avLst/>
          </a:prstGeom>
          <a:noFill/>
          <a:ln/>
        </p:spPr>
        <p:txBody>
          <a:bodyPr wrap="square" lIns="0" tIns="0" rIns="0" bIns="0" rtlCol="0" anchor="ctr"/>
          <a:lstStyle/>
          <a:p>
            <a:pPr indent="0" marL="0">
              <a:buNone/>
            </a:pPr>
            <a:r>
              <a:rPr lang="en-US" sz="700" spc="80" kern="0" dirty="0">
                <a:solidFill>
                  <a:srgbClr val="666666"/>
                </a:solidFill>
                <a:latin typeface="Cascadia Mono" pitchFamily="34" charset="0"/>
                <a:ea typeface="Cascadia Mono" pitchFamily="34" charset="-122"/>
                <a:cs typeface="Cascadia Mono" pitchFamily="34" charset="-120"/>
              </a:rPr>
              <a:t>실측 영상 수신</a:t>
            </a:r>
            <a:endParaRPr lang="en-US" sz="700" dirty="0"/>
          </a:p>
        </p:txBody>
      </p:sp>
      <p:sp>
        <p:nvSpPr>
          <p:cNvPr id="36" name="Text 34"/>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000000"/>
                </a:solidFill>
                <a:latin typeface="Pretendard" pitchFamily="34" charset="0"/>
                <a:ea typeface="Pretendard" pitchFamily="34" charset="-122"/>
                <a:cs typeface="Pretendard" pitchFamily="34" charset="-120"/>
              </a:rPr>
              <a:t>▲</a:t>
            </a:r>
            <a:endParaRPr lang="en-US" sz="900" dirty="0"/>
          </a:p>
        </p:txBody>
      </p:sp>
      <p:sp>
        <p:nvSpPr>
          <p:cNvPr id="37" name="Text 35"/>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666666"/>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38" name="Text 36"/>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666666"/>
                </a:solidFill>
                <a:latin typeface="Cascadia Mono" pitchFamily="34" charset="0"/>
                <a:ea typeface="Cascadia Mono" pitchFamily="34" charset="-122"/>
                <a:cs typeface="Cascadia Mono" pitchFamily="34" charset="-120"/>
              </a:rPr>
              <a:t>08 / 10</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201168"/>
          </a:xfrm>
          <a:prstGeom prst="rect">
            <a:avLst/>
          </a:prstGeom>
          <a:noFill/>
          <a:ln/>
        </p:spPr>
        <p:txBody>
          <a:bodyPr wrap="square" lIns="0" tIns="0" rIns="0" bIns="0" rtlCol="0" anchor="ctr"/>
          <a:lstStyle/>
          <a:p>
            <a:pPr indent="0" marL="0">
              <a:buNone/>
            </a:pPr>
            <a:r>
              <a:rPr lang="en-US" sz="850" spc="120" kern="0" dirty="0">
                <a:solidFill>
                  <a:srgbClr val="171717"/>
                </a:solidFill>
                <a:latin typeface="Cascadia Mono" pitchFamily="34" charset="0"/>
                <a:ea typeface="Cascadia Mono" pitchFamily="34" charset="-122"/>
                <a:cs typeface="Cascadia Mono" pitchFamily="34" charset="-120"/>
              </a:rPr>
              <a:t>08 — LIMITATIONS</a:t>
            </a:r>
            <a:endParaRPr lang="en-US" sz="850" dirty="0"/>
          </a:p>
        </p:txBody>
      </p:sp>
      <p:sp>
        <p:nvSpPr>
          <p:cNvPr id="3" name="Text 1"/>
          <p:cNvSpPr txBox="1"/>
          <p:nvPr/>
        </p:nvSpPr>
        <p:spPr>
          <a:xfrm>
            <a:off x="502920" y="713232"/>
            <a:ext cx="8138160" cy="566928"/>
          </a:xfrm>
          <a:prstGeom prst="rect">
            <a:avLst/>
          </a:prstGeom>
          <a:noFill/>
          <a:ln/>
        </p:spPr>
        <p:txBody>
          <a:bodyPr wrap="square" lIns="0" tIns="0" rIns="0" bIns="0" rtlCol="0" anchor="ctr"/>
          <a:lstStyle/>
          <a:p>
            <a:pPr indent="0" marL="0">
              <a:buNone/>
            </a:pPr>
            <a:r>
              <a:rPr lang="en-US" sz="2800" spc="-100" kern="0" dirty="0">
                <a:solidFill>
                  <a:srgbClr val="171717"/>
                </a:solidFill>
                <a:latin typeface="Pretendard" pitchFamily="34" charset="0"/>
                <a:ea typeface="Pretendard" pitchFamily="34" charset="-122"/>
                <a:cs typeface="Pretendard" pitchFamily="34" charset="-120"/>
              </a:rPr>
              <a:t>시스템 한계 및 기술적 과제</a:t>
            </a:r>
            <a:endParaRPr lang="en-US" sz="2800" dirty="0"/>
          </a:p>
        </p:txBody>
      </p:sp>
      <p:sp>
        <p:nvSpPr>
          <p:cNvPr id="4" name="Shape 2"/>
          <p:cNvSpPr/>
          <p:nvPr/>
        </p:nvSpPr>
        <p:spPr>
          <a:xfrm>
            <a:off x="502920" y="1508760"/>
            <a:ext cx="2590800" cy="2788920"/>
          </a:xfrm>
          <a:prstGeom prst="roundRect">
            <a:avLst>
              <a:gd name="adj" fmla="val 2118"/>
            </a:avLst>
          </a:prstGeom>
          <a:solidFill>
            <a:srgbClr val="FFFFFF"/>
          </a:solidFill>
          <a:ln w="9525">
            <a:solidFill>
              <a:srgbClr val="EBEBEB"/>
            </a:solidFill>
            <a:prstDash val="solid"/>
          </a:ln>
        </p:spPr>
      </p:sp>
      <p:sp>
        <p:nvSpPr>
          <p:cNvPr id="5" name="Text 3"/>
          <p:cNvSpPr txBox="1"/>
          <p:nvPr/>
        </p:nvSpPr>
        <p:spPr>
          <a:xfrm>
            <a:off x="704088" y="1709928"/>
            <a:ext cx="914400" cy="228600"/>
          </a:xfrm>
          <a:prstGeom prst="rect">
            <a:avLst/>
          </a:prstGeom>
          <a:noFill/>
          <a:ln/>
        </p:spPr>
        <p:txBody>
          <a:bodyPr wrap="square" lIns="0" tIns="0" rIns="0" bIns="0" rtlCol="0" anchor="ctr"/>
          <a:lstStyle/>
          <a:p>
            <a:pPr indent="0" marL="0">
              <a:buNone/>
            </a:pPr>
            <a:r>
              <a:rPr lang="en-US" sz="900" spc="120" kern="0" dirty="0">
                <a:solidFill>
                  <a:srgbClr val="666666"/>
                </a:solidFill>
                <a:latin typeface="Cascadia Mono" pitchFamily="34" charset="0"/>
                <a:ea typeface="Cascadia Mono" pitchFamily="34" charset="-122"/>
                <a:cs typeface="Cascadia Mono" pitchFamily="34" charset="-120"/>
              </a:rPr>
              <a:t>01</a:t>
            </a:r>
            <a:endParaRPr lang="en-US" sz="900" dirty="0"/>
          </a:p>
        </p:txBody>
      </p:sp>
      <p:sp>
        <p:nvSpPr>
          <p:cNvPr id="6" name="Text 4"/>
          <p:cNvSpPr txBox="1"/>
          <p:nvPr/>
        </p:nvSpPr>
        <p:spPr>
          <a:xfrm>
            <a:off x="704088" y="2011680"/>
            <a:ext cx="2188464" cy="411480"/>
          </a:xfrm>
          <a:prstGeom prst="rect">
            <a:avLst/>
          </a:prstGeom>
          <a:noFill/>
          <a:ln/>
        </p:spPr>
        <p:txBody>
          <a:bodyPr wrap="square" lIns="0" tIns="0" rIns="0" bIns="0" rtlCol="0" anchor="ctr"/>
          <a:lstStyle/>
          <a:p>
            <a:pPr indent="0" marL="0">
              <a:buNone/>
            </a:pPr>
            <a:r>
              <a:rPr lang="en-US" sz="1600" spc="-60" kern="0" dirty="0">
                <a:solidFill>
                  <a:srgbClr val="171717"/>
                </a:solidFill>
                <a:latin typeface="Pretendard" pitchFamily="34" charset="0"/>
                <a:ea typeface="Pretendard" pitchFamily="34" charset="-122"/>
                <a:cs typeface="Pretendard" pitchFamily="34" charset="-120"/>
              </a:rPr>
              <a:t>2D LiDAR 단일 평면 한계</a:t>
            </a:r>
            <a:endParaRPr lang="en-US" sz="1600" dirty="0"/>
          </a:p>
        </p:txBody>
      </p:sp>
      <p:sp>
        <p:nvSpPr>
          <p:cNvPr id="7" name="Text 5"/>
          <p:cNvSpPr txBox="1"/>
          <p:nvPr/>
        </p:nvSpPr>
        <p:spPr>
          <a:xfrm>
            <a:off x="704088" y="2560320"/>
            <a:ext cx="2188464" cy="914400"/>
          </a:xfrm>
          <a:prstGeom prst="rect">
            <a:avLst/>
          </a:prstGeom>
          <a:noFill/>
          <a:ln/>
        </p:spPr>
        <p:txBody>
          <a:bodyPr wrap="square" lIns="0" tIns="0" rIns="0" bIns="0" rtlCol="0" anchor="t"/>
          <a:lstStyle/>
          <a:p>
            <a:pPr indent="0" marL="0">
              <a:lnSpc>
                <a:spcPct val="120000"/>
              </a:lnSpc>
              <a:buNone/>
            </a:pPr>
            <a:r>
              <a:rPr lang="en-US" sz="1000" dirty="0">
                <a:solidFill>
                  <a:srgbClr val="4D4D4D"/>
                </a:solidFill>
                <a:latin typeface="Pretendard" pitchFamily="34" charset="0"/>
                <a:ea typeface="Pretendard" pitchFamily="34" charset="-122"/>
                <a:cs typeface="Pretendard" pitchFamily="34" charset="-120"/>
              </a:rPr>
              <a:t>지상 0.17m 평면만 스캔하여 상부 돌출 적재물과 천장 행잉 케이블 미감지.</a:t>
            </a:r>
            <a:endParaRPr lang="en-US" sz="1000" dirty="0"/>
          </a:p>
        </p:txBody>
      </p:sp>
      <p:sp>
        <p:nvSpPr>
          <p:cNvPr id="8" name="Shape 6"/>
          <p:cNvSpPr/>
          <p:nvPr/>
        </p:nvSpPr>
        <p:spPr>
          <a:xfrm>
            <a:off x="704088" y="3520440"/>
            <a:ext cx="2188464" cy="0"/>
          </a:xfrm>
          <a:prstGeom prst="line">
            <a:avLst/>
          </a:prstGeom>
          <a:noFill/>
          <a:ln w="9525">
            <a:solidFill>
              <a:srgbClr val="EBEBEB"/>
            </a:solidFill>
            <a:prstDash val="solid"/>
          </a:ln>
        </p:spPr>
      </p:sp>
      <p:sp>
        <p:nvSpPr>
          <p:cNvPr id="9" name="Text 7"/>
          <p:cNvSpPr txBox="1"/>
          <p:nvPr/>
        </p:nvSpPr>
        <p:spPr>
          <a:xfrm>
            <a:off x="704088" y="3593592"/>
            <a:ext cx="2188464" cy="164592"/>
          </a:xfrm>
          <a:prstGeom prst="rect">
            <a:avLst/>
          </a:prstGeom>
          <a:noFill/>
          <a:ln/>
        </p:spPr>
        <p:txBody>
          <a:bodyPr wrap="square" lIns="0" tIns="0" rIns="0" bIns="0" rtlCol="0" anchor="ctr"/>
          <a:lstStyle/>
          <a:p>
            <a:pPr indent="0" marL="0">
              <a:buNone/>
            </a:pPr>
            <a:r>
              <a:rPr lang="en-US" sz="700" spc="80" kern="0" dirty="0">
                <a:solidFill>
                  <a:srgbClr val="297A3A"/>
                </a:solidFill>
                <a:latin typeface="Cascadia Mono" pitchFamily="34" charset="0"/>
                <a:ea typeface="Cascadia Mono" pitchFamily="34" charset="-122"/>
                <a:cs typeface="Cascadia Mono" pitchFamily="34" charset="-120"/>
              </a:rPr>
              <a:t>ROADMAP</a:t>
            </a:r>
            <a:endParaRPr lang="en-US" sz="700" dirty="0"/>
          </a:p>
        </p:txBody>
      </p:sp>
      <p:sp>
        <p:nvSpPr>
          <p:cNvPr id="10" name="Text 8"/>
          <p:cNvSpPr txBox="1"/>
          <p:nvPr/>
        </p:nvSpPr>
        <p:spPr>
          <a:xfrm>
            <a:off x="704088" y="3776472"/>
            <a:ext cx="2188464" cy="457200"/>
          </a:xfrm>
          <a:prstGeom prst="rect">
            <a:avLst/>
          </a:prstGeom>
          <a:noFill/>
          <a:ln/>
        </p:spPr>
        <p:txBody>
          <a:bodyPr wrap="square" lIns="0" tIns="0" rIns="0" bIns="0" rtlCol="0" anchor="t"/>
          <a:lstStyle/>
          <a:p>
            <a:pPr indent="0" marL="0">
              <a:lnSpc>
                <a:spcPct val="120000"/>
              </a:lnSpc>
              <a:buNone/>
            </a:pPr>
            <a:r>
              <a:rPr lang="en-US" sz="900" dirty="0">
                <a:solidFill>
                  <a:srgbClr val="171717"/>
                </a:solidFill>
                <a:latin typeface="Pretendard" pitchFamily="34" charset="0"/>
                <a:ea typeface="Pretendard" pitchFamily="34" charset="-122"/>
                <a:cs typeface="Pretendard" pitchFamily="34" charset="-120"/>
              </a:rPr>
              <a:t>향후 과제: RGB-D 심도 카메라 및 상부 초음파 센서 다중 융합</a:t>
            </a:r>
            <a:endParaRPr lang="en-US" sz="900" dirty="0"/>
          </a:p>
        </p:txBody>
      </p:sp>
      <p:sp>
        <p:nvSpPr>
          <p:cNvPr id="11" name="Shape 9"/>
          <p:cNvSpPr/>
          <p:nvPr/>
        </p:nvSpPr>
        <p:spPr>
          <a:xfrm>
            <a:off x="3276600" y="1508760"/>
            <a:ext cx="2590800" cy="2788920"/>
          </a:xfrm>
          <a:prstGeom prst="roundRect">
            <a:avLst>
              <a:gd name="adj" fmla="val 2118"/>
            </a:avLst>
          </a:prstGeom>
          <a:solidFill>
            <a:srgbClr val="FFFFFF"/>
          </a:solidFill>
          <a:ln w="9525">
            <a:solidFill>
              <a:srgbClr val="EBEBEB"/>
            </a:solidFill>
            <a:prstDash val="solid"/>
          </a:ln>
        </p:spPr>
      </p:sp>
      <p:sp>
        <p:nvSpPr>
          <p:cNvPr id="12" name="Text 10"/>
          <p:cNvSpPr txBox="1"/>
          <p:nvPr/>
        </p:nvSpPr>
        <p:spPr>
          <a:xfrm>
            <a:off x="3477768" y="1709928"/>
            <a:ext cx="914400" cy="228600"/>
          </a:xfrm>
          <a:prstGeom prst="rect">
            <a:avLst/>
          </a:prstGeom>
          <a:noFill/>
          <a:ln/>
        </p:spPr>
        <p:txBody>
          <a:bodyPr wrap="square" lIns="0" tIns="0" rIns="0" bIns="0" rtlCol="0" anchor="ctr"/>
          <a:lstStyle/>
          <a:p>
            <a:pPr indent="0" marL="0">
              <a:buNone/>
            </a:pPr>
            <a:r>
              <a:rPr lang="en-US" sz="900" spc="120" kern="0" dirty="0">
                <a:solidFill>
                  <a:srgbClr val="666666"/>
                </a:solidFill>
                <a:latin typeface="Cascadia Mono" pitchFamily="34" charset="0"/>
                <a:ea typeface="Cascadia Mono" pitchFamily="34" charset="-122"/>
                <a:cs typeface="Cascadia Mono" pitchFamily="34" charset="-120"/>
              </a:rPr>
              <a:t>02</a:t>
            </a:r>
            <a:endParaRPr lang="en-US" sz="900" dirty="0"/>
          </a:p>
        </p:txBody>
      </p:sp>
      <p:sp>
        <p:nvSpPr>
          <p:cNvPr id="13" name="Text 11"/>
          <p:cNvSpPr txBox="1"/>
          <p:nvPr/>
        </p:nvSpPr>
        <p:spPr>
          <a:xfrm>
            <a:off x="3477768" y="2011680"/>
            <a:ext cx="2188464" cy="411480"/>
          </a:xfrm>
          <a:prstGeom prst="rect">
            <a:avLst/>
          </a:prstGeom>
          <a:noFill/>
          <a:ln/>
        </p:spPr>
        <p:txBody>
          <a:bodyPr wrap="square" lIns="0" tIns="0" rIns="0" bIns="0" rtlCol="0" anchor="ctr"/>
          <a:lstStyle/>
          <a:p>
            <a:pPr indent="0" marL="0">
              <a:buNone/>
            </a:pPr>
            <a:r>
              <a:rPr lang="en-US" sz="1600" spc="-60" kern="0" dirty="0">
                <a:solidFill>
                  <a:srgbClr val="171717"/>
                </a:solidFill>
                <a:latin typeface="Pretendard" pitchFamily="34" charset="0"/>
                <a:ea typeface="Pretendard" pitchFamily="34" charset="-122"/>
                <a:cs typeface="Pretendard" pitchFamily="34" charset="-120"/>
              </a:rPr>
              <a:t>산업 현장 통신 음영 구역</a:t>
            </a:r>
            <a:endParaRPr lang="en-US" sz="1600" dirty="0"/>
          </a:p>
        </p:txBody>
      </p:sp>
      <p:sp>
        <p:nvSpPr>
          <p:cNvPr id="14" name="Text 12"/>
          <p:cNvSpPr txBox="1"/>
          <p:nvPr/>
        </p:nvSpPr>
        <p:spPr>
          <a:xfrm>
            <a:off x="3477768" y="2560320"/>
            <a:ext cx="2188464" cy="914400"/>
          </a:xfrm>
          <a:prstGeom prst="rect">
            <a:avLst/>
          </a:prstGeom>
          <a:noFill/>
          <a:ln/>
        </p:spPr>
        <p:txBody>
          <a:bodyPr wrap="square" lIns="0" tIns="0" rIns="0" bIns="0" rtlCol="0" anchor="t"/>
          <a:lstStyle/>
          <a:p>
            <a:pPr indent="0" marL="0">
              <a:lnSpc>
                <a:spcPct val="120000"/>
              </a:lnSpc>
              <a:buNone/>
            </a:pPr>
            <a:r>
              <a:rPr lang="en-US" sz="1000" dirty="0">
                <a:solidFill>
                  <a:srgbClr val="4D4D4D"/>
                </a:solidFill>
                <a:latin typeface="Pretendard" pitchFamily="34" charset="0"/>
                <a:ea typeface="Pretendard" pitchFamily="34" charset="-122"/>
                <a:cs typeface="Pretendard" pitchFamily="34" charset="-120"/>
              </a:rPr>
              <a:t>공장 내 대형 철골 구조물 차폐 및 Wi-Fi 음영 구역에서 원격 제어 지연 발생 위험.</a:t>
            </a:r>
            <a:endParaRPr lang="en-US" sz="1000" dirty="0"/>
          </a:p>
        </p:txBody>
      </p:sp>
      <p:sp>
        <p:nvSpPr>
          <p:cNvPr id="15" name="Shape 13"/>
          <p:cNvSpPr/>
          <p:nvPr/>
        </p:nvSpPr>
        <p:spPr>
          <a:xfrm>
            <a:off x="3477768" y="3520440"/>
            <a:ext cx="2188464" cy="0"/>
          </a:xfrm>
          <a:prstGeom prst="line">
            <a:avLst/>
          </a:prstGeom>
          <a:noFill/>
          <a:ln w="9525">
            <a:solidFill>
              <a:srgbClr val="EBEBEB"/>
            </a:solidFill>
            <a:prstDash val="solid"/>
          </a:ln>
        </p:spPr>
      </p:sp>
      <p:sp>
        <p:nvSpPr>
          <p:cNvPr id="16" name="Text 14"/>
          <p:cNvSpPr txBox="1"/>
          <p:nvPr/>
        </p:nvSpPr>
        <p:spPr>
          <a:xfrm>
            <a:off x="3477768" y="3593592"/>
            <a:ext cx="2188464" cy="164592"/>
          </a:xfrm>
          <a:prstGeom prst="rect">
            <a:avLst/>
          </a:prstGeom>
          <a:noFill/>
          <a:ln/>
        </p:spPr>
        <p:txBody>
          <a:bodyPr wrap="square" lIns="0" tIns="0" rIns="0" bIns="0" rtlCol="0" anchor="ctr"/>
          <a:lstStyle/>
          <a:p>
            <a:pPr indent="0" marL="0">
              <a:buNone/>
            </a:pPr>
            <a:r>
              <a:rPr lang="en-US" sz="700" spc="80" kern="0" dirty="0">
                <a:solidFill>
                  <a:srgbClr val="297A3A"/>
                </a:solidFill>
                <a:latin typeface="Cascadia Mono" pitchFamily="34" charset="0"/>
                <a:ea typeface="Cascadia Mono" pitchFamily="34" charset="-122"/>
                <a:cs typeface="Cascadia Mono" pitchFamily="34" charset="-120"/>
              </a:rPr>
              <a:t>ROADMAP</a:t>
            </a:r>
            <a:endParaRPr lang="en-US" sz="700" dirty="0"/>
          </a:p>
        </p:txBody>
      </p:sp>
      <p:sp>
        <p:nvSpPr>
          <p:cNvPr id="17" name="Text 15"/>
          <p:cNvSpPr txBox="1"/>
          <p:nvPr/>
        </p:nvSpPr>
        <p:spPr>
          <a:xfrm>
            <a:off x="3477768" y="3776472"/>
            <a:ext cx="2188464" cy="457200"/>
          </a:xfrm>
          <a:prstGeom prst="rect">
            <a:avLst/>
          </a:prstGeom>
          <a:noFill/>
          <a:ln/>
        </p:spPr>
        <p:txBody>
          <a:bodyPr wrap="square" lIns="0" tIns="0" rIns="0" bIns="0" rtlCol="0" anchor="t"/>
          <a:lstStyle/>
          <a:p>
            <a:pPr indent="0" marL="0">
              <a:lnSpc>
                <a:spcPct val="120000"/>
              </a:lnSpc>
              <a:buNone/>
            </a:pPr>
            <a:r>
              <a:rPr lang="en-US" sz="900" dirty="0">
                <a:solidFill>
                  <a:srgbClr val="171717"/>
                </a:solidFill>
                <a:latin typeface="Pretendard" pitchFamily="34" charset="0"/>
                <a:ea typeface="Pretendard" pitchFamily="34" charset="-122"/>
                <a:cs typeface="Pretendard" pitchFamily="34" charset="-120"/>
              </a:rPr>
              <a:t>향후 과제: 이음5G(Private 5G) 인프라 연계 및 로봇 온디바이스 비상 SLAM</a:t>
            </a:r>
            <a:endParaRPr lang="en-US" sz="900" dirty="0"/>
          </a:p>
        </p:txBody>
      </p:sp>
      <p:sp>
        <p:nvSpPr>
          <p:cNvPr id="18" name="Shape 16"/>
          <p:cNvSpPr/>
          <p:nvPr/>
        </p:nvSpPr>
        <p:spPr>
          <a:xfrm>
            <a:off x="6050280" y="1508760"/>
            <a:ext cx="2590800" cy="2788920"/>
          </a:xfrm>
          <a:prstGeom prst="roundRect">
            <a:avLst>
              <a:gd name="adj" fmla="val 2118"/>
            </a:avLst>
          </a:prstGeom>
          <a:solidFill>
            <a:srgbClr val="FFFFFF"/>
          </a:solidFill>
          <a:ln w="9525">
            <a:solidFill>
              <a:srgbClr val="EBEBEB"/>
            </a:solidFill>
            <a:prstDash val="solid"/>
          </a:ln>
        </p:spPr>
      </p:sp>
      <p:sp>
        <p:nvSpPr>
          <p:cNvPr id="19" name="Text 17"/>
          <p:cNvSpPr txBox="1"/>
          <p:nvPr/>
        </p:nvSpPr>
        <p:spPr>
          <a:xfrm>
            <a:off x="6251448" y="1709928"/>
            <a:ext cx="914400" cy="228600"/>
          </a:xfrm>
          <a:prstGeom prst="rect">
            <a:avLst/>
          </a:prstGeom>
          <a:noFill/>
          <a:ln/>
        </p:spPr>
        <p:txBody>
          <a:bodyPr wrap="square" lIns="0" tIns="0" rIns="0" bIns="0" rtlCol="0" anchor="ctr"/>
          <a:lstStyle/>
          <a:p>
            <a:pPr indent="0" marL="0">
              <a:buNone/>
            </a:pPr>
            <a:r>
              <a:rPr lang="en-US" sz="900" spc="120" kern="0" dirty="0">
                <a:solidFill>
                  <a:srgbClr val="666666"/>
                </a:solidFill>
                <a:latin typeface="Cascadia Mono" pitchFamily="34" charset="0"/>
                <a:ea typeface="Cascadia Mono" pitchFamily="34" charset="-122"/>
                <a:cs typeface="Cascadia Mono" pitchFamily="34" charset="-120"/>
              </a:rPr>
              <a:t>03</a:t>
            </a:r>
            <a:endParaRPr lang="en-US" sz="900" dirty="0"/>
          </a:p>
        </p:txBody>
      </p:sp>
      <p:sp>
        <p:nvSpPr>
          <p:cNvPr id="20" name="Text 18"/>
          <p:cNvSpPr txBox="1"/>
          <p:nvPr/>
        </p:nvSpPr>
        <p:spPr>
          <a:xfrm>
            <a:off x="6251448" y="2011680"/>
            <a:ext cx="2188464" cy="411480"/>
          </a:xfrm>
          <a:prstGeom prst="rect">
            <a:avLst/>
          </a:prstGeom>
          <a:noFill/>
          <a:ln/>
        </p:spPr>
        <p:txBody>
          <a:bodyPr wrap="square" lIns="0" tIns="0" rIns="0" bIns="0" rtlCol="0" anchor="ctr"/>
          <a:lstStyle/>
          <a:p>
            <a:pPr indent="0" marL="0">
              <a:buNone/>
            </a:pPr>
            <a:r>
              <a:rPr lang="en-US" sz="1600" spc="-60" kern="0" dirty="0">
                <a:solidFill>
                  <a:srgbClr val="171717"/>
                </a:solidFill>
                <a:latin typeface="Pretendard" pitchFamily="34" charset="0"/>
                <a:ea typeface="Pretendard" pitchFamily="34" charset="-122"/>
                <a:cs typeface="Pretendard" pitchFamily="34" charset="-120"/>
              </a:rPr>
              <a:t>다대 로봇 동시 교착 병목</a:t>
            </a:r>
            <a:endParaRPr lang="en-US" sz="1600" dirty="0"/>
          </a:p>
        </p:txBody>
      </p:sp>
      <p:sp>
        <p:nvSpPr>
          <p:cNvPr id="21" name="Text 19"/>
          <p:cNvSpPr txBox="1"/>
          <p:nvPr/>
        </p:nvSpPr>
        <p:spPr>
          <a:xfrm>
            <a:off x="6251448" y="2560320"/>
            <a:ext cx="2188464" cy="914400"/>
          </a:xfrm>
          <a:prstGeom prst="rect">
            <a:avLst/>
          </a:prstGeom>
          <a:noFill/>
          <a:ln/>
        </p:spPr>
        <p:txBody>
          <a:bodyPr wrap="square" lIns="0" tIns="0" rIns="0" bIns="0" rtlCol="0" anchor="t"/>
          <a:lstStyle/>
          <a:p>
            <a:pPr indent="0" marL="0">
              <a:lnSpc>
                <a:spcPct val="120000"/>
              </a:lnSpc>
              <a:buNone/>
            </a:pPr>
            <a:r>
              <a:rPr lang="en-US" sz="1000" dirty="0">
                <a:solidFill>
                  <a:srgbClr val="4D4D4D"/>
                </a:solidFill>
                <a:latin typeface="Pretendard" pitchFamily="34" charset="0"/>
                <a:ea typeface="Pretendard" pitchFamily="34" charset="-122"/>
                <a:cs typeface="Pretendard" pitchFamily="34" charset="-120"/>
              </a:rPr>
              <a:t>3대 이상 다중 AGV가 좁은 병목 구간에서 동시 교착 시 1인 작업자 순차 개입 대기 발생.</a:t>
            </a:r>
            <a:endParaRPr lang="en-US" sz="1000" dirty="0"/>
          </a:p>
        </p:txBody>
      </p:sp>
      <p:sp>
        <p:nvSpPr>
          <p:cNvPr id="22" name="Shape 20"/>
          <p:cNvSpPr/>
          <p:nvPr/>
        </p:nvSpPr>
        <p:spPr>
          <a:xfrm>
            <a:off x="6251448" y="3520440"/>
            <a:ext cx="2188464" cy="0"/>
          </a:xfrm>
          <a:prstGeom prst="line">
            <a:avLst/>
          </a:prstGeom>
          <a:noFill/>
          <a:ln w="9525">
            <a:solidFill>
              <a:srgbClr val="EBEBEB"/>
            </a:solidFill>
            <a:prstDash val="solid"/>
          </a:ln>
        </p:spPr>
      </p:sp>
      <p:sp>
        <p:nvSpPr>
          <p:cNvPr id="23" name="Text 21"/>
          <p:cNvSpPr txBox="1"/>
          <p:nvPr/>
        </p:nvSpPr>
        <p:spPr>
          <a:xfrm>
            <a:off x="6251448" y="3593592"/>
            <a:ext cx="2188464" cy="164592"/>
          </a:xfrm>
          <a:prstGeom prst="rect">
            <a:avLst/>
          </a:prstGeom>
          <a:noFill/>
          <a:ln/>
        </p:spPr>
        <p:txBody>
          <a:bodyPr wrap="square" lIns="0" tIns="0" rIns="0" bIns="0" rtlCol="0" anchor="ctr"/>
          <a:lstStyle/>
          <a:p>
            <a:pPr indent="0" marL="0">
              <a:buNone/>
            </a:pPr>
            <a:r>
              <a:rPr lang="en-US" sz="700" spc="80" kern="0" dirty="0">
                <a:solidFill>
                  <a:srgbClr val="297A3A"/>
                </a:solidFill>
                <a:latin typeface="Cascadia Mono" pitchFamily="34" charset="0"/>
                <a:ea typeface="Cascadia Mono" pitchFamily="34" charset="-122"/>
                <a:cs typeface="Cascadia Mono" pitchFamily="34" charset="-120"/>
              </a:rPr>
              <a:t>ROADMAP</a:t>
            </a:r>
            <a:endParaRPr lang="en-US" sz="700" dirty="0"/>
          </a:p>
        </p:txBody>
      </p:sp>
      <p:sp>
        <p:nvSpPr>
          <p:cNvPr id="24" name="Text 22"/>
          <p:cNvSpPr txBox="1"/>
          <p:nvPr/>
        </p:nvSpPr>
        <p:spPr>
          <a:xfrm>
            <a:off x="6251448" y="3776472"/>
            <a:ext cx="2188464" cy="457200"/>
          </a:xfrm>
          <a:prstGeom prst="rect">
            <a:avLst/>
          </a:prstGeom>
          <a:noFill/>
          <a:ln/>
        </p:spPr>
        <p:txBody>
          <a:bodyPr wrap="square" lIns="0" tIns="0" rIns="0" bIns="0" rtlCol="0" anchor="t"/>
          <a:lstStyle/>
          <a:p>
            <a:pPr indent="0" marL="0">
              <a:lnSpc>
                <a:spcPct val="120000"/>
              </a:lnSpc>
              <a:buNone/>
            </a:pPr>
            <a:r>
              <a:rPr lang="en-US" sz="900" dirty="0">
                <a:solidFill>
                  <a:srgbClr val="171717"/>
                </a:solidFill>
                <a:latin typeface="Pretendard" pitchFamily="34" charset="0"/>
                <a:ea typeface="Pretendard" pitchFamily="34" charset="-122"/>
                <a:cs typeface="Pretendard" pitchFamily="34" charset="-120"/>
              </a:rPr>
              <a:t>향후 과제: VDA 5050 상위 플릿 매니저 연동 및 교착 우선순위 자동 배차</a:t>
            </a:r>
            <a:endParaRPr lang="en-US" sz="900" dirty="0"/>
          </a:p>
        </p:txBody>
      </p:sp>
      <p:sp>
        <p:nvSpPr>
          <p:cNvPr id="25" name="Text 23"/>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000000"/>
                </a:solidFill>
                <a:latin typeface="Pretendard" pitchFamily="34" charset="0"/>
                <a:ea typeface="Pretendard" pitchFamily="34" charset="-122"/>
                <a:cs typeface="Pretendard" pitchFamily="34" charset="-120"/>
              </a:rPr>
              <a:t>▲</a:t>
            </a:r>
            <a:endParaRPr lang="en-US" sz="900" dirty="0"/>
          </a:p>
        </p:txBody>
      </p:sp>
      <p:sp>
        <p:nvSpPr>
          <p:cNvPr id="26" name="Text 24"/>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666666"/>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27" name="Text 25"/>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666666"/>
                </a:solidFill>
                <a:latin typeface="Cascadia Mono" pitchFamily="34" charset="0"/>
                <a:ea typeface="Cascadia Mono" pitchFamily="34" charset="-122"/>
                <a:cs typeface="Cascadia Mono" pitchFamily="34" charset="-120"/>
              </a:rPr>
              <a:t>09 / 10</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502920" y="411480"/>
            <a:ext cx="5486400" cy="201168"/>
          </a:xfrm>
          <a:prstGeom prst="rect">
            <a:avLst/>
          </a:prstGeom>
          <a:noFill/>
          <a:ln/>
        </p:spPr>
        <p:txBody>
          <a:bodyPr wrap="square" lIns="0" tIns="0" rIns="0" bIns="0" rtlCol="0" anchor="ctr"/>
          <a:lstStyle/>
          <a:p>
            <a:pPr indent="0" marL="0">
              <a:buNone/>
            </a:pPr>
            <a:r>
              <a:rPr lang="en-US" sz="850" spc="120" kern="0" dirty="0">
                <a:solidFill>
                  <a:srgbClr val="A8A8A8"/>
                </a:solidFill>
                <a:latin typeface="Cascadia Mono" pitchFamily="34" charset="0"/>
                <a:ea typeface="Cascadia Mono" pitchFamily="34" charset="-122"/>
                <a:cs typeface="Cascadia Mono" pitchFamily="34" charset="-120"/>
              </a:rPr>
              <a:t>09 — MARKET &amp; IMPACT</a:t>
            </a:r>
            <a:endParaRPr lang="en-US" sz="850" dirty="0"/>
          </a:p>
        </p:txBody>
      </p:sp>
      <p:sp>
        <p:nvSpPr>
          <p:cNvPr id="3" name="Text 1"/>
          <p:cNvSpPr txBox="1"/>
          <p:nvPr/>
        </p:nvSpPr>
        <p:spPr>
          <a:xfrm>
            <a:off x="502920" y="658368"/>
            <a:ext cx="8138160" cy="411480"/>
          </a:xfrm>
          <a:prstGeom prst="rect">
            <a:avLst/>
          </a:prstGeom>
          <a:noFill/>
          <a:ln/>
        </p:spPr>
        <p:txBody>
          <a:bodyPr wrap="square" lIns="0" tIns="0" rIns="0" bIns="0" rtlCol="0" anchor="ctr"/>
          <a:lstStyle/>
          <a:p>
            <a:pPr indent="0" marL="0">
              <a:buNone/>
            </a:pPr>
            <a:r>
              <a:rPr lang="en-US" sz="2400" spc="-100" kern="0" dirty="0">
                <a:solidFill>
                  <a:srgbClr val="FFFFFF"/>
                </a:solidFill>
                <a:latin typeface="Pretendard" pitchFamily="34" charset="0"/>
                <a:ea typeface="Pretendard" pitchFamily="34" charset="-122"/>
                <a:cs typeface="Pretendard" pitchFamily="34" charset="-120"/>
              </a:rPr>
              <a:t>시장 분석, 솔루션 비교 및 결론</a:t>
            </a:r>
            <a:endParaRPr lang="en-US" sz="2400" dirty="0"/>
          </a:p>
        </p:txBody>
      </p:sp>
      <p:sp>
        <p:nvSpPr>
          <p:cNvPr id="4" name="Shape 2"/>
          <p:cNvSpPr/>
          <p:nvPr/>
        </p:nvSpPr>
        <p:spPr>
          <a:xfrm>
            <a:off x="502920" y="1143000"/>
            <a:ext cx="2590800" cy="777240"/>
          </a:xfrm>
          <a:prstGeom prst="roundRect">
            <a:avLst>
              <a:gd name="adj" fmla="val 7059"/>
            </a:avLst>
          </a:prstGeom>
          <a:solidFill>
            <a:srgbClr val="171717"/>
          </a:solidFill>
          <a:ln w="9525">
            <a:solidFill>
              <a:srgbClr val="171717"/>
            </a:solidFill>
            <a:prstDash val="solid"/>
          </a:ln>
        </p:spPr>
      </p:sp>
      <p:sp>
        <p:nvSpPr>
          <p:cNvPr id="5" name="Text 3"/>
          <p:cNvSpPr txBox="1"/>
          <p:nvPr/>
        </p:nvSpPr>
        <p:spPr>
          <a:xfrm>
            <a:off x="640080" y="1234440"/>
            <a:ext cx="2316480" cy="320040"/>
          </a:xfrm>
          <a:prstGeom prst="rect">
            <a:avLst/>
          </a:prstGeom>
          <a:noFill/>
          <a:ln/>
        </p:spPr>
        <p:txBody>
          <a:bodyPr wrap="square" lIns="0" tIns="0" rIns="0" bIns="0" rtlCol="0" anchor="ctr"/>
          <a:lstStyle/>
          <a:p>
            <a:pPr indent="0" marL="0">
              <a:buNone/>
            </a:pPr>
            <a:r>
              <a:rPr lang="en-US" sz="1800" b="1" dirty="0">
                <a:solidFill>
                  <a:srgbClr val="FFFFFF"/>
                </a:solidFill>
                <a:latin typeface="Pretendard" pitchFamily="34" charset="0"/>
                <a:ea typeface="Pretendard" pitchFamily="34" charset="-122"/>
                <a:cs typeface="Pretendard" pitchFamily="34" charset="-120"/>
              </a:rPr>
              <a:t>$22B</a:t>
            </a:r>
            <a:endParaRPr lang="en-US" sz="1800" dirty="0"/>
          </a:p>
        </p:txBody>
      </p:sp>
      <p:sp>
        <p:nvSpPr>
          <p:cNvPr id="6" name="Text 4"/>
          <p:cNvSpPr txBox="1"/>
          <p:nvPr/>
        </p:nvSpPr>
        <p:spPr>
          <a:xfrm>
            <a:off x="640080" y="1572768"/>
            <a:ext cx="2316480" cy="274320"/>
          </a:xfrm>
          <a:prstGeom prst="rect">
            <a:avLst/>
          </a:prstGeom>
          <a:noFill/>
          <a:ln/>
        </p:spPr>
        <p:txBody>
          <a:bodyPr wrap="square" lIns="0" tIns="0" rIns="0" bIns="0" rtlCol="0" anchor="ctr"/>
          <a:lstStyle/>
          <a:p>
            <a:pPr indent="0" marL="0">
              <a:buNone/>
            </a:pPr>
            <a:r>
              <a:rPr lang="en-US" sz="800" dirty="0">
                <a:solidFill>
                  <a:srgbClr val="C9C9C9"/>
                </a:solidFill>
                <a:latin typeface="Pretendard" pitchFamily="34" charset="0"/>
                <a:ea typeface="Pretendard" pitchFamily="34" charset="-122"/>
                <a:cs typeface="Pretendard" pitchFamily="34" charset="-120"/>
              </a:rPr>
              <a:t>AGV·AMR 시장 2030년 전망 (AGV 연 18% · AMR 연 30%, LogisticsIQ 2024)</a:t>
            </a:r>
            <a:endParaRPr lang="en-US" sz="800" dirty="0"/>
          </a:p>
        </p:txBody>
      </p:sp>
      <p:sp>
        <p:nvSpPr>
          <p:cNvPr id="7" name="Shape 5"/>
          <p:cNvSpPr/>
          <p:nvPr/>
        </p:nvSpPr>
        <p:spPr>
          <a:xfrm>
            <a:off x="3276600" y="1143000"/>
            <a:ext cx="2590800" cy="777240"/>
          </a:xfrm>
          <a:prstGeom prst="roundRect">
            <a:avLst>
              <a:gd name="adj" fmla="val 7059"/>
            </a:avLst>
          </a:prstGeom>
          <a:solidFill>
            <a:srgbClr val="171717"/>
          </a:solidFill>
          <a:ln w="9525">
            <a:solidFill>
              <a:srgbClr val="171717"/>
            </a:solidFill>
            <a:prstDash val="solid"/>
          </a:ln>
        </p:spPr>
      </p:sp>
      <p:sp>
        <p:nvSpPr>
          <p:cNvPr id="8" name="Text 6"/>
          <p:cNvSpPr txBox="1"/>
          <p:nvPr/>
        </p:nvSpPr>
        <p:spPr>
          <a:xfrm>
            <a:off x="3413760" y="1234440"/>
            <a:ext cx="2316480" cy="320040"/>
          </a:xfrm>
          <a:prstGeom prst="rect">
            <a:avLst/>
          </a:prstGeom>
          <a:noFill/>
          <a:ln/>
        </p:spPr>
        <p:txBody>
          <a:bodyPr wrap="square" lIns="0" tIns="0" rIns="0" bIns="0" rtlCol="0" anchor="ctr"/>
          <a:lstStyle/>
          <a:p>
            <a:pPr indent="0" marL="0">
              <a:buNone/>
            </a:pPr>
            <a:r>
              <a:rPr lang="en-US" sz="1800" b="1" dirty="0">
                <a:solidFill>
                  <a:srgbClr val="FFFFFF"/>
                </a:solidFill>
                <a:latin typeface="Pretendard" pitchFamily="34" charset="0"/>
                <a:ea typeface="Pretendard" pitchFamily="34" charset="-122"/>
                <a:cs typeface="Pretendard" pitchFamily="34" charset="-120"/>
              </a:rPr>
              <a:t>53%</a:t>
            </a:r>
            <a:endParaRPr lang="en-US" sz="1800" dirty="0"/>
          </a:p>
        </p:txBody>
      </p:sp>
      <p:sp>
        <p:nvSpPr>
          <p:cNvPr id="9" name="Text 7"/>
          <p:cNvSpPr txBox="1"/>
          <p:nvPr/>
        </p:nvSpPr>
        <p:spPr>
          <a:xfrm>
            <a:off x="3413760" y="1572768"/>
            <a:ext cx="2316480" cy="274320"/>
          </a:xfrm>
          <a:prstGeom prst="rect">
            <a:avLst/>
          </a:prstGeom>
          <a:noFill/>
          <a:ln/>
        </p:spPr>
        <p:txBody>
          <a:bodyPr wrap="square" lIns="0" tIns="0" rIns="0" bIns="0" rtlCol="0" anchor="ctr"/>
          <a:lstStyle/>
          <a:p>
            <a:pPr indent="0" marL="0">
              <a:buNone/>
            </a:pPr>
            <a:r>
              <a:rPr lang="en-US" sz="800" dirty="0">
                <a:solidFill>
                  <a:srgbClr val="C9C9C9"/>
                </a:solidFill>
                <a:latin typeface="Pretendard" pitchFamily="34" charset="0"/>
                <a:ea typeface="Pretendard" pitchFamily="34" charset="-122"/>
                <a:cs typeface="Pretendard" pitchFamily="34" charset="-120"/>
              </a:rPr>
              <a:t>산업용 로봇 재해 중 끼임 (KOSHA 2011–2020)</a:t>
            </a:r>
            <a:endParaRPr lang="en-US" sz="800" dirty="0"/>
          </a:p>
        </p:txBody>
      </p:sp>
      <p:sp>
        <p:nvSpPr>
          <p:cNvPr id="10" name="Shape 8"/>
          <p:cNvSpPr/>
          <p:nvPr/>
        </p:nvSpPr>
        <p:spPr>
          <a:xfrm>
            <a:off x="6050280" y="1143000"/>
            <a:ext cx="2590800" cy="777240"/>
          </a:xfrm>
          <a:prstGeom prst="roundRect">
            <a:avLst>
              <a:gd name="adj" fmla="val 7059"/>
            </a:avLst>
          </a:prstGeom>
          <a:solidFill>
            <a:srgbClr val="171717"/>
          </a:solidFill>
          <a:ln w="9525">
            <a:solidFill>
              <a:srgbClr val="171717"/>
            </a:solidFill>
            <a:prstDash val="solid"/>
          </a:ln>
        </p:spPr>
      </p:sp>
      <p:sp>
        <p:nvSpPr>
          <p:cNvPr id="11" name="Text 9"/>
          <p:cNvSpPr txBox="1"/>
          <p:nvPr/>
        </p:nvSpPr>
        <p:spPr>
          <a:xfrm>
            <a:off x="6187440" y="1234440"/>
            <a:ext cx="2316480" cy="320040"/>
          </a:xfrm>
          <a:prstGeom prst="rect">
            <a:avLst/>
          </a:prstGeom>
          <a:noFill/>
          <a:ln/>
        </p:spPr>
        <p:txBody>
          <a:bodyPr wrap="square" lIns="0" tIns="0" rIns="0" bIns="0" rtlCol="0" anchor="ctr"/>
          <a:lstStyle/>
          <a:p>
            <a:pPr indent="0" marL="0">
              <a:buNone/>
            </a:pPr>
            <a:r>
              <a:rPr lang="en-US" sz="1800" b="1" dirty="0">
                <a:solidFill>
                  <a:srgbClr val="FFFFFF"/>
                </a:solidFill>
                <a:latin typeface="Pretendard" pitchFamily="34" charset="0"/>
                <a:ea typeface="Pretendard" pitchFamily="34" charset="-122"/>
                <a:cs typeface="Pretendard" pitchFamily="34" charset="-120"/>
              </a:rPr>
              <a:t>$2.3M/h</a:t>
            </a:r>
            <a:endParaRPr lang="en-US" sz="1800" dirty="0"/>
          </a:p>
        </p:txBody>
      </p:sp>
      <p:sp>
        <p:nvSpPr>
          <p:cNvPr id="12" name="Text 10"/>
          <p:cNvSpPr txBox="1"/>
          <p:nvPr/>
        </p:nvSpPr>
        <p:spPr>
          <a:xfrm>
            <a:off x="6187440" y="1572768"/>
            <a:ext cx="2316480" cy="274320"/>
          </a:xfrm>
          <a:prstGeom prst="rect">
            <a:avLst/>
          </a:prstGeom>
          <a:noFill/>
          <a:ln/>
        </p:spPr>
        <p:txBody>
          <a:bodyPr wrap="square" lIns="0" tIns="0" rIns="0" bIns="0" rtlCol="0" anchor="ctr"/>
          <a:lstStyle/>
          <a:p>
            <a:pPr indent="0" marL="0">
              <a:buNone/>
            </a:pPr>
            <a:r>
              <a:rPr lang="en-US" sz="800" dirty="0">
                <a:solidFill>
                  <a:srgbClr val="C9C9C9"/>
                </a:solidFill>
                <a:latin typeface="Pretendard" pitchFamily="34" charset="0"/>
                <a:ea typeface="Pretendard" pitchFamily="34" charset="-122"/>
                <a:cs typeface="Pretendard" pitchFamily="34" charset="-120"/>
              </a:rPr>
              <a:t>자동차 라인 비계획 정지 비용 최대치 (Siemens 2024)</a:t>
            </a:r>
            <a:endParaRPr lang="en-US" sz="800" dirty="0"/>
          </a:p>
        </p:txBody>
      </p:sp>
      <p:sp>
        <p:nvSpPr>
          <p:cNvPr id="13" name="Shape 11"/>
          <p:cNvSpPr/>
          <p:nvPr/>
        </p:nvSpPr>
        <p:spPr>
          <a:xfrm>
            <a:off x="502920" y="2057400"/>
            <a:ext cx="8138160" cy="1920240"/>
          </a:xfrm>
          <a:prstGeom prst="roundRect">
            <a:avLst>
              <a:gd name="adj" fmla="val 2857"/>
            </a:avLst>
          </a:prstGeom>
          <a:solidFill>
            <a:srgbClr val="171717"/>
          </a:solidFill>
          <a:ln w="9525">
            <a:solidFill>
              <a:srgbClr val="171717"/>
            </a:solidFill>
            <a:prstDash val="solid"/>
          </a:ln>
        </p:spPr>
      </p:sp>
      <p:sp>
        <p:nvSpPr>
          <p:cNvPr id="14" name="Text 12"/>
          <p:cNvSpPr txBox="1"/>
          <p:nvPr/>
        </p:nvSpPr>
        <p:spPr>
          <a:xfrm>
            <a:off x="640080" y="2167128"/>
            <a:ext cx="1188720" cy="320040"/>
          </a:xfrm>
          <a:prstGeom prst="rect">
            <a:avLst/>
          </a:prstGeom>
          <a:noFill/>
          <a:ln/>
        </p:spPr>
        <p:txBody>
          <a:bodyPr wrap="square" lIns="0" tIns="0" rIns="0" bIns="0" rtlCol="0" anchor="ctr"/>
          <a:lstStyle/>
          <a:p>
            <a:pPr indent="0" marL="0">
              <a:buNone/>
            </a:pPr>
            <a:r>
              <a:rPr lang="en-US" sz="800" b="1" dirty="0">
                <a:solidFill>
                  <a:srgbClr val="A8A8A8"/>
                </a:solidFill>
                <a:latin typeface="Cascadia Mono" pitchFamily="34" charset="0"/>
                <a:ea typeface="Cascadia Mono" pitchFamily="34" charset="-122"/>
                <a:cs typeface="Cascadia Mono" pitchFamily="34" charset="-120"/>
              </a:rPr>
              <a:t>비교 항목</a:t>
            </a:r>
            <a:endParaRPr lang="en-US" sz="800" dirty="0"/>
          </a:p>
        </p:txBody>
      </p:sp>
      <p:sp>
        <p:nvSpPr>
          <p:cNvPr id="15" name="Text 13"/>
          <p:cNvSpPr txBox="1"/>
          <p:nvPr/>
        </p:nvSpPr>
        <p:spPr>
          <a:xfrm>
            <a:off x="1920240" y="2167128"/>
            <a:ext cx="2148840" cy="320040"/>
          </a:xfrm>
          <a:prstGeom prst="rect">
            <a:avLst/>
          </a:prstGeom>
          <a:noFill/>
          <a:ln/>
        </p:spPr>
        <p:txBody>
          <a:bodyPr wrap="square" lIns="0" tIns="0" rIns="0" bIns="0" rtlCol="0" anchor="ctr"/>
          <a:lstStyle/>
          <a:p>
            <a:pPr indent="0" marL="0">
              <a:buNone/>
            </a:pPr>
            <a:r>
              <a:rPr lang="en-US" sz="800" b="1" dirty="0">
                <a:solidFill>
                  <a:srgbClr val="A8A8A8"/>
                </a:solidFill>
                <a:latin typeface="Cascadia Mono" pitchFamily="34" charset="0"/>
                <a:ea typeface="Cascadia Mono" pitchFamily="34" charset="-122"/>
                <a:cs typeface="Cascadia Mono" pitchFamily="34" charset="-120"/>
              </a:rPr>
              <a:t>기존 보급형 AGV</a:t>
            </a:r>
            <a:endParaRPr lang="en-US" sz="800" dirty="0"/>
          </a:p>
        </p:txBody>
      </p:sp>
      <p:sp>
        <p:nvSpPr>
          <p:cNvPr id="16" name="Text 14"/>
          <p:cNvSpPr txBox="1"/>
          <p:nvPr/>
        </p:nvSpPr>
        <p:spPr>
          <a:xfrm>
            <a:off x="4160520" y="2167128"/>
            <a:ext cx="2148840" cy="320040"/>
          </a:xfrm>
          <a:prstGeom prst="rect">
            <a:avLst/>
          </a:prstGeom>
          <a:noFill/>
          <a:ln/>
        </p:spPr>
        <p:txBody>
          <a:bodyPr wrap="square" lIns="0" tIns="0" rIns="0" bIns="0" rtlCol="0" anchor="ctr"/>
          <a:lstStyle/>
          <a:p>
            <a:pPr indent="0" marL="0">
              <a:buNone/>
            </a:pPr>
            <a:r>
              <a:rPr lang="en-US" sz="800" b="1" dirty="0">
                <a:solidFill>
                  <a:srgbClr val="A8A8A8"/>
                </a:solidFill>
                <a:latin typeface="Cascadia Mono" pitchFamily="34" charset="0"/>
                <a:ea typeface="Cascadia Mono" pitchFamily="34" charset="-122"/>
                <a:cs typeface="Cascadia Mono" pitchFamily="34" charset="-120"/>
              </a:rPr>
              <a:t>고가 완전자율 AMR</a:t>
            </a:r>
            <a:endParaRPr lang="en-US" sz="800" dirty="0"/>
          </a:p>
        </p:txBody>
      </p:sp>
      <p:sp>
        <p:nvSpPr>
          <p:cNvPr id="17" name="Text 15"/>
          <p:cNvSpPr txBox="1"/>
          <p:nvPr/>
        </p:nvSpPr>
        <p:spPr>
          <a:xfrm>
            <a:off x="6400800" y="2167128"/>
            <a:ext cx="2148840" cy="320040"/>
          </a:xfrm>
          <a:prstGeom prst="rect">
            <a:avLst/>
          </a:prstGeom>
          <a:noFill/>
          <a:ln/>
        </p:spPr>
        <p:txBody>
          <a:bodyPr wrap="square" lIns="0" tIns="0" rIns="0" bIns="0" rtlCol="0" anchor="ctr"/>
          <a:lstStyle/>
          <a:p>
            <a:pPr indent="0" marL="0">
              <a:buNone/>
            </a:pPr>
            <a:r>
              <a:rPr lang="en-US" sz="800" b="1" dirty="0">
                <a:solidFill>
                  <a:srgbClr val="A8A8A8"/>
                </a:solidFill>
                <a:latin typeface="Cascadia Mono" pitchFamily="34" charset="0"/>
                <a:ea typeface="Cascadia Mono" pitchFamily="34" charset="-122"/>
                <a:cs typeface="Cascadia Mono" pitchFamily="34" charset="-120"/>
              </a:rPr>
              <a:t>본 제안 Physical AI (VR Twin)</a:t>
            </a:r>
            <a:endParaRPr lang="en-US" sz="800" dirty="0"/>
          </a:p>
        </p:txBody>
      </p:sp>
      <p:sp>
        <p:nvSpPr>
          <p:cNvPr id="18" name="Shape 16"/>
          <p:cNvSpPr/>
          <p:nvPr/>
        </p:nvSpPr>
        <p:spPr>
          <a:xfrm>
            <a:off x="640080" y="2569464"/>
            <a:ext cx="7863840" cy="0"/>
          </a:xfrm>
          <a:prstGeom prst="line">
            <a:avLst/>
          </a:prstGeom>
          <a:noFill/>
          <a:ln w="6350">
            <a:solidFill>
              <a:srgbClr val="4D4D4D"/>
            </a:solidFill>
            <a:prstDash val="solid"/>
          </a:ln>
        </p:spPr>
      </p:sp>
      <p:sp>
        <p:nvSpPr>
          <p:cNvPr id="19" name="Text 17"/>
          <p:cNvSpPr txBox="1"/>
          <p:nvPr/>
        </p:nvSpPr>
        <p:spPr>
          <a:xfrm>
            <a:off x="640080" y="2606040"/>
            <a:ext cx="1188720" cy="320040"/>
          </a:xfrm>
          <a:prstGeom prst="rect">
            <a:avLst/>
          </a:prstGeom>
          <a:noFill/>
          <a:ln/>
        </p:spPr>
        <p:txBody>
          <a:bodyPr wrap="square" lIns="0" tIns="0" rIns="0" bIns="0" rtlCol="0" anchor="ctr"/>
          <a:lstStyle/>
          <a:p>
            <a:pPr indent="0" marL="0">
              <a:buNone/>
            </a:pPr>
            <a:r>
              <a:rPr lang="en-US" sz="850" dirty="0">
                <a:solidFill>
                  <a:srgbClr val="C9C9C9"/>
                </a:solidFill>
                <a:latin typeface="Pretendard" pitchFamily="34" charset="0"/>
                <a:ea typeface="Pretendard" pitchFamily="34" charset="-122"/>
                <a:cs typeface="Pretendard" pitchFamily="34" charset="-120"/>
              </a:rPr>
              <a:t>도입 방식</a:t>
            </a:r>
            <a:endParaRPr lang="en-US" sz="850" dirty="0"/>
          </a:p>
        </p:txBody>
      </p:sp>
      <p:sp>
        <p:nvSpPr>
          <p:cNvPr id="20" name="Text 18"/>
          <p:cNvSpPr txBox="1"/>
          <p:nvPr/>
        </p:nvSpPr>
        <p:spPr>
          <a:xfrm>
            <a:off x="1920240" y="2606040"/>
            <a:ext cx="2148840" cy="320040"/>
          </a:xfrm>
          <a:prstGeom prst="rect">
            <a:avLst/>
          </a:prstGeom>
          <a:noFill/>
          <a:ln/>
        </p:spPr>
        <p:txBody>
          <a:bodyPr wrap="square" lIns="0" tIns="0" rIns="0" bIns="0" rtlCol="0" anchor="ctr"/>
          <a:lstStyle/>
          <a:p>
            <a:pPr indent="0" marL="0">
              <a:buNone/>
            </a:pPr>
            <a:r>
              <a:rPr lang="en-US" sz="850" dirty="0">
                <a:solidFill>
                  <a:srgbClr val="FFFFFF"/>
                </a:solidFill>
                <a:latin typeface="Pretendard" pitchFamily="34" charset="0"/>
                <a:ea typeface="Pretendard" pitchFamily="34" charset="-122"/>
                <a:cs typeface="Pretendard" pitchFamily="34" charset="-120"/>
              </a:rPr>
              <a:t>기체 단위 도입</a:t>
            </a:r>
            <a:endParaRPr lang="en-US" sz="850" dirty="0"/>
          </a:p>
        </p:txBody>
      </p:sp>
      <p:sp>
        <p:nvSpPr>
          <p:cNvPr id="21" name="Text 19"/>
          <p:cNvSpPr txBox="1"/>
          <p:nvPr/>
        </p:nvSpPr>
        <p:spPr>
          <a:xfrm>
            <a:off x="4160520" y="2606040"/>
            <a:ext cx="2148840" cy="320040"/>
          </a:xfrm>
          <a:prstGeom prst="rect">
            <a:avLst/>
          </a:prstGeom>
          <a:noFill/>
          <a:ln/>
        </p:spPr>
        <p:txBody>
          <a:bodyPr wrap="square" lIns="0" tIns="0" rIns="0" bIns="0" rtlCol="0" anchor="ctr"/>
          <a:lstStyle/>
          <a:p>
            <a:pPr indent="0" marL="0">
              <a:buNone/>
            </a:pPr>
            <a:r>
              <a:rPr lang="en-US" sz="850" dirty="0">
                <a:solidFill>
                  <a:srgbClr val="FFFFFF"/>
                </a:solidFill>
                <a:latin typeface="Pretendard" pitchFamily="34" charset="0"/>
                <a:ea typeface="Pretendard" pitchFamily="34" charset="-122"/>
                <a:cs typeface="Pretendard" pitchFamily="34" charset="-120"/>
              </a:rPr>
              <a:t>고가 센서 기체 신규 도입</a:t>
            </a:r>
            <a:endParaRPr lang="en-US" sz="850" dirty="0"/>
          </a:p>
        </p:txBody>
      </p:sp>
      <p:sp>
        <p:nvSpPr>
          <p:cNvPr id="22" name="Text 20"/>
          <p:cNvSpPr txBox="1"/>
          <p:nvPr/>
        </p:nvSpPr>
        <p:spPr>
          <a:xfrm>
            <a:off x="6400800" y="2606040"/>
            <a:ext cx="2148840" cy="320040"/>
          </a:xfrm>
          <a:prstGeom prst="rect">
            <a:avLst/>
          </a:prstGeom>
          <a:noFill/>
          <a:ln/>
        </p:spPr>
        <p:txBody>
          <a:bodyPr wrap="square" lIns="0" tIns="0" rIns="0" bIns="0" rtlCol="0" anchor="ctr"/>
          <a:lstStyle/>
          <a:p>
            <a:pPr indent="0" marL="0">
              <a:buNone/>
            </a:pPr>
            <a:r>
              <a:rPr lang="en-US" sz="950" b="1" dirty="0">
                <a:solidFill>
                  <a:srgbClr val="297A3A"/>
                </a:solidFill>
                <a:latin typeface="Pretendard" pitchFamily="34" charset="0"/>
                <a:ea typeface="Pretendard" pitchFamily="34" charset="-122"/>
                <a:cs typeface="Pretendard" pitchFamily="34" charset="-120"/>
              </a:rPr>
              <a:t>기존 기체 + 소프트웨어 (2D LiDAR·카메라)</a:t>
            </a:r>
            <a:endParaRPr lang="en-US" sz="950" dirty="0"/>
          </a:p>
        </p:txBody>
      </p:sp>
      <p:sp>
        <p:nvSpPr>
          <p:cNvPr id="23" name="Shape 21"/>
          <p:cNvSpPr/>
          <p:nvPr/>
        </p:nvSpPr>
        <p:spPr>
          <a:xfrm>
            <a:off x="640080" y="3008376"/>
            <a:ext cx="7863840" cy="0"/>
          </a:xfrm>
          <a:prstGeom prst="line">
            <a:avLst/>
          </a:prstGeom>
          <a:noFill/>
          <a:ln w="6350">
            <a:solidFill>
              <a:srgbClr val="4D4D4D"/>
            </a:solidFill>
            <a:prstDash val="solid"/>
          </a:ln>
        </p:spPr>
      </p:sp>
      <p:sp>
        <p:nvSpPr>
          <p:cNvPr id="24" name="Text 22"/>
          <p:cNvSpPr txBox="1"/>
          <p:nvPr/>
        </p:nvSpPr>
        <p:spPr>
          <a:xfrm>
            <a:off x="640080" y="3044952"/>
            <a:ext cx="1188720" cy="320040"/>
          </a:xfrm>
          <a:prstGeom prst="rect">
            <a:avLst/>
          </a:prstGeom>
          <a:noFill/>
          <a:ln/>
        </p:spPr>
        <p:txBody>
          <a:bodyPr wrap="square" lIns="0" tIns="0" rIns="0" bIns="0" rtlCol="0" anchor="ctr"/>
          <a:lstStyle/>
          <a:p>
            <a:pPr indent="0" marL="0">
              <a:buNone/>
            </a:pPr>
            <a:r>
              <a:rPr lang="en-US" sz="850" dirty="0">
                <a:solidFill>
                  <a:srgbClr val="C9C9C9"/>
                </a:solidFill>
                <a:latin typeface="Pretendard" pitchFamily="34" charset="0"/>
                <a:ea typeface="Pretendard" pitchFamily="34" charset="-122"/>
                <a:cs typeface="Pretendard" pitchFamily="34" charset="-120"/>
              </a:rPr>
              <a:t>정지 복구</a:t>
            </a:r>
            <a:endParaRPr lang="en-US" sz="850" dirty="0"/>
          </a:p>
        </p:txBody>
      </p:sp>
      <p:sp>
        <p:nvSpPr>
          <p:cNvPr id="25" name="Text 23"/>
          <p:cNvSpPr txBox="1"/>
          <p:nvPr/>
        </p:nvSpPr>
        <p:spPr>
          <a:xfrm>
            <a:off x="1920240" y="3044952"/>
            <a:ext cx="2148840" cy="320040"/>
          </a:xfrm>
          <a:prstGeom prst="rect">
            <a:avLst/>
          </a:prstGeom>
          <a:noFill/>
          <a:ln/>
        </p:spPr>
        <p:txBody>
          <a:bodyPr wrap="square" lIns="0" tIns="0" rIns="0" bIns="0" rtlCol="0" anchor="ctr"/>
          <a:lstStyle/>
          <a:p>
            <a:pPr indent="0" marL="0">
              <a:buNone/>
            </a:pPr>
            <a:r>
              <a:rPr lang="en-US" sz="850" dirty="0">
                <a:solidFill>
                  <a:srgbClr val="FFFFFF"/>
                </a:solidFill>
                <a:latin typeface="Pretendard" pitchFamily="34" charset="0"/>
                <a:ea typeface="Pretendard" pitchFamily="34" charset="-122"/>
                <a:cs typeface="Pretendard" pitchFamily="34" charset="-120"/>
              </a:rPr>
              <a:t>관리자 현장 출동</a:t>
            </a:r>
            <a:endParaRPr lang="en-US" sz="850" dirty="0"/>
          </a:p>
        </p:txBody>
      </p:sp>
      <p:sp>
        <p:nvSpPr>
          <p:cNvPr id="26" name="Text 24"/>
          <p:cNvSpPr txBox="1"/>
          <p:nvPr/>
        </p:nvSpPr>
        <p:spPr>
          <a:xfrm>
            <a:off x="4160520" y="3044952"/>
            <a:ext cx="2148840" cy="320040"/>
          </a:xfrm>
          <a:prstGeom prst="rect">
            <a:avLst/>
          </a:prstGeom>
          <a:noFill/>
          <a:ln/>
        </p:spPr>
        <p:txBody>
          <a:bodyPr wrap="square" lIns="0" tIns="0" rIns="0" bIns="0" rtlCol="0" anchor="ctr"/>
          <a:lstStyle/>
          <a:p>
            <a:pPr indent="0" marL="0">
              <a:buNone/>
            </a:pPr>
            <a:r>
              <a:rPr lang="en-US" sz="850" dirty="0">
                <a:solidFill>
                  <a:srgbClr val="FFFFFF"/>
                </a:solidFill>
                <a:latin typeface="Pretendard" pitchFamily="34" charset="0"/>
                <a:ea typeface="Pretendard" pitchFamily="34" charset="-122"/>
                <a:cs typeface="Pretendard" pitchFamily="34" charset="-120"/>
              </a:rPr>
              <a:t>자체 재탐색 (복잡 환경 교착 가능)</a:t>
            </a:r>
            <a:endParaRPr lang="en-US" sz="850" dirty="0"/>
          </a:p>
        </p:txBody>
      </p:sp>
      <p:sp>
        <p:nvSpPr>
          <p:cNvPr id="27" name="Text 25"/>
          <p:cNvSpPr txBox="1"/>
          <p:nvPr/>
        </p:nvSpPr>
        <p:spPr>
          <a:xfrm>
            <a:off x="6400800" y="3044952"/>
            <a:ext cx="2148840" cy="320040"/>
          </a:xfrm>
          <a:prstGeom prst="rect">
            <a:avLst/>
          </a:prstGeom>
          <a:noFill/>
          <a:ln/>
        </p:spPr>
        <p:txBody>
          <a:bodyPr wrap="square" lIns="0" tIns="0" rIns="0" bIns="0" rtlCol="0" anchor="ctr"/>
          <a:lstStyle/>
          <a:p>
            <a:pPr indent="0" marL="0">
              <a:buNone/>
            </a:pPr>
            <a:r>
              <a:rPr lang="en-US" sz="950" b="1" dirty="0">
                <a:solidFill>
                  <a:srgbClr val="297A3A"/>
                </a:solidFill>
                <a:latin typeface="Pretendard" pitchFamily="34" charset="0"/>
                <a:ea typeface="Pretendard" pitchFamily="34" charset="-122"/>
                <a:cs typeface="Pretendard" pitchFamily="34" charset="-120"/>
              </a:rPr>
              <a:t>관제석에서 VR 원격 개입</a:t>
            </a:r>
            <a:endParaRPr lang="en-US" sz="950" dirty="0"/>
          </a:p>
        </p:txBody>
      </p:sp>
      <p:sp>
        <p:nvSpPr>
          <p:cNvPr id="28" name="Shape 26"/>
          <p:cNvSpPr/>
          <p:nvPr/>
        </p:nvSpPr>
        <p:spPr>
          <a:xfrm>
            <a:off x="640080" y="3447288"/>
            <a:ext cx="7863840" cy="0"/>
          </a:xfrm>
          <a:prstGeom prst="line">
            <a:avLst/>
          </a:prstGeom>
          <a:noFill/>
          <a:ln w="6350">
            <a:solidFill>
              <a:srgbClr val="4D4D4D"/>
            </a:solidFill>
            <a:prstDash val="solid"/>
          </a:ln>
        </p:spPr>
      </p:sp>
      <p:sp>
        <p:nvSpPr>
          <p:cNvPr id="29" name="Text 27"/>
          <p:cNvSpPr txBox="1"/>
          <p:nvPr/>
        </p:nvSpPr>
        <p:spPr>
          <a:xfrm>
            <a:off x="640080" y="3483864"/>
            <a:ext cx="1188720" cy="320040"/>
          </a:xfrm>
          <a:prstGeom prst="rect">
            <a:avLst/>
          </a:prstGeom>
          <a:noFill/>
          <a:ln/>
        </p:spPr>
        <p:txBody>
          <a:bodyPr wrap="square" lIns="0" tIns="0" rIns="0" bIns="0" rtlCol="0" anchor="ctr"/>
          <a:lstStyle/>
          <a:p>
            <a:pPr indent="0" marL="0">
              <a:buNone/>
            </a:pPr>
            <a:r>
              <a:rPr lang="en-US" sz="850" dirty="0">
                <a:solidFill>
                  <a:srgbClr val="C9C9C9"/>
                </a:solidFill>
                <a:latin typeface="Pretendard" pitchFamily="34" charset="0"/>
                <a:ea typeface="Pretendard" pitchFamily="34" charset="-122"/>
                <a:cs typeface="Pretendard" pitchFamily="34" charset="-120"/>
              </a:rPr>
              <a:t>안전 메커니즘</a:t>
            </a:r>
            <a:endParaRPr lang="en-US" sz="850" dirty="0"/>
          </a:p>
        </p:txBody>
      </p:sp>
      <p:sp>
        <p:nvSpPr>
          <p:cNvPr id="30" name="Text 28"/>
          <p:cNvSpPr txBox="1"/>
          <p:nvPr/>
        </p:nvSpPr>
        <p:spPr>
          <a:xfrm>
            <a:off x="1920240" y="3483864"/>
            <a:ext cx="2148840" cy="320040"/>
          </a:xfrm>
          <a:prstGeom prst="rect">
            <a:avLst/>
          </a:prstGeom>
          <a:noFill/>
          <a:ln/>
        </p:spPr>
        <p:txBody>
          <a:bodyPr wrap="square" lIns="0" tIns="0" rIns="0" bIns="0" rtlCol="0" anchor="ctr"/>
          <a:lstStyle/>
          <a:p>
            <a:pPr indent="0" marL="0">
              <a:buNone/>
            </a:pPr>
            <a:r>
              <a:rPr lang="en-US" sz="850" dirty="0">
                <a:solidFill>
                  <a:srgbClr val="FFFFFF"/>
                </a:solidFill>
                <a:latin typeface="Pretendard" pitchFamily="34" charset="0"/>
                <a:ea typeface="Pretendard" pitchFamily="34" charset="-122"/>
                <a:cs typeface="Pretendard" pitchFamily="34" charset="-120"/>
              </a:rPr>
              <a:t>단순 범퍼/2D E-STOP (정지 후 수동 복구)</a:t>
            </a:r>
            <a:endParaRPr lang="en-US" sz="850" dirty="0"/>
          </a:p>
        </p:txBody>
      </p:sp>
      <p:sp>
        <p:nvSpPr>
          <p:cNvPr id="31" name="Text 29"/>
          <p:cNvSpPr txBox="1"/>
          <p:nvPr/>
        </p:nvSpPr>
        <p:spPr>
          <a:xfrm>
            <a:off x="4160520" y="3483864"/>
            <a:ext cx="2148840" cy="320040"/>
          </a:xfrm>
          <a:prstGeom prst="rect">
            <a:avLst/>
          </a:prstGeom>
          <a:noFill/>
          <a:ln/>
        </p:spPr>
        <p:txBody>
          <a:bodyPr wrap="square" lIns="0" tIns="0" rIns="0" bIns="0" rtlCol="0" anchor="ctr"/>
          <a:lstStyle/>
          <a:p>
            <a:pPr indent="0" marL="0">
              <a:buNone/>
            </a:pPr>
            <a:r>
              <a:rPr lang="en-US" sz="850" dirty="0">
                <a:solidFill>
                  <a:srgbClr val="FFFFFF"/>
                </a:solidFill>
                <a:latin typeface="Pretendard" pitchFamily="34" charset="0"/>
                <a:ea typeface="Pretendard" pitchFamily="34" charset="-122"/>
                <a:cs typeface="Pretendard" pitchFamily="34" charset="-120"/>
              </a:rPr>
              <a:t>3D 센서 자율 판단 (센서 오인 위험)</a:t>
            </a:r>
            <a:endParaRPr lang="en-US" sz="850" dirty="0"/>
          </a:p>
        </p:txBody>
      </p:sp>
      <p:sp>
        <p:nvSpPr>
          <p:cNvPr id="32" name="Text 30"/>
          <p:cNvSpPr txBox="1"/>
          <p:nvPr/>
        </p:nvSpPr>
        <p:spPr>
          <a:xfrm>
            <a:off x="6400800" y="3483864"/>
            <a:ext cx="2148840" cy="320040"/>
          </a:xfrm>
          <a:prstGeom prst="rect">
            <a:avLst/>
          </a:prstGeom>
          <a:noFill/>
          <a:ln/>
        </p:spPr>
        <p:txBody>
          <a:bodyPr wrap="square" lIns="0" tIns="0" rIns="0" bIns="0" rtlCol="0" anchor="ctr"/>
          <a:lstStyle/>
          <a:p>
            <a:pPr indent="0" marL="0">
              <a:buNone/>
            </a:pPr>
            <a:r>
              <a:rPr lang="en-US" sz="950" b="1" dirty="0">
                <a:solidFill>
                  <a:srgbClr val="297A3A"/>
                </a:solidFill>
                <a:latin typeface="Pretendard" pitchFamily="34" charset="0"/>
                <a:ea typeface="Pretendard" pitchFamily="34" charset="-122"/>
                <a:cs typeface="Pretendard" pitchFamily="34" charset="-120"/>
              </a:rPr>
              <a:t>정지 우선 인터록 + 인간 최종 승인</a:t>
            </a:r>
            <a:endParaRPr lang="en-US" sz="950" dirty="0"/>
          </a:p>
        </p:txBody>
      </p:sp>
      <p:sp>
        <p:nvSpPr>
          <p:cNvPr id="33" name="Text 31"/>
          <p:cNvSpPr txBox="1"/>
          <p:nvPr/>
        </p:nvSpPr>
        <p:spPr>
          <a:xfrm>
            <a:off x="502920" y="4114800"/>
            <a:ext cx="8138160" cy="292608"/>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  로봇은 멈추고 알리고, 판단은 사람이 내린다 — 완전 무인의 환상 대신, 가장 안전하고 현실적인 피지컬 AI.</a:t>
            </a:r>
            <a:endParaRPr lang="en-US" sz="1100" dirty="0"/>
          </a:p>
        </p:txBody>
      </p:sp>
      <p:sp>
        <p:nvSpPr>
          <p:cNvPr id="34" name="Text 32"/>
          <p:cNvSpPr txBox="1"/>
          <p:nvPr/>
        </p:nvSpPr>
        <p:spPr>
          <a:xfrm>
            <a:off x="502920" y="4759452"/>
            <a:ext cx="182880" cy="182880"/>
          </a:xfrm>
          <a:prstGeom prst="rect">
            <a:avLst/>
          </a:prstGeom>
          <a:noFill/>
          <a:ln/>
        </p:spPr>
        <p:txBody>
          <a:bodyPr wrap="square" lIns="0" tIns="0" rIns="0" bIns="0" rtlCol="0" anchor="ctr"/>
          <a:lstStyle/>
          <a:p>
            <a:pPr indent="0" marL="0">
              <a:buNone/>
            </a:pPr>
            <a:r>
              <a:rPr lang="en-US" sz="900" dirty="0">
                <a:solidFill>
                  <a:srgbClr val="FFFFFF"/>
                </a:solidFill>
                <a:latin typeface="Pretendard" pitchFamily="34" charset="0"/>
                <a:ea typeface="Pretendard" pitchFamily="34" charset="-122"/>
                <a:cs typeface="Pretendard" pitchFamily="34" charset="-120"/>
              </a:rPr>
              <a:t>▲</a:t>
            </a:r>
            <a:endParaRPr lang="en-US" sz="900" dirty="0"/>
          </a:p>
        </p:txBody>
      </p:sp>
      <p:sp>
        <p:nvSpPr>
          <p:cNvPr id="35" name="Text 33"/>
          <p:cNvSpPr txBox="1"/>
          <p:nvPr/>
        </p:nvSpPr>
        <p:spPr>
          <a:xfrm>
            <a:off x="731520" y="4759452"/>
            <a:ext cx="4572000" cy="182880"/>
          </a:xfrm>
          <a:prstGeom prst="rect">
            <a:avLst/>
          </a:prstGeom>
          <a:noFill/>
          <a:ln/>
        </p:spPr>
        <p:txBody>
          <a:bodyPr wrap="square" lIns="0" tIns="0" rIns="0" bIns="0" rtlCol="0" anchor="ctr"/>
          <a:lstStyle/>
          <a:p>
            <a:pPr indent="0" marL="0">
              <a:buNone/>
            </a:pPr>
            <a:r>
              <a:rPr lang="en-US" sz="700" spc="100" kern="0" dirty="0">
                <a:solidFill>
                  <a:srgbClr val="A8A8A8"/>
                </a:solidFill>
                <a:latin typeface="Cascadia Mono" pitchFamily="34" charset="0"/>
                <a:ea typeface="Cascadia Mono" pitchFamily="34" charset="-122"/>
                <a:cs typeface="Cascadia Mono" pitchFamily="34" charset="-120"/>
              </a:rPr>
              <a:t>GNICT 2026 · 대학부 32 · AGV DIGITAL TWIN</a:t>
            </a:r>
            <a:endParaRPr lang="en-US" sz="700" dirty="0"/>
          </a:p>
        </p:txBody>
      </p:sp>
      <p:sp>
        <p:nvSpPr>
          <p:cNvPr id="36" name="Text 34"/>
          <p:cNvSpPr txBox="1"/>
          <p:nvPr/>
        </p:nvSpPr>
        <p:spPr>
          <a:xfrm>
            <a:off x="7543800" y="4759452"/>
            <a:ext cx="1097280" cy="182880"/>
          </a:xfrm>
          <a:prstGeom prst="rect">
            <a:avLst/>
          </a:prstGeom>
          <a:noFill/>
          <a:ln/>
        </p:spPr>
        <p:txBody>
          <a:bodyPr wrap="square" lIns="0" tIns="0" rIns="0" bIns="0" rtlCol="0" anchor="ctr"/>
          <a:lstStyle/>
          <a:p>
            <a:pPr algn="r" indent="0" marL="0">
              <a:buNone/>
            </a:pPr>
            <a:r>
              <a:rPr lang="en-US" sz="700" dirty="0">
                <a:solidFill>
                  <a:srgbClr val="A8A8A8"/>
                </a:solidFill>
                <a:latin typeface="Cascadia Mono" pitchFamily="34" charset="0"/>
                <a:ea typeface="Cascadia Mono" pitchFamily="34" charset="-122"/>
                <a:cs typeface="Cascadia Mono" pitchFamily="34" charset="-120"/>
              </a:rPr>
              <a:t>10 / 10</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멈추고, 알리고, 사람이 빼낸다 — Vercel style</dc:title>
  <dc:subject>PptxGenJS Presentation</dc:subject>
  <dc:creator>PptxGenJS</dc:creator>
  <cp:lastModifiedBy>PptxGenJS</cp:lastModifiedBy>
  <cp:revision>1</cp:revision>
  <dcterms:created xsi:type="dcterms:W3CDTF">2026-10-03T05:33:52Z</dcterms:created>
  <dcterms:modified xsi:type="dcterms:W3CDTF">2026-10-03T05:33:52Z</dcterms:modified>
</cp:coreProperties>
</file>