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국립한국해양대학교 [팀명]입니다. 막히면 멈추고, 알리고, 사람이 VR로 빼내는 AGV 피지컬 AI를 발표하겠습니다.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AGV와 같은 통로를 쓰는 작업자는 부딪히고 끼입니다. 산업용 로봇 재해의 53%가 끼임이고, 2024년 끼임 사망자는 66명이었습니다. 관제사는 AGV가 멈출 때마다 현장으로 걸어가야 하고, 그동안 라인이 서면 자동차 공장은 시간당 최대 230만 달러를 잃습니다. 보급형 AGV는 한 평면만 보고, 뒤를 못 봐 스스로 물러나지 못합니다.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목표는 AGV 두 대를 운용하면서 협착과 충돌을 0건으로 만들고, 막혔을 때 현장 출동 없이 원격으로 빼내는 것입니다. 역할은 나눴습니다. 에이전트는 감시하고, 멈추고, 왜 멈췄는지와 빠져나갈 경로를 계산합니다. 움직이는 결정은 사람이 합니다. 그래서 자동 후진도, 자동 재개도 없습니다. 핵심기능은 네 가지입니다. 첫째, 전방 0.35미터나 로봇 간 0.3미터 안이면 전진을 막습니다. 둘째, 라이다 72방향으로 탈출 경로를 찾아 영상 바닥과 지도에 그리고, 돌아야 할 쪽 손을 진동시킵니다. 셋째, 관제 지도에서 로봇을 누르면 그 로봇의 VR 운전석으로 바로 들어갑니다. 넷째, 두 대가 각자 순찰하다 만나면 둘 다 멈추고, 사람이 한 대를 비켜줍니다.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흐름은 여섯 단계입니다. 순찰하다 라이다와 오도메트리로 위험을 감지하면 정지 게이트가 전진을 막고, 탈출 경로를 계산합니다. 여기까지가 에이전트입니다. 방법은 5도 간격 72방향마다 로봇 폭 통로의 여유를 재고, 여유는 크고 회전은 적은 방향을 고르는 것입니다. 그 다음 VR 개입과 재개는 사람이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ROS 1과 ROS 2로 나뉜 터틀봇 두 대를 초당 20회 도는 파이썬 릴레이가 묶습니다. AI는 대형 언어 모델이 아니라 라이다 기하 추론이라 매 주기 같은 입력에 같은 판단을 냅니다. 도구는 ROS의 cmd_vel, odom, scan과 카메라, Unity, 퀘스트이고, 로봇별 모드와 정지 원인, 운행 이력을 기억합니다. 안전 게이트를 통과한 속도만 바퀴로 나갑니다.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실물로 보여드리겠습니다. 관제 PC에서 R을 누르면 두 대가 시작 위치를 맞추고 초당 0.1미터로 직진합니다. 서로 0.3미터 안으로 들어오자 둘 다 멈췄고, 지도에 적색으로, 터미널에 STUCK으로 찍힙니다. 이번엔 작업자가 앞을 막아보겠습니다. 0.35미터 안에서 전진 지령이 0이 됩니다. 관제 지도에서 이 로봇을 누르면 VR 운전석으로 바로 들어갑니다. 영상 바닥에 빠져나갈 길이 그려지고, 돌아야 할 쪽 손이 진동합니다. 그립을 쥔 채 오른쪽 스틱으로 후진, 왼쪽 스틱으로 선회합니다. 그립을 놓으면 즉시 멈추고, 아무리 밀어도 0.15미터를 넘지 않습니다. 다시 R을 누르면 순찰로 돌아갑니다.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방금 화면을 정리하면, 콕핏에는 경로와 정지 배너, 관제 맵에는 적색 경고와 정지 원인, 터미널에는 판단과 도구 호출 기록이 남습니다. 멈춘 이유와 빠져나갈 길이 모두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AGV는 멈추면 사람이 걸어가야 풀렸습니다. 이제는 전진만 막고, 관제석에서 클릭 한 번으로 VR로 빼냅니다. 자동 시험 78개를 모두 통과했고, 10회 반복과 300초 부하에서 안전 위반은 0건이었습니다. 사용자 검증은 팀원이 관제사와 조작자 역할로 실물 두 대에서 확인했고, 외부 사용자 평가와 현장 정지 시간 측정은 다음 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현장에 들이기 전 고칠 점도 분명합니다. 높이 사각은 깊이 카메라로, 위치 오차는 SLAM으로 보완하고, 로봇 측 정지 감시와 통신 인증을 붙인 뒤 파일럿 라인에서 정지 시간을 실측하겠습니다.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사업은 기존 AGV에 얹는 개조 패키지와 관제 구독, 여러 현장을 한 자리에서 복구하는 원격 개입 서비스로 구상합니다. 로봇은 멈추고 알리고, 판단은 사람이 내린다.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spc="100" kern="0" dirty="0">
                <a:solidFill>
                  <a:srgbClr val="17171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제4회 경남 AI·SW 경진대회 · 대학부 · 분야 32 제조 피지컬 AI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spc="-2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멈추고,</a:t>
            </a:r>
            <a:endParaRPr lang="en-US" sz="4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200" spc="-2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알리고,</a:t>
            </a:r>
            <a:endParaRPr lang="en-US" sz="4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200" spc="-2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빼낸다.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4800600" y="1234440"/>
            <a:ext cx="1554480" cy="1344168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03720" y="1051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PROBLEM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6903720" y="1234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협착 · 멈춤 출동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15544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AGENT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6903720" y="17373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LiDAR 판단 + 정지 우선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20574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INTERFACE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22402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VR 원격 개입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560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HARDWARE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27432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TurtleBot3 × 2 (실물)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429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MetaQuest2 VR 기반 피지컬 AI AGV 원격 개입 &amp; 협착 방지 디지털 트윈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171717"/>
          </a:solidFill>
          <a:ln w="9525">
            <a:solidFill>
              <a:srgbClr val="17171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39319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 Live Demo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57400" y="3931920"/>
            <a:ext cx="2651760" cy="329184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57400" y="39319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국립한국해양대학교 · [팀명] · [발표자]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7594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7594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GNICT 2026 · 대학부 32 · AGV DIGITAL TWIN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47594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01 / 10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spc="100" kern="0" dirty="0">
                <a:solidFill>
                  <a:srgbClr val="17171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 · PROBLEM — 누구의 어떤 문제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909560" y="39319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909560" y="3931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0:30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858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spc="-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AGV와 같은 통로를 쓰는 사람들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1732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297A3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 · 사용자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2514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" y="1764792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작업자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1975104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AGV와 부딪히고 끼인다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313432"/>
            <a:ext cx="2514600" cy="530352"/>
          </a:xfrm>
          <a:prstGeom prst="roundRect">
            <a:avLst>
              <a:gd name="adj" fmla="val 10345"/>
            </a:avLst>
          </a:prstGeom>
          <a:solidFill>
            <a:srgbClr val="171717"/>
          </a:solidFill>
          <a:ln w="9525">
            <a:solidFill>
              <a:srgbClr val="17171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" y="2386584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관제사·관리자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596896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멈출 때마다 현장 출동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935224"/>
            <a:ext cx="2514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" y="3008376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공장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67512" y="3218688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통로가 막히면 라인이 선다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1417320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297A3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WHAT · 근거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00400" y="1691640"/>
            <a:ext cx="1691640" cy="17830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46704" y="1837944"/>
            <a:ext cx="1399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spc="-15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53%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3346704" y="2468880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 재해 중 끼임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46704" y="3063240"/>
            <a:ext cx="1399032" cy="0"/>
          </a:xfrm>
          <a:prstGeom prst="line">
            <a:avLst/>
          </a:prstGeom>
          <a:noFill/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46704" y="3136392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KOSHA 2011–2020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074920" y="1691640"/>
            <a:ext cx="1691640" cy="17830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21224" y="1837944"/>
            <a:ext cx="1399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spc="-15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66명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5221224" y="2468880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 끼임 사망 +22.2%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21224" y="3063240"/>
            <a:ext cx="1399032" cy="0"/>
          </a:xfrm>
          <a:prstGeom prst="line">
            <a:avLst/>
          </a:prstGeom>
          <a:noFill/>
          <a:ln w="9525">
            <a:solidFill>
              <a:srgbClr val="EBEB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21224" y="3136392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고용노동부 2025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6949440" y="1691640"/>
            <a:ext cx="1691640" cy="17830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95744" y="1837944"/>
            <a:ext cx="1399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spc="-15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$2.3M/h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7095744" y="2468880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자동차 라인 정지 최대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95744" y="3063240"/>
            <a:ext cx="1399032" cy="0"/>
          </a:xfrm>
          <a:prstGeom prst="line">
            <a:avLst/>
          </a:prstGeom>
          <a:noFill/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095744" y="3136392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SIEMENS 2024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502920" y="3675888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17171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37673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297A3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보급형 AGV의 한계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4005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2D LiDAR 한 평면만 본다   ② 뒤를 못 봐 스스로 못 물러난다   ③ 멈추면 사람이 걸어가야 풀린다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47594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47594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GNICT 2026 · 대학부 32 · AGV DIGITAL TWIN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7543800" y="47594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 / 10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spc="100" kern="0" dirty="0">
                <a:solidFill>
                  <a:srgbClr val="17171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 · AGENT — 목표 · 역할 · 핵심기능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909560" y="39319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909560" y="3931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1:00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858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spc="-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판단은 로봇이, 결정은 사람이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71717"/>
          </a:solidFill>
          <a:ln w="9525">
            <a:solidFill>
              <a:srgbClr val="17171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A8A8A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GOAL · 목표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288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2대 운용 중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협착·충돌 0건,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막히면 출동 없이 원격 탈출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926080"/>
            <a:ext cx="2514600" cy="1527048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03580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297A3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ROLE · 역할 분담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3101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 감시 · 정지 · 원인 · 경로 추천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3639312"/>
            <a:ext cx="2148840" cy="0"/>
          </a:xfrm>
          <a:prstGeom prst="line">
            <a:avLst/>
          </a:prstGeom>
          <a:noFill/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7307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 로봇 선택 · VR 조종 · 재개 승인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4059936"/>
            <a:ext cx="2148840" cy="0"/>
          </a:xfrm>
          <a:prstGeom prst="line">
            <a:avLst/>
          </a:prstGeom>
          <a:noFill/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13308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97A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후진·자동 재개 없음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417320"/>
            <a:ext cx="2628900" cy="1435608"/>
          </a:xfrm>
          <a:prstGeom prst="roundRect">
            <a:avLst>
              <a:gd name="adj" fmla="val 3822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83280" y="1554480"/>
            <a:ext cx="22631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297A3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01 · STOP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1801368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위험하면 즉시 멈춘다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214884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전방 0.35m · AGV 간 0.3m → 전진 지령 0. 후진은 후방 0.20m 가드.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12180" y="1417320"/>
            <a:ext cx="2628900" cy="1435608"/>
          </a:xfrm>
          <a:prstGeom prst="roundRect">
            <a:avLst>
              <a:gd name="adj" fmla="val 3822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95060" y="1554480"/>
            <a:ext cx="22631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297A3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 · NOTIFY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6195060" y="1801368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원인과 탈출 경로를 그린다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195060" y="2148840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LiDAR 72방향 탈출 경로를 영상 바닥·관제 맵에 표시, 돌 쪽 손 진동.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990088"/>
            <a:ext cx="2628900" cy="1435608"/>
          </a:xfrm>
          <a:prstGeom prst="roundRect">
            <a:avLst>
              <a:gd name="adj" fmla="val 3822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0" y="3127248"/>
            <a:ext cx="22631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297A3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 · TAKE OVER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3374136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클릭 한 번에 VR 콕핏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3721608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 맵 클릭 → 그 로봇만 MANUAL → 그립 데드맨 + 양손 스틱.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12180" y="2990088"/>
            <a:ext cx="2628900" cy="1435608"/>
          </a:xfrm>
          <a:prstGeom prst="roundRect">
            <a:avLst>
              <a:gd name="adj" fmla="val 3822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95060" y="3127248"/>
            <a:ext cx="22631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297A3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 · MULTI-AGV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6195060" y="3374136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2대 AUTO와 만남 처리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6195060" y="3721608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각자 직진 순찰, 0.3m 안에서 만나면 둘 다 정지, 사람이 한 대를 비킨다.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47594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47594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GNICT 2026 · 대학부 32 · AGV DIGITAL TWIN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7543800" y="47594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 / 10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spc="100" kern="0" dirty="0">
                <a:solidFill>
                  <a:srgbClr val="17171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 · ARCHITECTURE — WORKFLOW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909560" y="39319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909560" y="3931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0:30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858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spc="-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순찰 → 정지 → 경로 → 개입 → 재개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1203960" cy="132588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" y="1636776"/>
            <a:ext cx="947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01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630936" y="1892808"/>
            <a:ext cx="947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AUTO 순찰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30936" y="2240280"/>
            <a:ext cx="947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 키, 2대 직진 0.10 m/s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706880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89760" y="1508760"/>
            <a:ext cx="1203960" cy="132588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17776" y="1636776"/>
            <a:ext cx="947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2017776" y="1892808"/>
            <a:ext cx="947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감지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017776" y="2240280"/>
            <a:ext cx="947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LiDAR 360° · odom 20 Hz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093720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76600" y="1508760"/>
            <a:ext cx="1203960" cy="1325880"/>
          </a:xfrm>
          <a:prstGeom prst="roundRect">
            <a:avLst>
              <a:gd name="adj" fmla="val 4557"/>
            </a:avLst>
          </a:prstGeom>
          <a:solidFill>
            <a:srgbClr val="171717"/>
          </a:solidFill>
          <a:ln w="9525">
            <a:solidFill>
              <a:srgbClr val="17171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04616" y="1636776"/>
            <a:ext cx="947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A8A8A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3404616" y="1892808"/>
            <a:ext cx="947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정지 게이트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404616" y="2240280"/>
            <a:ext cx="947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9C9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전진 0 · 원인 기록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0" y="1508760"/>
            <a:ext cx="1203960" cy="132588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91456" y="1636776"/>
            <a:ext cx="947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4791456" y="1892808"/>
            <a:ext cx="947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탈출 경로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791456" y="2240280"/>
            <a:ext cx="947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72방향 회랑 · 영상 투영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5867400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50280" y="1508760"/>
            <a:ext cx="1203960" cy="1325880"/>
          </a:xfrm>
          <a:prstGeom prst="roundRect">
            <a:avLst>
              <a:gd name="adj" fmla="val 4557"/>
            </a:avLst>
          </a:prstGeom>
          <a:solidFill>
            <a:srgbClr val="171717"/>
          </a:solidFill>
          <a:ln w="9525">
            <a:solidFill>
              <a:srgbClr val="17171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78296" y="1636776"/>
            <a:ext cx="947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A8A8A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05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6178296" y="1892808"/>
            <a:ext cx="947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VR 개입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178296" y="2240280"/>
            <a:ext cx="947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9C9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클릭 → 콕핏 · 데드맨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7254240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437120" y="1508760"/>
            <a:ext cx="1203960" cy="132588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565136" y="1636776"/>
            <a:ext cx="947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06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7565136" y="1892808"/>
            <a:ext cx="947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AUTO 재개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565136" y="2240280"/>
            <a:ext cx="947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R · 자동 재개 없음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29260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Agent 구간: 01–04 · 사람 구간: 05–06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02920" y="3246120"/>
            <a:ext cx="25908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7512" y="3374136"/>
            <a:ext cx="2261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297A3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CONDITION · 조건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667512" y="3648456"/>
            <a:ext cx="2261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전방 &lt; 0.35m 또는 AGV 간 중심 &lt; 0.3m → 전진 지령 차단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76600" y="3246120"/>
            <a:ext cx="25908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441192" y="3374136"/>
            <a:ext cx="2261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297A3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METHOD · 방법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3441192" y="3648456"/>
            <a:ext cx="2261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5° × 72방향 로봇 폭 회랑 여유 d(h), 0.5m 미만 제외, J = d − 0.25·|h| 최대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50280" y="3246120"/>
            <a:ext cx="25908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240">
            <a:solidFill>
              <a:srgbClr val="297A3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14872" y="3374136"/>
            <a:ext cx="2261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297A3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RESULT · 결과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6214872" y="3648456"/>
            <a:ext cx="2261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최적 방향을 FPV 바닥 경로 띠·선회 화살표로 투영, 조작은 사람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02920" y="47594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731520" y="47594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GNICT 2026 · 대학부 32 · AGV DIGITAL TWIN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7543800" y="47594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 / 10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spc="100" kern="0" dirty="0">
                <a:solidFill>
                  <a:srgbClr val="17171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 · ARCHITECTURE — AI · TOOL · DATA · MEMORY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909560" y="39319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909560" y="3931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0:30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858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spc="-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 두 대, 릴레이 하나, 화면 둘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663440" cy="2310553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pic>
        <p:nvPicPr>
          <p:cNvPr id="7" name="Image 0" descr="시스템 아키텍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4480560" cy="212767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3801025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spc="6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안전 게이트를 통과한 속도만 /cmd_vel로 나간다 · 20 Hz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5349240" y="1417320"/>
            <a:ext cx="3291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95544" y="1508760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297A3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AI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5495544" y="1709928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LiDAR 기하 추론 (VFH·Follow-the-Gap 계열) · 곡률 궤적 (DWA 계열) · LLM 미사용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349240" y="2221992"/>
            <a:ext cx="3291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95544" y="2313432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297A3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TOOL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5495544" y="2514600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ROS /cmd_vel · /odom · /scan (rosbridge) · ustreamer 카메라 · WebSocket · Unity · Quest 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349240" y="3026664"/>
            <a:ext cx="3291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95544" y="3118104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297A3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DATA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5495544" y="3319272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LiDAR 360° · 휠 odom · 640×480 영상 · 학습 데이터 수집 없음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349240" y="3831336"/>
            <a:ext cx="3291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95544" y="3922776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297A3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MEMORY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5495544" y="4123944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로봇별 AUTO/MANUAL · 정지 원인 · 위치 원점 · 운행 이력 JSONL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47594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47594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GNICT 2026 · 대학부 32 · AGV DIGITAL TWIN</a:t>
            </a:r>
            <a:endParaRPr lang="en-US" sz="700" dirty="0"/>
          </a:p>
        </p:txBody>
      </p:sp>
      <p:sp>
        <p:nvSpPr>
          <p:cNvPr id="23" name="Text 20"/>
          <p:cNvSpPr txBox="1"/>
          <p:nvPr/>
        </p:nvSpPr>
        <p:spPr>
          <a:xfrm>
            <a:off x="7543800" y="47594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05 / 10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spc="100" kern="0" dirty="0">
                <a:solidFill>
                  <a:srgbClr val="17171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 · LIVE DEMO — 입력 → 판단 → TOOL → 결과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909560" y="39319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909560" y="3931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2:30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858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spc="-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실물 2대로 보여드리는 한 바퀴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138160" cy="2980944"/>
          </a:xfrm>
          <a:prstGeom prst="roundRect">
            <a:avLst>
              <a:gd name="adj" fmla="val 1840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막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146304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입력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4630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판단 (AGENT)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1463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TOOL 호출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4630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결과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1700784"/>
            <a:ext cx="7863840" cy="0"/>
          </a:xfrm>
          <a:prstGeom prst="line">
            <a:avLst/>
          </a:prstGeom>
          <a:noFill/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755648"/>
            <a:ext cx="1033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자율 순찰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1755648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 PC  R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1755648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 간 0.3m · 전방 0.35m 감시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175564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/cmd_vel 0.10 m/s 직진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1755648"/>
            <a:ext cx="1673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97A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2대 주행 → 접근 시 둘 다 정지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2240280"/>
            <a:ext cx="7863840" cy="0"/>
          </a:xfrm>
          <a:prstGeom prst="line">
            <a:avLst/>
          </a:prstGeom>
          <a:noFill/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2267712"/>
            <a:ext cx="1033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정지·알림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783080" y="2267712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작업자 진입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226771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전방 0.35m 안 → 전진 차단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2267712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/cmd_vel 0 · 텔레메트리 STOP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2267712"/>
            <a:ext cx="1673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97A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지도 적색 · 원인 표시 · 경로 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2752344"/>
            <a:ext cx="7863840" cy="0"/>
          </a:xfrm>
          <a:prstGeom prst="line">
            <a:avLst/>
          </a:prstGeom>
          <a:noFill/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2779776"/>
            <a:ext cx="1033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VR 개입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783080" y="2779776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 맵 클릭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3017520" y="2779776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로봇만 MANUAL · 탈출 방향 산출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166360" y="277977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 콕핏 · 손 방향 진동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995160" y="2779776"/>
            <a:ext cx="1673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97A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그립 + 스틱으로 후진·선회 탈출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" y="3264408"/>
            <a:ext cx="7863840" cy="0"/>
          </a:xfrm>
          <a:prstGeom prst="line">
            <a:avLst/>
          </a:prstGeom>
          <a:noFill/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3291840"/>
            <a:ext cx="1033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안전장치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783080" y="3291840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그립 놓기 · 과속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3017520" y="3291840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데드맨 · 상한 0.15 m/s · 워치독 0.5s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166360" y="329184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/cmd_vel 0 또는 제한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995160" y="3291840"/>
            <a:ext cx="1673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97A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정지 · 속도 제한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" y="3776472"/>
            <a:ext cx="7863840" cy="0"/>
          </a:xfrm>
          <a:prstGeom prst="line">
            <a:avLst/>
          </a:prstGeom>
          <a:noFill/>
          <a:ln w="9525">
            <a:solidFill>
              <a:srgbClr val="EBEB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3803904"/>
            <a:ext cx="1033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재개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783080" y="3803904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 PC  R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3017520" y="3803904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승인 시에만 AUTO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5166360" y="380390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/cmd_vel 0.10 m/s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995160" y="3803904"/>
            <a:ext cx="1673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97A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순찰 복귀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502920" y="449884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spc="4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화면 4분할: 관제 맵 · Quest 콕핏 · 릴레이 터미널 로그 · 실물 로봇 캠  —  라이브 불가 시 시연 영상 2~4막으로 대체</a:t>
            </a:r>
            <a:endParaRPr lang="en-US" sz="700" dirty="0"/>
          </a:p>
        </p:txBody>
      </p:sp>
      <p:sp>
        <p:nvSpPr>
          <p:cNvPr id="43" name="Text 41"/>
          <p:cNvSpPr txBox="1"/>
          <p:nvPr/>
        </p:nvSpPr>
        <p:spPr>
          <a:xfrm>
            <a:off x="502920" y="47594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" y="47594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GNICT 2026 · 대학부 32 · AGV DIGITAL TWIN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7543800" y="47594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06 / 10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spc="100" kern="0" dirty="0">
                <a:solidFill>
                  <a:srgbClr val="17171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 · LIVE DEMO — 화면 근거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909560" y="39319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909560" y="3931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2:30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858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spc="-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멈춘 이유와 빠져나갈 길이 보인다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286000" cy="17602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pic>
        <p:nvPicPr>
          <p:cNvPr id="7" name="Image 0" descr="콕핏 영상 위 정지 배너와 경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2103120" cy="15773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71800" y="1417320"/>
            <a:ext cx="1760220" cy="17602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pic>
        <p:nvPicPr>
          <p:cNvPr id="9" name="Image 1" descr="관제 맵 적색 경고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508760"/>
            <a:ext cx="1577340" cy="15773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914900" y="1417320"/>
            <a:ext cx="3726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297A3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COCKPIT</a:t>
            </a:r>
            <a:endParaRPr lang="en-US" sz="750" dirty="0"/>
          </a:p>
        </p:txBody>
      </p:sp>
      <p:sp>
        <p:nvSpPr>
          <p:cNvPr id="11" name="Text 7"/>
          <p:cNvSpPr txBox="1"/>
          <p:nvPr/>
        </p:nvSpPr>
        <p:spPr>
          <a:xfrm>
            <a:off x="4914900" y="1636776"/>
            <a:ext cx="3726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바닥에 추천 궤적 띠 · 선회 화살표 · 적색 정지 배너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4914900" y="2103120"/>
            <a:ext cx="3726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297A3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GOD-VIEW</a:t>
            </a:r>
            <a:endParaRPr lang="en-US" sz="750" dirty="0"/>
          </a:p>
        </p:txBody>
      </p:sp>
      <p:sp>
        <p:nvSpPr>
          <p:cNvPr id="13" name="Text 9"/>
          <p:cNvSpPr txBox="1"/>
          <p:nvPr/>
        </p:nvSpPr>
        <p:spPr>
          <a:xfrm>
            <a:off x="4914900" y="2322576"/>
            <a:ext cx="3726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멈춘 로봇은 적색 차체 · 위험 원판, 사이드바에 정지 원인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4914900" y="2788920"/>
            <a:ext cx="3726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297A3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TERMINAL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4914900" y="3008376"/>
            <a:ext cx="3726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[AUTO] … STUCK · [INTERLOCK] 이벤트 = 판단 → Tool 호출 기록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02920" y="3314700"/>
            <a:ext cx="2560320" cy="1228449"/>
          </a:xfrm>
          <a:prstGeom prst="roundRect">
            <a:avLst>
              <a:gd name="adj" fmla="val 4466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pic>
        <p:nvPicPr>
          <p:cNvPr id="17" name="Image 2" descr="탈출 경로 계산 예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06140"/>
            <a:ext cx="2377440" cy="104556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246120" y="34061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plan_escape · 전방 상자 + 우측 벽 → 좌 40° 선택 (실제 계산 결과 그림)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3246120" y="3771900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그림은 실제 출력 예시 · 발표 당일 라이브 화면이 우선</a:t>
            </a:r>
            <a:endParaRPr lang="en-US" sz="700" dirty="0"/>
          </a:p>
        </p:txBody>
      </p:sp>
      <p:sp>
        <p:nvSpPr>
          <p:cNvPr id="20" name="Text 15"/>
          <p:cNvSpPr txBox="1"/>
          <p:nvPr/>
        </p:nvSpPr>
        <p:spPr>
          <a:xfrm>
            <a:off x="502920" y="47594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731520" y="47594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GNICT 2026 · 대학부 32 · AGV DIGITAL TWIN</a:t>
            </a:r>
            <a:endParaRPr lang="en-US" sz="700" dirty="0"/>
          </a:p>
        </p:txBody>
      </p:sp>
      <p:sp>
        <p:nvSpPr>
          <p:cNvPr id="22" name="Text 17"/>
          <p:cNvSpPr txBox="1"/>
          <p:nvPr/>
        </p:nvSpPr>
        <p:spPr>
          <a:xfrm>
            <a:off x="7543800" y="47594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07 / 10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spc="100" kern="0" dirty="0">
                <a:solidFill>
                  <a:srgbClr val="17171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 · IMPACT — BEFORE / AFTER · 검증 · 효과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909560" y="39319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909560" y="3931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0:30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858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spc="-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멈춤은 같아도, 푸는 방법이 바뀐다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3317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536192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BEFORE · 기존 보급형 AGV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1828800"/>
            <a:ext cx="2002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단순 비상정지 → 통로 마비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관리자 현장 출동 후 수동 조작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정지 이유 기록 없음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17520" y="1417320"/>
            <a:ext cx="23317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297A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82112" y="1536192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297A3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AFTER · 본 시스템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1828800"/>
            <a:ext cx="2002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전진만 차단, 후진·회전은 허용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관제석에서 클릭 → VR로 바로 탈출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정지 원인·경로가 화면·로그에 남음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474720"/>
            <a:ext cx="4846320" cy="97840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" y="35661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297A3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사용자 검증 · 사실 그대로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667512" y="3803904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팀원이 관제사·VR 조작자 역할로 실물 TB1·TB2 정지·주행·콕핏 전환 확인.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사용자 평가와 현장 정지 시간(MTBI) 측정은 아직 하지 않음.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32120" y="1417320"/>
            <a:ext cx="1463040" cy="804672"/>
          </a:xfrm>
          <a:prstGeom prst="roundRect">
            <a:avLst>
              <a:gd name="adj" fmla="val 6818"/>
            </a:avLst>
          </a:prstGeom>
          <a:solidFill>
            <a:srgbClr val="171717"/>
          </a:solidFill>
          <a:ln w="9525">
            <a:solidFill>
              <a:srgbClr val="17171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0" y="1508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78/78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19476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spc="100" kern="0" dirty="0">
                <a:solidFill>
                  <a:srgbClr val="A8A8A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E2E 자동 시험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7178040" y="1417320"/>
            <a:ext cx="14630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0" y="1508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spc="-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10회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19476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반복 무결점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5532120" y="2331720"/>
            <a:ext cx="14630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0" y="2423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spc="-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0건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28620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300초 부하 안전 위반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7178040" y="2331720"/>
            <a:ext cx="14630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0" y="2423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spc="-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Hz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8620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제어·텔레메트리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5532120" y="3291840"/>
            <a:ext cx="3108960" cy="1161288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9525">
            <a:solidFill>
              <a:srgbClr val="17171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78424" y="3383280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297A3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효과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5678424" y="3611880"/>
            <a:ext cx="2816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출동 대기 없이 원격 복구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3D LiDAR 없이 기존 기체 + SW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ROS 1·2 혼합 2대를 한 화면에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47594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47594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GNICT 2026 · 대학부 32 · AGV DIGITAL TWIN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7543800" y="47594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08 / 10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spc="100" kern="0" dirty="0">
                <a:solidFill>
                  <a:srgbClr val="17171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 · NEXT — 한계 · 현장 적용 전 보완점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909560" y="39319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909560" y="3931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0:30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858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spc="-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현장에 들이기 전에 고칠 것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8138160" cy="3136392"/>
          </a:xfrm>
          <a:prstGeom prst="roundRect">
            <a:avLst>
              <a:gd name="adj" fmla="val 1749"/>
            </a:avLst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5087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한계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2221992" y="150876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현재 상태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15087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보완 방법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67512" y="1746504"/>
            <a:ext cx="7808976" cy="0"/>
          </a:xfrm>
          <a:prstGeom prst="line">
            <a:avLst/>
          </a:prstGeom>
          <a:noFill/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" y="18013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높이 사각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221992" y="180136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2D LiDAR는 바닥 약 0.17m 한 평면만 본다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18013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97A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깊이 카메라 융합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" y="2304288"/>
            <a:ext cx="7808976" cy="0"/>
          </a:xfrm>
          <a:prstGeom prst="line">
            <a:avLst/>
          </a:prstGeom>
          <a:noFill/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" y="23500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 누적 오차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221992" y="23500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휠 odom 누적 → 시작 위치 재설정으로 보정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23500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97A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SLAM 위치 보정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" y="2852928"/>
            <a:ext cx="7808976" cy="0"/>
          </a:xfrm>
          <a:prstGeom prst="line">
            <a:avLst/>
          </a:prstGeom>
          <a:noFill/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" y="28986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통신 두절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221992" y="28986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ROS 1 로봇은 마지막 속도 유지 여부가 펌웨어 의존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245352" y="2898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97A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 측 정지 감시 노드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7512" y="3401568"/>
            <a:ext cx="7808976" cy="0"/>
          </a:xfrm>
          <a:prstGeom prst="line">
            <a:avLst/>
          </a:prstGeom>
          <a:noFill/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" y="34472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221992" y="34472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rosbridge 인증 없음 → 시연망 분리 운용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245352" y="34472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97A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 · 암호화 · 망 분리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950208"/>
            <a:ext cx="7808976" cy="0"/>
          </a:xfrm>
          <a:prstGeom prst="line">
            <a:avLst/>
          </a:prstGeom>
          <a:noFill/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" y="39959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 실측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221992" y="399592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정지 시간 단축(MTBI)은 아직 현장 측정 전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245352" y="39959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97A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 라인 계측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47594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47594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spc="100" kern="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GNICT 2026 · 대학부 32 · AGV DIGITAL TWIN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7543800" y="47594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09 / 10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spc="100" kern="0" dirty="0">
                <a:solidFill>
                  <a:srgbClr val="A8A8A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 · NEXT — 기대효과 · 비즈니스모델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909560" y="39319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171717"/>
          </a:solidFill>
          <a:ln w="9525">
            <a:solidFill>
              <a:srgbClr val="4D4D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909560" y="3931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A8A8A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0:30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858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AGV에 얹는 안전 개입 레이어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590800" cy="1188720"/>
          </a:xfrm>
          <a:prstGeom prst="roundRect">
            <a:avLst>
              <a:gd name="adj" fmla="val 4615"/>
            </a:avLst>
          </a:prstGeom>
          <a:solidFill>
            <a:srgbClr val="171717"/>
          </a:solidFill>
          <a:ln w="9525">
            <a:solidFill>
              <a:srgbClr val="4D4D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536192"/>
            <a:ext cx="2261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A8A8A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01 · 개조 패키지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1810512"/>
            <a:ext cx="2261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2D LiDAR AGV에 릴레이 + 관제·VR SW 설치. 기체 교체 없음.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76600" y="1417320"/>
            <a:ext cx="2590800" cy="1188720"/>
          </a:xfrm>
          <a:prstGeom prst="roundRect">
            <a:avLst>
              <a:gd name="adj" fmla="val 4615"/>
            </a:avLst>
          </a:prstGeom>
          <a:solidFill>
            <a:srgbClr val="171717"/>
          </a:solidFill>
          <a:ln w="9525">
            <a:solidFill>
              <a:srgbClr val="4D4D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1192" y="1536192"/>
            <a:ext cx="2261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A8A8A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 · 관제 구독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3441192" y="1810512"/>
            <a:ext cx="2261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 대수 기준 관제·원격 개입 SW 구독, 정지 원인 로그 리포트.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50280" y="1417320"/>
            <a:ext cx="2590800" cy="1188720"/>
          </a:xfrm>
          <a:prstGeom prst="roundRect">
            <a:avLst>
              <a:gd name="adj" fmla="val 4615"/>
            </a:avLst>
          </a:prstGeom>
          <a:solidFill>
            <a:srgbClr val="171717"/>
          </a:solidFill>
          <a:ln w="9525">
            <a:solidFill>
              <a:srgbClr val="4D4D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4872" y="1536192"/>
            <a:ext cx="2261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A8A8A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 · 원격 개입 센터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6214872" y="1810512"/>
            <a:ext cx="2261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현장의 멈춘 로봇을 한 관제석에서 VR로 복구하는 운영 서비스.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2670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spc="40" kern="0" dirty="0">
                <a:solidFill>
                  <a:srgbClr val="A8A8A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구상 단계 · 가격·매출 수치는 파일럿 이후 산정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02920" y="2944368"/>
            <a:ext cx="3977640" cy="1051560"/>
          </a:xfrm>
          <a:prstGeom prst="roundRect">
            <a:avLst>
              <a:gd name="adj" fmla="val 5217"/>
            </a:avLst>
          </a:prstGeom>
          <a:solidFill>
            <a:srgbClr val="171717"/>
          </a:solidFill>
          <a:ln w="9525">
            <a:solidFill>
              <a:srgbClr val="4D4D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" y="3035808"/>
            <a:ext cx="3648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A8A8A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시장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246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$22B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874520" y="32735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9C9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AGV·AMR 2030 전망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9C9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LogisticsIQ 2024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944368"/>
            <a:ext cx="3977640" cy="1051560"/>
          </a:xfrm>
          <a:prstGeom prst="roundRect">
            <a:avLst>
              <a:gd name="adj" fmla="val 5217"/>
            </a:avLst>
          </a:prstGeom>
          <a:solidFill>
            <a:srgbClr val="171717"/>
          </a:solidFill>
          <a:ln w="9525">
            <a:solidFill>
              <a:srgbClr val="4D4D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035808"/>
            <a:ext cx="3648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spc="100" kern="0" dirty="0">
                <a:solidFill>
                  <a:srgbClr val="A8A8A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기대효과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4828032" y="3246120"/>
            <a:ext cx="3648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협착 위험 구간에서 로봇이 먼저 멈춤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멈춘 로봇 원격 복구로 통로 정체 감소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판단 근거 기록 → 사고 원인 추적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416052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 로봇은 멈추고 알리고, 판단은 사람이 내린다.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47594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7594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spc="100" kern="0" dirty="0">
                <a:solidFill>
                  <a:srgbClr val="A8A8A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GNICT 2026 · 대학부 32 · AGV DIGITAL TWIN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47594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A8A8A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10 / 10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멈추고, 알리고, 사람이 빼낸다</dc:title>
  <dc:subject>PptxGenJS Presentation</dc:subject>
  <dc:creator>PptxGenJS</dc:creator>
  <cp:lastModifiedBy>PptxGenJS</cp:lastModifiedBy>
  <cp:revision>1</cp:revision>
  <dcterms:created xsi:type="dcterms:W3CDTF">2026-10-03T14:19:13Z</dcterms:created>
  <dcterms:modified xsi:type="dcterms:W3CDTF">2026-10-03T14:19:13Z</dcterms:modified>
</cp:coreProperties>
</file>